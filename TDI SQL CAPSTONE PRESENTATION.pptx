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34"/>
  </p:notesMasterIdLst>
  <p:handoutMasterIdLst>
    <p:handoutMasterId r:id="rId35"/>
  </p:handoutMasterIdLst>
  <p:sldIdLst>
    <p:sldId id="256" r:id="rId2"/>
    <p:sldId id="270" r:id="rId3"/>
    <p:sldId id="271" r:id="rId4"/>
    <p:sldId id="272" r:id="rId5"/>
    <p:sldId id="257" r:id="rId6"/>
    <p:sldId id="280" r:id="rId7"/>
    <p:sldId id="258" r:id="rId8"/>
    <p:sldId id="281" r:id="rId9"/>
    <p:sldId id="282" r:id="rId10"/>
    <p:sldId id="283" r:id="rId11"/>
    <p:sldId id="288" r:id="rId12"/>
    <p:sldId id="305" r:id="rId13"/>
    <p:sldId id="292" r:id="rId14"/>
    <p:sldId id="279" r:id="rId15"/>
    <p:sldId id="287" r:id="rId16"/>
    <p:sldId id="290" r:id="rId17"/>
    <p:sldId id="306" r:id="rId18"/>
    <p:sldId id="293" r:id="rId19"/>
    <p:sldId id="295" r:id="rId20"/>
    <p:sldId id="298" r:id="rId21"/>
    <p:sldId id="299" r:id="rId22"/>
    <p:sldId id="294" r:id="rId23"/>
    <p:sldId id="302" r:id="rId24"/>
    <p:sldId id="296" r:id="rId25"/>
    <p:sldId id="300" r:id="rId26"/>
    <p:sldId id="301" r:id="rId27"/>
    <p:sldId id="297" r:id="rId28"/>
    <p:sldId id="286" r:id="rId29"/>
    <p:sldId id="303" r:id="rId30"/>
    <p:sldId id="278" r:id="rId31"/>
    <p:sldId id="304" r:id="rId32"/>
    <p:sldId id="2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44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48" autoAdjust="0"/>
  </p:normalViewPr>
  <p:slideViewPr>
    <p:cSldViewPr snapToGrid="0">
      <p:cViewPr varScale="1">
        <p:scale>
          <a:sx n="83" d="100"/>
          <a:sy n="83" d="100"/>
        </p:scale>
        <p:origin x="858"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29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ata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7.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7.svg"/><Relationship Id="rId4" Type="http://schemas.openxmlformats.org/officeDocument/2006/relationships/image" Target="../media/image21.svg"/><Relationship Id="rId9" Type="http://schemas.openxmlformats.org/officeDocument/2006/relationships/image" Target="../media/image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7.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7.svg"/><Relationship Id="rId4" Type="http://schemas.openxmlformats.org/officeDocument/2006/relationships/image" Target="../media/image21.svg"/><Relationship Id="rId9"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376028-22B8-4511-8E57-E77B48A4182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FE37395-8EB5-44CF-BA02-813B17687364}">
      <dgm:prSet custT="1"/>
      <dgm:spPr/>
      <dgm:t>
        <a:bodyPr/>
        <a:lstStyle/>
        <a:p>
          <a:pPr>
            <a:lnSpc>
              <a:spcPct val="100000"/>
            </a:lnSpc>
          </a:pPr>
          <a:r>
            <a:rPr lang="en-US" sz="1200" b="1" i="0" baseline="0" dirty="0"/>
            <a:t>Total Revenue</a:t>
          </a:r>
          <a:r>
            <a:rPr lang="en-US" sz="1200" b="0" i="0" baseline="0" dirty="0"/>
            <a:t>: The total income generated from all product sales.</a:t>
          </a:r>
          <a:endParaRPr lang="en-US" sz="1200" dirty="0"/>
        </a:p>
      </dgm:t>
    </dgm:pt>
    <dgm:pt modelId="{F6898D44-3707-4B20-B823-F3F0C089F41C}" type="parTrans" cxnId="{184E62F3-27B9-4EEF-BBDD-C92879469329}">
      <dgm:prSet/>
      <dgm:spPr/>
      <dgm:t>
        <a:bodyPr/>
        <a:lstStyle/>
        <a:p>
          <a:endParaRPr lang="en-US"/>
        </a:p>
      </dgm:t>
    </dgm:pt>
    <dgm:pt modelId="{32C44A56-A04E-47EB-96FD-4D65F9A7F354}" type="sibTrans" cxnId="{184E62F3-27B9-4EEF-BBDD-C92879469329}">
      <dgm:prSet/>
      <dgm:spPr/>
      <dgm:t>
        <a:bodyPr/>
        <a:lstStyle/>
        <a:p>
          <a:pPr>
            <a:lnSpc>
              <a:spcPct val="100000"/>
            </a:lnSpc>
          </a:pPr>
          <a:endParaRPr lang="en-US"/>
        </a:p>
      </dgm:t>
    </dgm:pt>
    <dgm:pt modelId="{17FBC006-912A-412F-B04B-A40CB1333413}">
      <dgm:prSet custT="1"/>
      <dgm:spPr/>
      <dgm:t>
        <a:bodyPr/>
        <a:lstStyle/>
        <a:p>
          <a:pPr>
            <a:lnSpc>
              <a:spcPct val="100000"/>
            </a:lnSpc>
          </a:pPr>
          <a:r>
            <a:rPr lang="en-US" sz="1200" b="1" i="0" baseline="0" dirty="0"/>
            <a:t>Total Profit</a:t>
          </a:r>
          <a:r>
            <a:rPr lang="en-US" sz="1200" b="0" i="0" baseline="0" dirty="0"/>
            <a:t>: The overall earnings after subtracting product costs from revenue.</a:t>
          </a:r>
          <a:endParaRPr lang="en-US" sz="1200" dirty="0"/>
        </a:p>
      </dgm:t>
    </dgm:pt>
    <dgm:pt modelId="{685B2DF5-3993-4F05-A131-84FE060DE384}" type="parTrans" cxnId="{7B2B27B4-FA4C-4ACB-A96A-F4255D4161E4}">
      <dgm:prSet/>
      <dgm:spPr/>
      <dgm:t>
        <a:bodyPr/>
        <a:lstStyle/>
        <a:p>
          <a:endParaRPr lang="en-US"/>
        </a:p>
      </dgm:t>
    </dgm:pt>
    <dgm:pt modelId="{D537CF8C-169B-4797-868A-44D8A32CB6DF}" type="sibTrans" cxnId="{7B2B27B4-FA4C-4ACB-A96A-F4255D4161E4}">
      <dgm:prSet/>
      <dgm:spPr/>
      <dgm:t>
        <a:bodyPr/>
        <a:lstStyle/>
        <a:p>
          <a:pPr>
            <a:lnSpc>
              <a:spcPct val="100000"/>
            </a:lnSpc>
          </a:pPr>
          <a:endParaRPr lang="en-US"/>
        </a:p>
      </dgm:t>
    </dgm:pt>
    <dgm:pt modelId="{8E435B72-D765-46C7-82B3-6F854A1AE88D}">
      <dgm:prSet custT="1"/>
      <dgm:spPr/>
      <dgm:t>
        <a:bodyPr/>
        <a:lstStyle/>
        <a:p>
          <a:pPr>
            <a:lnSpc>
              <a:spcPct val="100000"/>
            </a:lnSpc>
          </a:pPr>
          <a:r>
            <a:rPr lang="en-US" sz="1200" b="1" i="0" baseline="0" dirty="0"/>
            <a:t>Total Sales (Count)</a:t>
          </a:r>
          <a:r>
            <a:rPr lang="en-US" sz="1200" b="0" i="0" baseline="0" dirty="0"/>
            <a:t>: The total number of sales transactions or units sold.</a:t>
          </a:r>
          <a:endParaRPr lang="en-US" sz="1200" dirty="0"/>
        </a:p>
      </dgm:t>
    </dgm:pt>
    <dgm:pt modelId="{EB6BF6C8-9B4A-417C-9437-2EAA504A5664}" type="parTrans" cxnId="{D3FDC7C3-395D-4ABB-99E5-37A4FEB06BEC}">
      <dgm:prSet/>
      <dgm:spPr/>
      <dgm:t>
        <a:bodyPr/>
        <a:lstStyle/>
        <a:p>
          <a:endParaRPr lang="en-US"/>
        </a:p>
      </dgm:t>
    </dgm:pt>
    <dgm:pt modelId="{3FB5D236-ED5F-452C-9142-5851B9A6E757}" type="sibTrans" cxnId="{D3FDC7C3-395D-4ABB-99E5-37A4FEB06BEC}">
      <dgm:prSet/>
      <dgm:spPr/>
      <dgm:t>
        <a:bodyPr/>
        <a:lstStyle/>
        <a:p>
          <a:pPr>
            <a:lnSpc>
              <a:spcPct val="100000"/>
            </a:lnSpc>
          </a:pPr>
          <a:endParaRPr lang="en-US"/>
        </a:p>
      </dgm:t>
    </dgm:pt>
    <dgm:pt modelId="{D3E37C7D-F59E-4435-97DD-14EE3B078D5D}">
      <dgm:prSet custT="1"/>
      <dgm:spPr/>
      <dgm:t>
        <a:bodyPr/>
        <a:lstStyle/>
        <a:p>
          <a:pPr>
            <a:lnSpc>
              <a:spcPct val="100000"/>
            </a:lnSpc>
          </a:pPr>
          <a:r>
            <a:rPr lang="en-US" sz="1200" b="1" i="0" baseline="0" dirty="0"/>
            <a:t>Average Profit per Unit</a:t>
          </a:r>
          <a:r>
            <a:rPr lang="en-US" sz="1200" b="0" i="0" baseline="0" dirty="0"/>
            <a:t>: The average amount of profit earned on each unit sold.</a:t>
          </a:r>
          <a:endParaRPr lang="en-US" sz="1200" dirty="0"/>
        </a:p>
      </dgm:t>
    </dgm:pt>
    <dgm:pt modelId="{9189C228-E66F-4DF6-AC15-86FC7E9A45DF}" type="parTrans" cxnId="{79E80CE4-C700-4954-9FE7-A717A83D5EDA}">
      <dgm:prSet/>
      <dgm:spPr/>
      <dgm:t>
        <a:bodyPr/>
        <a:lstStyle/>
        <a:p>
          <a:endParaRPr lang="en-US"/>
        </a:p>
      </dgm:t>
    </dgm:pt>
    <dgm:pt modelId="{A386210B-616D-4795-A5E8-879BFD8CF080}" type="sibTrans" cxnId="{79E80CE4-C700-4954-9FE7-A717A83D5EDA}">
      <dgm:prSet/>
      <dgm:spPr/>
      <dgm:t>
        <a:bodyPr/>
        <a:lstStyle/>
        <a:p>
          <a:pPr>
            <a:lnSpc>
              <a:spcPct val="100000"/>
            </a:lnSpc>
          </a:pPr>
          <a:endParaRPr lang="en-US"/>
        </a:p>
      </dgm:t>
    </dgm:pt>
    <dgm:pt modelId="{595A7620-D548-4F3B-AC7E-3A260E4374AE}">
      <dgm:prSet custT="1"/>
      <dgm:spPr/>
      <dgm:t>
        <a:bodyPr/>
        <a:lstStyle/>
        <a:p>
          <a:pPr>
            <a:lnSpc>
              <a:spcPct val="100000"/>
            </a:lnSpc>
          </a:pPr>
          <a:r>
            <a:rPr lang="en-US" sz="1200" b="1" i="0" baseline="0" dirty="0"/>
            <a:t>Product Count</a:t>
          </a:r>
          <a:r>
            <a:rPr lang="en-US" sz="1200" b="0" i="0" baseline="0" dirty="0"/>
            <a:t>: The number of distinct products sold by the store.</a:t>
          </a:r>
          <a:endParaRPr lang="en-US" sz="1200" dirty="0"/>
        </a:p>
      </dgm:t>
    </dgm:pt>
    <dgm:pt modelId="{47D498A8-9735-4C36-AC08-FB32B24C1558}" type="parTrans" cxnId="{978FE875-EB92-44D3-8F24-84C528E80A11}">
      <dgm:prSet/>
      <dgm:spPr/>
      <dgm:t>
        <a:bodyPr/>
        <a:lstStyle/>
        <a:p>
          <a:endParaRPr lang="en-US"/>
        </a:p>
      </dgm:t>
    </dgm:pt>
    <dgm:pt modelId="{D3ED6757-2C24-4502-A6EC-BF572FB21228}" type="sibTrans" cxnId="{978FE875-EB92-44D3-8F24-84C528E80A11}">
      <dgm:prSet/>
      <dgm:spPr/>
      <dgm:t>
        <a:bodyPr/>
        <a:lstStyle/>
        <a:p>
          <a:pPr>
            <a:lnSpc>
              <a:spcPct val="100000"/>
            </a:lnSpc>
          </a:pPr>
          <a:endParaRPr lang="en-US"/>
        </a:p>
      </dgm:t>
    </dgm:pt>
    <dgm:pt modelId="{DFDF0078-EE33-4539-ACDC-A44467F794A5}">
      <dgm:prSet custT="1"/>
      <dgm:spPr/>
      <dgm:t>
        <a:bodyPr/>
        <a:lstStyle/>
        <a:p>
          <a:pPr>
            <a:lnSpc>
              <a:spcPct val="100000"/>
            </a:lnSpc>
          </a:pPr>
          <a:r>
            <a:rPr lang="en-US" sz="1200" b="1" i="0" baseline="0" dirty="0"/>
            <a:t>Total Products Sold</a:t>
          </a:r>
          <a:r>
            <a:rPr lang="en-US" sz="1200" b="0" i="0" baseline="0" dirty="0"/>
            <a:t>: The sum of all units sold across all products.</a:t>
          </a:r>
          <a:endParaRPr lang="en-US" sz="1200" dirty="0"/>
        </a:p>
      </dgm:t>
    </dgm:pt>
    <dgm:pt modelId="{BD40C95D-5987-4C7E-A378-723DD59F0BD4}" type="parTrans" cxnId="{4E046AA5-352F-4A49-8AC1-BD789B1DDFB9}">
      <dgm:prSet/>
      <dgm:spPr/>
      <dgm:t>
        <a:bodyPr/>
        <a:lstStyle/>
        <a:p>
          <a:endParaRPr lang="en-US"/>
        </a:p>
      </dgm:t>
    </dgm:pt>
    <dgm:pt modelId="{D22B037F-7147-442C-9264-10A6E426FCB9}" type="sibTrans" cxnId="{4E046AA5-352F-4A49-8AC1-BD789B1DDFB9}">
      <dgm:prSet/>
      <dgm:spPr/>
      <dgm:t>
        <a:bodyPr/>
        <a:lstStyle/>
        <a:p>
          <a:endParaRPr lang="en-US"/>
        </a:p>
      </dgm:t>
    </dgm:pt>
    <dgm:pt modelId="{F487D144-C3A8-4C6B-A636-2FE7529E01B5}" type="pres">
      <dgm:prSet presAssocID="{A5376028-22B8-4511-8E57-E77B48A41821}" presName="root" presStyleCnt="0">
        <dgm:presLayoutVars>
          <dgm:dir/>
          <dgm:resizeHandles val="exact"/>
        </dgm:presLayoutVars>
      </dgm:prSet>
      <dgm:spPr/>
    </dgm:pt>
    <dgm:pt modelId="{9A319225-E924-4486-B61C-B776B256DABC}" type="pres">
      <dgm:prSet presAssocID="{A5376028-22B8-4511-8E57-E77B48A41821}" presName="container" presStyleCnt="0">
        <dgm:presLayoutVars>
          <dgm:dir/>
          <dgm:resizeHandles val="exact"/>
        </dgm:presLayoutVars>
      </dgm:prSet>
      <dgm:spPr/>
    </dgm:pt>
    <dgm:pt modelId="{07CE23F5-0634-4724-82B4-EC6961BF4595}" type="pres">
      <dgm:prSet presAssocID="{AFE37395-8EB5-44CF-BA02-813B17687364}" presName="compNode" presStyleCnt="0"/>
      <dgm:spPr/>
    </dgm:pt>
    <dgm:pt modelId="{3113E65A-1110-40B5-8BB0-E62E345FBA00}" type="pres">
      <dgm:prSet presAssocID="{AFE37395-8EB5-44CF-BA02-813B17687364}" presName="iconBgRect" presStyleLbl="bgShp" presStyleIdx="0" presStyleCnt="6"/>
      <dgm:spPr/>
    </dgm:pt>
    <dgm:pt modelId="{DA3C993E-60FF-46AE-B350-8DFDD7F88195}" type="pres">
      <dgm:prSet presAssocID="{AFE37395-8EB5-44CF-BA02-813B1768736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2C286E66-87E7-422A-80F2-1F03ACFE08CE}" type="pres">
      <dgm:prSet presAssocID="{AFE37395-8EB5-44CF-BA02-813B17687364}" presName="spaceRect" presStyleCnt="0"/>
      <dgm:spPr/>
    </dgm:pt>
    <dgm:pt modelId="{351E625F-0AD1-4FB3-9D2E-4A1A7E6C3D5C}" type="pres">
      <dgm:prSet presAssocID="{AFE37395-8EB5-44CF-BA02-813B17687364}" presName="textRect" presStyleLbl="revTx" presStyleIdx="0" presStyleCnt="6">
        <dgm:presLayoutVars>
          <dgm:chMax val="1"/>
          <dgm:chPref val="1"/>
        </dgm:presLayoutVars>
      </dgm:prSet>
      <dgm:spPr/>
    </dgm:pt>
    <dgm:pt modelId="{A2060C04-A596-47AA-82EB-9C199DCCE80F}" type="pres">
      <dgm:prSet presAssocID="{32C44A56-A04E-47EB-96FD-4D65F9A7F354}" presName="sibTrans" presStyleLbl="sibTrans2D1" presStyleIdx="0" presStyleCnt="0"/>
      <dgm:spPr/>
    </dgm:pt>
    <dgm:pt modelId="{618B23EF-BD11-4533-9D8E-0574C96A6C7E}" type="pres">
      <dgm:prSet presAssocID="{17FBC006-912A-412F-B04B-A40CB1333413}" presName="compNode" presStyleCnt="0"/>
      <dgm:spPr/>
    </dgm:pt>
    <dgm:pt modelId="{6D7F4693-24D3-4093-8654-57A5755419C0}" type="pres">
      <dgm:prSet presAssocID="{17FBC006-912A-412F-B04B-A40CB1333413}" presName="iconBgRect" presStyleLbl="bgShp" presStyleIdx="1" presStyleCnt="6"/>
      <dgm:spPr/>
    </dgm:pt>
    <dgm:pt modelId="{292D049A-1A6F-4BDA-B096-74346F27AAD6}" type="pres">
      <dgm:prSet presAssocID="{17FBC006-912A-412F-B04B-A40CB133341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ins"/>
        </a:ext>
      </dgm:extLst>
    </dgm:pt>
    <dgm:pt modelId="{035B7831-79F2-4A15-802C-520860D0A939}" type="pres">
      <dgm:prSet presAssocID="{17FBC006-912A-412F-B04B-A40CB1333413}" presName="spaceRect" presStyleCnt="0"/>
      <dgm:spPr/>
    </dgm:pt>
    <dgm:pt modelId="{C5532A04-4A80-4C5E-8A5B-25E0E4EB5786}" type="pres">
      <dgm:prSet presAssocID="{17FBC006-912A-412F-B04B-A40CB1333413}" presName="textRect" presStyleLbl="revTx" presStyleIdx="1" presStyleCnt="6">
        <dgm:presLayoutVars>
          <dgm:chMax val="1"/>
          <dgm:chPref val="1"/>
        </dgm:presLayoutVars>
      </dgm:prSet>
      <dgm:spPr/>
    </dgm:pt>
    <dgm:pt modelId="{BBD78481-DBCC-4404-BD30-C6891D099FEB}" type="pres">
      <dgm:prSet presAssocID="{D537CF8C-169B-4797-868A-44D8A32CB6DF}" presName="sibTrans" presStyleLbl="sibTrans2D1" presStyleIdx="0" presStyleCnt="0"/>
      <dgm:spPr/>
    </dgm:pt>
    <dgm:pt modelId="{A3251EFF-A6EA-4497-9157-00564CD98733}" type="pres">
      <dgm:prSet presAssocID="{8E435B72-D765-46C7-82B3-6F854A1AE88D}" presName="compNode" presStyleCnt="0"/>
      <dgm:spPr/>
    </dgm:pt>
    <dgm:pt modelId="{7960E201-454B-4C2E-90BE-44D795408786}" type="pres">
      <dgm:prSet presAssocID="{8E435B72-D765-46C7-82B3-6F854A1AE88D}" presName="iconBgRect" presStyleLbl="bgShp" presStyleIdx="2" presStyleCnt="6"/>
      <dgm:spPr/>
    </dgm:pt>
    <dgm:pt modelId="{E3C087DE-A63A-4335-865D-E940BFAE56A0}" type="pres">
      <dgm:prSet presAssocID="{8E435B72-D765-46C7-82B3-6F854A1AE88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Yuan"/>
        </a:ext>
      </dgm:extLst>
    </dgm:pt>
    <dgm:pt modelId="{D8F9274A-6EF7-499F-90F1-155405533961}" type="pres">
      <dgm:prSet presAssocID="{8E435B72-D765-46C7-82B3-6F854A1AE88D}" presName="spaceRect" presStyleCnt="0"/>
      <dgm:spPr/>
    </dgm:pt>
    <dgm:pt modelId="{4A269A09-77E4-47BC-9ACA-02A0B75E0D08}" type="pres">
      <dgm:prSet presAssocID="{8E435B72-D765-46C7-82B3-6F854A1AE88D}" presName="textRect" presStyleLbl="revTx" presStyleIdx="2" presStyleCnt="6">
        <dgm:presLayoutVars>
          <dgm:chMax val="1"/>
          <dgm:chPref val="1"/>
        </dgm:presLayoutVars>
      </dgm:prSet>
      <dgm:spPr/>
    </dgm:pt>
    <dgm:pt modelId="{B8FC22DB-AD02-49B5-8E02-3F3A35B99552}" type="pres">
      <dgm:prSet presAssocID="{3FB5D236-ED5F-452C-9142-5851B9A6E757}" presName="sibTrans" presStyleLbl="sibTrans2D1" presStyleIdx="0" presStyleCnt="0"/>
      <dgm:spPr/>
    </dgm:pt>
    <dgm:pt modelId="{238DED0C-0FF6-4103-BFEC-477256E6C8B8}" type="pres">
      <dgm:prSet presAssocID="{D3E37C7D-F59E-4435-97DD-14EE3B078D5D}" presName="compNode" presStyleCnt="0"/>
      <dgm:spPr/>
    </dgm:pt>
    <dgm:pt modelId="{F5E05FC1-11DF-4D93-B570-0452E03DEE41}" type="pres">
      <dgm:prSet presAssocID="{D3E37C7D-F59E-4435-97DD-14EE3B078D5D}" presName="iconBgRect" presStyleLbl="bgShp" presStyleIdx="3" presStyleCnt="6"/>
      <dgm:spPr/>
    </dgm:pt>
    <dgm:pt modelId="{BC113B6D-AF04-4F39-BD59-488209947D4A}" type="pres">
      <dgm:prSet presAssocID="{D3E37C7D-F59E-4435-97DD-14EE3B078D5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llar"/>
        </a:ext>
      </dgm:extLst>
    </dgm:pt>
    <dgm:pt modelId="{4B544D9D-7B8B-4403-8FE6-80354AC4A13B}" type="pres">
      <dgm:prSet presAssocID="{D3E37C7D-F59E-4435-97DD-14EE3B078D5D}" presName="spaceRect" presStyleCnt="0"/>
      <dgm:spPr/>
    </dgm:pt>
    <dgm:pt modelId="{B45EC08B-ED6D-4F94-838B-3F26632E18EF}" type="pres">
      <dgm:prSet presAssocID="{D3E37C7D-F59E-4435-97DD-14EE3B078D5D}" presName="textRect" presStyleLbl="revTx" presStyleIdx="3" presStyleCnt="6" custLinFactNeighborX="-2437" custLinFactNeighborY="28406">
        <dgm:presLayoutVars>
          <dgm:chMax val="1"/>
          <dgm:chPref val="1"/>
        </dgm:presLayoutVars>
      </dgm:prSet>
      <dgm:spPr/>
    </dgm:pt>
    <dgm:pt modelId="{4417374D-5F42-43B5-B69E-51D82D69FE65}" type="pres">
      <dgm:prSet presAssocID="{A386210B-616D-4795-A5E8-879BFD8CF080}" presName="sibTrans" presStyleLbl="sibTrans2D1" presStyleIdx="0" presStyleCnt="0"/>
      <dgm:spPr/>
    </dgm:pt>
    <dgm:pt modelId="{E09925F9-6B0B-46A3-B63B-46B1499F488A}" type="pres">
      <dgm:prSet presAssocID="{595A7620-D548-4F3B-AC7E-3A260E4374AE}" presName="compNode" presStyleCnt="0"/>
      <dgm:spPr/>
    </dgm:pt>
    <dgm:pt modelId="{BACEF2D7-2573-41AA-8E85-8694A11EB4D4}" type="pres">
      <dgm:prSet presAssocID="{595A7620-D548-4F3B-AC7E-3A260E4374AE}" presName="iconBgRect" presStyleLbl="bgShp" presStyleIdx="4" presStyleCnt="6"/>
      <dgm:spPr/>
    </dgm:pt>
    <dgm:pt modelId="{1DF18330-6ABC-4EBF-A7FB-6CD1D4CA8679}" type="pres">
      <dgm:prSet presAssocID="{595A7620-D548-4F3B-AC7E-3A260E4374A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hopping cart"/>
        </a:ext>
      </dgm:extLst>
    </dgm:pt>
    <dgm:pt modelId="{C0D5B21F-87F4-40E0-8294-C92231FC5D73}" type="pres">
      <dgm:prSet presAssocID="{595A7620-D548-4F3B-AC7E-3A260E4374AE}" presName="spaceRect" presStyleCnt="0"/>
      <dgm:spPr/>
    </dgm:pt>
    <dgm:pt modelId="{FCAFD42F-07D4-4852-B346-95B6DEB1FF82}" type="pres">
      <dgm:prSet presAssocID="{595A7620-D548-4F3B-AC7E-3A260E4374AE}" presName="textRect" presStyleLbl="revTx" presStyleIdx="4" presStyleCnt="6" custLinFactNeighborX="-953" custLinFactNeighborY="26393">
        <dgm:presLayoutVars>
          <dgm:chMax val="1"/>
          <dgm:chPref val="1"/>
        </dgm:presLayoutVars>
      </dgm:prSet>
      <dgm:spPr/>
    </dgm:pt>
    <dgm:pt modelId="{C72AA32F-B130-460E-A578-158F0CB721B5}" type="pres">
      <dgm:prSet presAssocID="{D3ED6757-2C24-4502-A6EC-BF572FB21228}" presName="sibTrans" presStyleLbl="sibTrans2D1" presStyleIdx="0" presStyleCnt="0"/>
      <dgm:spPr/>
    </dgm:pt>
    <dgm:pt modelId="{028FFA0D-8B24-4C2F-9B1C-2806B6298593}" type="pres">
      <dgm:prSet presAssocID="{DFDF0078-EE33-4539-ACDC-A44467F794A5}" presName="compNode" presStyleCnt="0"/>
      <dgm:spPr/>
    </dgm:pt>
    <dgm:pt modelId="{CEA5E010-6F4D-470E-BDA6-48053131B2C2}" type="pres">
      <dgm:prSet presAssocID="{DFDF0078-EE33-4539-ACDC-A44467F794A5}" presName="iconBgRect" presStyleLbl="bgShp" presStyleIdx="5" presStyleCnt="6"/>
      <dgm:spPr/>
    </dgm:pt>
    <dgm:pt modelId="{9B7C4862-7281-4176-9693-867FF9611F42}" type="pres">
      <dgm:prSet presAssocID="{DFDF0078-EE33-4539-ACDC-A44467F794A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Money Envelope"/>
        </a:ext>
      </dgm:extLst>
    </dgm:pt>
    <dgm:pt modelId="{95920FF7-5CB6-4F57-BAF3-E7BF12AF2CE9}" type="pres">
      <dgm:prSet presAssocID="{DFDF0078-EE33-4539-ACDC-A44467F794A5}" presName="spaceRect" presStyleCnt="0"/>
      <dgm:spPr/>
    </dgm:pt>
    <dgm:pt modelId="{07A5F26D-E67C-494D-BCB9-0EBCFC72E576}" type="pres">
      <dgm:prSet presAssocID="{DFDF0078-EE33-4539-ACDC-A44467F794A5}" presName="textRect" presStyleLbl="revTx" presStyleIdx="5" presStyleCnt="6">
        <dgm:presLayoutVars>
          <dgm:chMax val="1"/>
          <dgm:chPref val="1"/>
        </dgm:presLayoutVars>
      </dgm:prSet>
      <dgm:spPr/>
    </dgm:pt>
  </dgm:ptLst>
  <dgm:cxnLst>
    <dgm:cxn modelId="{5AD0180A-C321-4148-9CF5-1C7FF1EF009F}" type="presOf" srcId="{8E435B72-D765-46C7-82B3-6F854A1AE88D}" destId="{4A269A09-77E4-47BC-9ACA-02A0B75E0D08}" srcOrd="0" destOrd="0" presId="urn:microsoft.com/office/officeart/2018/2/layout/IconCircleList"/>
    <dgm:cxn modelId="{BDD48317-1A1A-4AF3-9348-819633360F57}" type="presOf" srcId="{595A7620-D548-4F3B-AC7E-3A260E4374AE}" destId="{FCAFD42F-07D4-4852-B346-95B6DEB1FF82}" srcOrd="0" destOrd="0" presId="urn:microsoft.com/office/officeart/2018/2/layout/IconCircleList"/>
    <dgm:cxn modelId="{EE8B2420-0DBE-436D-846B-185011D17CB7}" type="presOf" srcId="{A5376028-22B8-4511-8E57-E77B48A41821}" destId="{F487D144-C3A8-4C6B-A636-2FE7529E01B5}" srcOrd="0" destOrd="0" presId="urn:microsoft.com/office/officeart/2018/2/layout/IconCircleList"/>
    <dgm:cxn modelId="{6C4F2D39-A86C-4667-80BF-464816367E8B}" type="presOf" srcId="{DFDF0078-EE33-4539-ACDC-A44467F794A5}" destId="{07A5F26D-E67C-494D-BCB9-0EBCFC72E576}" srcOrd="0" destOrd="0" presId="urn:microsoft.com/office/officeart/2018/2/layout/IconCircleList"/>
    <dgm:cxn modelId="{DC0DBF5C-614F-42DA-A69B-DEBD446E05D4}" type="presOf" srcId="{3FB5D236-ED5F-452C-9142-5851B9A6E757}" destId="{B8FC22DB-AD02-49B5-8E02-3F3A35B99552}" srcOrd="0" destOrd="0" presId="urn:microsoft.com/office/officeart/2018/2/layout/IconCircleList"/>
    <dgm:cxn modelId="{38392262-5408-43AB-99EF-A9B086DED38D}" type="presOf" srcId="{AFE37395-8EB5-44CF-BA02-813B17687364}" destId="{351E625F-0AD1-4FB3-9D2E-4A1A7E6C3D5C}" srcOrd="0" destOrd="0" presId="urn:microsoft.com/office/officeart/2018/2/layout/IconCircleList"/>
    <dgm:cxn modelId="{67926F6D-37C2-4BFC-BB44-8D9F1DA559F3}" type="presOf" srcId="{D3E37C7D-F59E-4435-97DD-14EE3B078D5D}" destId="{B45EC08B-ED6D-4F94-838B-3F26632E18EF}" srcOrd="0" destOrd="0" presId="urn:microsoft.com/office/officeart/2018/2/layout/IconCircleList"/>
    <dgm:cxn modelId="{3505F06D-B894-474D-AC14-B3826DBB50CC}" type="presOf" srcId="{D537CF8C-169B-4797-868A-44D8A32CB6DF}" destId="{BBD78481-DBCC-4404-BD30-C6891D099FEB}" srcOrd="0" destOrd="0" presId="urn:microsoft.com/office/officeart/2018/2/layout/IconCircleList"/>
    <dgm:cxn modelId="{978FE875-EB92-44D3-8F24-84C528E80A11}" srcId="{A5376028-22B8-4511-8E57-E77B48A41821}" destId="{595A7620-D548-4F3B-AC7E-3A260E4374AE}" srcOrd="4" destOrd="0" parTransId="{47D498A8-9735-4C36-AC08-FB32B24C1558}" sibTransId="{D3ED6757-2C24-4502-A6EC-BF572FB21228}"/>
    <dgm:cxn modelId="{0666BC98-8236-4FB8-8CFA-DECCFA6BFB4F}" type="presOf" srcId="{D3ED6757-2C24-4502-A6EC-BF572FB21228}" destId="{C72AA32F-B130-460E-A578-158F0CB721B5}" srcOrd="0" destOrd="0" presId="urn:microsoft.com/office/officeart/2018/2/layout/IconCircleList"/>
    <dgm:cxn modelId="{4E046AA5-352F-4A49-8AC1-BD789B1DDFB9}" srcId="{A5376028-22B8-4511-8E57-E77B48A41821}" destId="{DFDF0078-EE33-4539-ACDC-A44467F794A5}" srcOrd="5" destOrd="0" parTransId="{BD40C95D-5987-4C7E-A378-723DD59F0BD4}" sibTransId="{D22B037F-7147-442C-9264-10A6E426FCB9}"/>
    <dgm:cxn modelId="{7B2B27B4-FA4C-4ACB-A96A-F4255D4161E4}" srcId="{A5376028-22B8-4511-8E57-E77B48A41821}" destId="{17FBC006-912A-412F-B04B-A40CB1333413}" srcOrd="1" destOrd="0" parTransId="{685B2DF5-3993-4F05-A131-84FE060DE384}" sibTransId="{D537CF8C-169B-4797-868A-44D8A32CB6DF}"/>
    <dgm:cxn modelId="{48C33DBD-6F37-41A1-8C73-C408221D56A1}" type="presOf" srcId="{17FBC006-912A-412F-B04B-A40CB1333413}" destId="{C5532A04-4A80-4C5E-8A5B-25E0E4EB5786}" srcOrd="0" destOrd="0" presId="urn:microsoft.com/office/officeart/2018/2/layout/IconCircleList"/>
    <dgm:cxn modelId="{D3FDC7C3-395D-4ABB-99E5-37A4FEB06BEC}" srcId="{A5376028-22B8-4511-8E57-E77B48A41821}" destId="{8E435B72-D765-46C7-82B3-6F854A1AE88D}" srcOrd="2" destOrd="0" parTransId="{EB6BF6C8-9B4A-417C-9437-2EAA504A5664}" sibTransId="{3FB5D236-ED5F-452C-9142-5851B9A6E757}"/>
    <dgm:cxn modelId="{D30714D2-582E-482A-A615-60936176EA06}" type="presOf" srcId="{32C44A56-A04E-47EB-96FD-4D65F9A7F354}" destId="{A2060C04-A596-47AA-82EB-9C199DCCE80F}" srcOrd="0" destOrd="0" presId="urn:microsoft.com/office/officeart/2018/2/layout/IconCircleList"/>
    <dgm:cxn modelId="{AEC409D3-765E-48FD-91C5-54646DB68B7D}" type="presOf" srcId="{A386210B-616D-4795-A5E8-879BFD8CF080}" destId="{4417374D-5F42-43B5-B69E-51D82D69FE65}" srcOrd="0" destOrd="0" presId="urn:microsoft.com/office/officeart/2018/2/layout/IconCircleList"/>
    <dgm:cxn modelId="{79E80CE4-C700-4954-9FE7-A717A83D5EDA}" srcId="{A5376028-22B8-4511-8E57-E77B48A41821}" destId="{D3E37C7D-F59E-4435-97DD-14EE3B078D5D}" srcOrd="3" destOrd="0" parTransId="{9189C228-E66F-4DF6-AC15-86FC7E9A45DF}" sibTransId="{A386210B-616D-4795-A5E8-879BFD8CF080}"/>
    <dgm:cxn modelId="{184E62F3-27B9-4EEF-BBDD-C92879469329}" srcId="{A5376028-22B8-4511-8E57-E77B48A41821}" destId="{AFE37395-8EB5-44CF-BA02-813B17687364}" srcOrd="0" destOrd="0" parTransId="{F6898D44-3707-4B20-B823-F3F0C089F41C}" sibTransId="{32C44A56-A04E-47EB-96FD-4D65F9A7F354}"/>
    <dgm:cxn modelId="{1BBF2168-0447-4579-89BB-1AD676910BF9}" type="presParOf" srcId="{F487D144-C3A8-4C6B-A636-2FE7529E01B5}" destId="{9A319225-E924-4486-B61C-B776B256DABC}" srcOrd="0" destOrd="0" presId="urn:microsoft.com/office/officeart/2018/2/layout/IconCircleList"/>
    <dgm:cxn modelId="{FF703190-70FC-4A87-B715-52FC1DF1E4D7}" type="presParOf" srcId="{9A319225-E924-4486-B61C-B776B256DABC}" destId="{07CE23F5-0634-4724-82B4-EC6961BF4595}" srcOrd="0" destOrd="0" presId="urn:microsoft.com/office/officeart/2018/2/layout/IconCircleList"/>
    <dgm:cxn modelId="{E0D1BDF9-F9AE-495B-ADC0-1ADEBA20FA99}" type="presParOf" srcId="{07CE23F5-0634-4724-82B4-EC6961BF4595}" destId="{3113E65A-1110-40B5-8BB0-E62E345FBA00}" srcOrd="0" destOrd="0" presId="urn:microsoft.com/office/officeart/2018/2/layout/IconCircleList"/>
    <dgm:cxn modelId="{B5C37DD5-D98D-4CC9-861E-DB42CE34AC31}" type="presParOf" srcId="{07CE23F5-0634-4724-82B4-EC6961BF4595}" destId="{DA3C993E-60FF-46AE-B350-8DFDD7F88195}" srcOrd="1" destOrd="0" presId="urn:microsoft.com/office/officeart/2018/2/layout/IconCircleList"/>
    <dgm:cxn modelId="{525229A0-4C8F-4BFE-8301-845DC2987B8E}" type="presParOf" srcId="{07CE23F5-0634-4724-82B4-EC6961BF4595}" destId="{2C286E66-87E7-422A-80F2-1F03ACFE08CE}" srcOrd="2" destOrd="0" presId="urn:microsoft.com/office/officeart/2018/2/layout/IconCircleList"/>
    <dgm:cxn modelId="{B3AAE6F9-1D22-46F7-A695-A2AD264402F8}" type="presParOf" srcId="{07CE23F5-0634-4724-82B4-EC6961BF4595}" destId="{351E625F-0AD1-4FB3-9D2E-4A1A7E6C3D5C}" srcOrd="3" destOrd="0" presId="urn:microsoft.com/office/officeart/2018/2/layout/IconCircleList"/>
    <dgm:cxn modelId="{94DC0A08-17A8-4A71-B8A2-79BEC876B084}" type="presParOf" srcId="{9A319225-E924-4486-B61C-B776B256DABC}" destId="{A2060C04-A596-47AA-82EB-9C199DCCE80F}" srcOrd="1" destOrd="0" presId="urn:microsoft.com/office/officeart/2018/2/layout/IconCircleList"/>
    <dgm:cxn modelId="{3BAA2000-78FA-4D86-8F5E-C181C5123858}" type="presParOf" srcId="{9A319225-E924-4486-B61C-B776B256DABC}" destId="{618B23EF-BD11-4533-9D8E-0574C96A6C7E}" srcOrd="2" destOrd="0" presId="urn:microsoft.com/office/officeart/2018/2/layout/IconCircleList"/>
    <dgm:cxn modelId="{34FBB828-9291-4B7A-8C10-FCDCCF74A241}" type="presParOf" srcId="{618B23EF-BD11-4533-9D8E-0574C96A6C7E}" destId="{6D7F4693-24D3-4093-8654-57A5755419C0}" srcOrd="0" destOrd="0" presId="urn:microsoft.com/office/officeart/2018/2/layout/IconCircleList"/>
    <dgm:cxn modelId="{BA0A55BE-711B-44C5-B127-D00EC833321A}" type="presParOf" srcId="{618B23EF-BD11-4533-9D8E-0574C96A6C7E}" destId="{292D049A-1A6F-4BDA-B096-74346F27AAD6}" srcOrd="1" destOrd="0" presId="urn:microsoft.com/office/officeart/2018/2/layout/IconCircleList"/>
    <dgm:cxn modelId="{5FC2224A-5C8E-47FD-9EAD-B744E7E32FE9}" type="presParOf" srcId="{618B23EF-BD11-4533-9D8E-0574C96A6C7E}" destId="{035B7831-79F2-4A15-802C-520860D0A939}" srcOrd="2" destOrd="0" presId="urn:microsoft.com/office/officeart/2018/2/layout/IconCircleList"/>
    <dgm:cxn modelId="{8270B184-121A-4854-841C-0D096BA9F550}" type="presParOf" srcId="{618B23EF-BD11-4533-9D8E-0574C96A6C7E}" destId="{C5532A04-4A80-4C5E-8A5B-25E0E4EB5786}" srcOrd="3" destOrd="0" presId="urn:microsoft.com/office/officeart/2018/2/layout/IconCircleList"/>
    <dgm:cxn modelId="{0C8475F2-D59D-4542-9A32-9FD3DE7EAA4E}" type="presParOf" srcId="{9A319225-E924-4486-B61C-B776B256DABC}" destId="{BBD78481-DBCC-4404-BD30-C6891D099FEB}" srcOrd="3" destOrd="0" presId="urn:microsoft.com/office/officeart/2018/2/layout/IconCircleList"/>
    <dgm:cxn modelId="{057A985B-3B2F-4B11-B7E4-283744514CAB}" type="presParOf" srcId="{9A319225-E924-4486-B61C-B776B256DABC}" destId="{A3251EFF-A6EA-4497-9157-00564CD98733}" srcOrd="4" destOrd="0" presId="urn:microsoft.com/office/officeart/2018/2/layout/IconCircleList"/>
    <dgm:cxn modelId="{35A444C2-5D51-48AE-B008-893B16EC0599}" type="presParOf" srcId="{A3251EFF-A6EA-4497-9157-00564CD98733}" destId="{7960E201-454B-4C2E-90BE-44D795408786}" srcOrd="0" destOrd="0" presId="urn:microsoft.com/office/officeart/2018/2/layout/IconCircleList"/>
    <dgm:cxn modelId="{92C58770-8453-49A2-BA58-0B0748C2CA3B}" type="presParOf" srcId="{A3251EFF-A6EA-4497-9157-00564CD98733}" destId="{E3C087DE-A63A-4335-865D-E940BFAE56A0}" srcOrd="1" destOrd="0" presId="urn:microsoft.com/office/officeart/2018/2/layout/IconCircleList"/>
    <dgm:cxn modelId="{D1FC716F-E66C-46BE-ADDF-1BC7FB73B2CA}" type="presParOf" srcId="{A3251EFF-A6EA-4497-9157-00564CD98733}" destId="{D8F9274A-6EF7-499F-90F1-155405533961}" srcOrd="2" destOrd="0" presId="urn:microsoft.com/office/officeart/2018/2/layout/IconCircleList"/>
    <dgm:cxn modelId="{B5734924-F149-4FEC-A5B6-BE74DEBEDCA7}" type="presParOf" srcId="{A3251EFF-A6EA-4497-9157-00564CD98733}" destId="{4A269A09-77E4-47BC-9ACA-02A0B75E0D08}" srcOrd="3" destOrd="0" presId="urn:microsoft.com/office/officeart/2018/2/layout/IconCircleList"/>
    <dgm:cxn modelId="{F6CD3463-C7B6-4D86-842E-12E43A3E85F7}" type="presParOf" srcId="{9A319225-E924-4486-B61C-B776B256DABC}" destId="{B8FC22DB-AD02-49B5-8E02-3F3A35B99552}" srcOrd="5" destOrd="0" presId="urn:microsoft.com/office/officeart/2018/2/layout/IconCircleList"/>
    <dgm:cxn modelId="{DE12EB9C-8212-4519-914A-64DD38F32CB2}" type="presParOf" srcId="{9A319225-E924-4486-B61C-B776B256DABC}" destId="{238DED0C-0FF6-4103-BFEC-477256E6C8B8}" srcOrd="6" destOrd="0" presId="urn:microsoft.com/office/officeart/2018/2/layout/IconCircleList"/>
    <dgm:cxn modelId="{1EB9CA0D-A824-44CE-B5BD-B909366CAFE3}" type="presParOf" srcId="{238DED0C-0FF6-4103-BFEC-477256E6C8B8}" destId="{F5E05FC1-11DF-4D93-B570-0452E03DEE41}" srcOrd="0" destOrd="0" presId="urn:microsoft.com/office/officeart/2018/2/layout/IconCircleList"/>
    <dgm:cxn modelId="{25CD9E12-7AD7-48B7-A62E-F06F7D27FC2B}" type="presParOf" srcId="{238DED0C-0FF6-4103-BFEC-477256E6C8B8}" destId="{BC113B6D-AF04-4F39-BD59-488209947D4A}" srcOrd="1" destOrd="0" presId="urn:microsoft.com/office/officeart/2018/2/layout/IconCircleList"/>
    <dgm:cxn modelId="{56364767-BDDF-4E8A-8EA6-D394F8DF878C}" type="presParOf" srcId="{238DED0C-0FF6-4103-BFEC-477256E6C8B8}" destId="{4B544D9D-7B8B-4403-8FE6-80354AC4A13B}" srcOrd="2" destOrd="0" presId="urn:microsoft.com/office/officeart/2018/2/layout/IconCircleList"/>
    <dgm:cxn modelId="{2308D1A4-A88D-4EB8-AE10-6795B5FBBE86}" type="presParOf" srcId="{238DED0C-0FF6-4103-BFEC-477256E6C8B8}" destId="{B45EC08B-ED6D-4F94-838B-3F26632E18EF}" srcOrd="3" destOrd="0" presId="urn:microsoft.com/office/officeart/2018/2/layout/IconCircleList"/>
    <dgm:cxn modelId="{9C7E141F-6676-4767-B5EC-83CECDB8B7DC}" type="presParOf" srcId="{9A319225-E924-4486-B61C-B776B256DABC}" destId="{4417374D-5F42-43B5-B69E-51D82D69FE65}" srcOrd="7" destOrd="0" presId="urn:microsoft.com/office/officeart/2018/2/layout/IconCircleList"/>
    <dgm:cxn modelId="{E9A2CB02-D306-4392-A8E1-9459A57FB43D}" type="presParOf" srcId="{9A319225-E924-4486-B61C-B776B256DABC}" destId="{E09925F9-6B0B-46A3-B63B-46B1499F488A}" srcOrd="8" destOrd="0" presId="urn:microsoft.com/office/officeart/2018/2/layout/IconCircleList"/>
    <dgm:cxn modelId="{E9832188-DB90-40F5-A64B-FCB7D73B7898}" type="presParOf" srcId="{E09925F9-6B0B-46A3-B63B-46B1499F488A}" destId="{BACEF2D7-2573-41AA-8E85-8694A11EB4D4}" srcOrd="0" destOrd="0" presId="urn:microsoft.com/office/officeart/2018/2/layout/IconCircleList"/>
    <dgm:cxn modelId="{BA7346B9-6FE3-4196-9823-BF2C31145EFF}" type="presParOf" srcId="{E09925F9-6B0B-46A3-B63B-46B1499F488A}" destId="{1DF18330-6ABC-4EBF-A7FB-6CD1D4CA8679}" srcOrd="1" destOrd="0" presId="urn:microsoft.com/office/officeart/2018/2/layout/IconCircleList"/>
    <dgm:cxn modelId="{18010B82-ED90-43E9-A927-5F749B7C5E6D}" type="presParOf" srcId="{E09925F9-6B0B-46A3-B63B-46B1499F488A}" destId="{C0D5B21F-87F4-40E0-8294-C92231FC5D73}" srcOrd="2" destOrd="0" presId="urn:microsoft.com/office/officeart/2018/2/layout/IconCircleList"/>
    <dgm:cxn modelId="{F68AFC51-0CDF-4855-A171-BAD1070CCB10}" type="presParOf" srcId="{E09925F9-6B0B-46A3-B63B-46B1499F488A}" destId="{FCAFD42F-07D4-4852-B346-95B6DEB1FF82}" srcOrd="3" destOrd="0" presId="urn:microsoft.com/office/officeart/2018/2/layout/IconCircleList"/>
    <dgm:cxn modelId="{1AE4929A-CE74-4C92-AE2B-4CF4CA480F6A}" type="presParOf" srcId="{9A319225-E924-4486-B61C-B776B256DABC}" destId="{C72AA32F-B130-460E-A578-158F0CB721B5}" srcOrd="9" destOrd="0" presId="urn:microsoft.com/office/officeart/2018/2/layout/IconCircleList"/>
    <dgm:cxn modelId="{768B4674-4B60-4B44-B135-1BAAF4A37AA1}" type="presParOf" srcId="{9A319225-E924-4486-B61C-B776B256DABC}" destId="{028FFA0D-8B24-4C2F-9B1C-2806B6298593}" srcOrd="10" destOrd="0" presId="urn:microsoft.com/office/officeart/2018/2/layout/IconCircleList"/>
    <dgm:cxn modelId="{05D56267-A9C0-49D2-8C44-ADBA2DB6FB19}" type="presParOf" srcId="{028FFA0D-8B24-4C2F-9B1C-2806B6298593}" destId="{CEA5E010-6F4D-470E-BDA6-48053131B2C2}" srcOrd="0" destOrd="0" presId="urn:microsoft.com/office/officeart/2018/2/layout/IconCircleList"/>
    <dgm:cxn modelId="{8CAD8D8D-5A4D-4C76-8FA2-3E41511838EE}" type="presParOf" srcId="{028FFA0D-8B24-4C2F-9B1C-2806B6298593}" destId="{9B7C4862-7281-4176-9693-867FF9611F42}" srcOrd="1" destOrd="0" presId="urn:microsoft.com/office/officeart/2018/2/layout/IconCircleList"/>
    <dgm:cxn modelId="{69B9FB7E-AB29-4604-A7CE-E89A85718F4D}" type="presParOf" srcId="{028FFA0D-8B24-4C2F-9B1C-2806B6298593}" destId="{95920FF7-5CB6-4F57-BAF3-E7BF12AF2CE9}" srcOrd="2" destOrd="0" presId="urn:microsoft.com/office/officeart/2018/2/layout/IconCircleList"/>
    <dgm:cxn modelId="{F31C0CAA-D1E2-4295-B728-E8B7DFE4D903}" type="presParOf" srcId="{028FFA0D-8B24-4C2F-9B1C-2806B6298593}" destId="{07A5F26D-E67C-494D-BCB9-0EBCFC72E576}"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EAC710-D748-48E1-9385-FB680E49DFE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EF523FF-8EB6-4B6C-BCD8-08F933D408F9}">
      <dgm:prSet/>
      <dgm:spPr/>
      <dgm:t>
        <a:bodyPr/>
        <a:lstStyle/>
        <a:p>
          <a:r>
            <a:rPr lang="en-US" b="0" baseline="0" dirty="0"/>
            <a:t>Which products and categories drive the highest sales? </a:t>
          </a:r>
          <a:endParaRPr lang="en-US" dirty="0"/>
        </a:p>
      </dgm:t>
    </dgm:pt>
    <dgm:pt modelId="{B3245BC6-41BB-42FB-9C42-109B92510A79}" type="parTrans" cxnId="{E96C343A-3610-453B-A0D7-2E13DCFA6BC9}">
      <dgm:prSet/>
      <dgm:spPr/>
      <dgm:t>
        <a:bodyPr/>
        <a:lstStyle/>
        <a:p>
          <a:endParaRPr lang="en-US"/>
        </a:p>
      </dgm:t>
    </dgm:pt>
    <dgm:pt modelId="{4DD2BC40-AA3B-43D9-8A7F-C2ABC9353E71}" type="sibTrans" cxnId="{E96C343A-3610-453B-A0D7-2E13DCFA6BC9}">
      <dgm:prSet/>
      <dgm:spPr/>
      <dgm:t>
        <a:bodyPr/>
        <a:lstStyle/>
        <a:p>
          <a:endParaRPr lang="en-US"/>
        </a:p>
      </dgm:t>
    </dgm:pt>
    <dgm:pt modelId="{C53C0128-3E79-4402-9DF9-E202D67F0EEB}">
      <dgm:prSet/>
      <dgm:spPr/>
      <dgm:t>
        <a:bodyPr/>
        <a:lstStyle/>
        <a:p>
          <a:r>
            <a:rPr lang="en-US" b="0" baseline="0" dirty="0"/>
            <a:t>Which products and categories drive the lowest sales? </a:t>
          </a:r>
          <a:endParaRPr lang="en-US" dirty="0"/>
        </a:p>
      </dgm:t>
    </dgm:pt>
    <dgm:pt modelId="{B34B119B-391E-4CA5-B6C7-F9CCB044F875}" type="parTrans" cxnId="{696B56A3-91CA-4F8A-9C67-17A346EAB0C3}">
      <dgm:prSet/>
      <dgm:spPr/>
      <dgm:t>
        <a:bodyPr/>
        <a:lstStyle/>
        <a:p>
          <a:endParaRPr lang="en-US"/>
        </a:p>
      </dgm:t>
    </dgm:pt>
    <dgm:pt modelId="{7B97E774-7EA3-4FF1-A26F-ECED74559722}" type="sibTrans" cxnId="{696B56A3-91CA-4F8A-9C67-17A346EAB0C3}">
      <dgm:prSet/>
      <dgm:spPr/>
      <dgm:t>
        <a:bodyPr/>
        <a:lstStyle/>
        <a:p>
          <a:endParaRPr lang="en-US"/>
        </a:p>
      </dgm:t>
    </dgm:pt>
    <dgm:pt modelId="{F9755D7F-B7A8-4193-8E9E-F714D7E58B38}">
      <dgm:prSet/>
      <dgm:spPr/>
      <dgm:t>
        <a:bodyPr/>
        <a:lstStyle/>
        <a:p>
          <a:r>
            <a:rPr lang="en-US" b="0" baseline="0" dirty="0"/>
            <a:t>Which Product Categories drive the Most and Least sales?</a:t>
          </a:r>
          <a:endParaRPr lang="en-US" dirty="0"/>
        </a:p>
      </dgm:t>
    </dgm:pt>
    <dgm:pt modelId="{ED44387D-3543-4C5A-AB65-A1B01F1A2BDA}" type="parTrans" cxnId="{ACEB9FA8-432B-4F31-AB8B-65049739CC10}">
      <dgm:prSet/>
      <dgm:spPr/>
      <dgm:t>
        <a:bodyPr/>
        <a:lstStyle/>
        <a:p>
          <a:endParaRPr lang="en-US"/>
        </a:p>
      </dgm:t>
    </dgm:pt>
    <dgm:pt modelId="{72152C3C-6AE7-42ED-9B56-BE124A9AC458}" type="sibTrans" cxnId="{ACEB9FA8-432B-4F31-AB8B-65049739CC10}">
      <dgm:prSet/>
      <dgm:spPr/>
      <dgm:t>
        <a:bodyPr/>
        <a:lstStyle/>
        <a:p>
          <a:endParaRPr lang="en-US"/>
        </a:p>
      </dgm:t>
    </dgm:pt>
    <dgm:pt modelId="{3B238A3A-90EA-4F5B-BB4F-92F9E710A805}">
      <dgm:prSet/>
      <dgm:spPr/>
      <dgm:t>
        <a:bodyPr/>
        <a:lstStyle/>
        <a:p>
          <a:r>
            <a:rPr lang="en-US" b="0" baseline="0" dirty="0"/>
            <a:t>Which products generate the most profit? </a:t>
          </a:r>
          <a:endParaRPr lang="en-US" dirty="0"/>
        </a:p>
      </dgm:t>
    </dgm:pt>
    <dgm:pt modelId="{54D906A7-55B7-481B-AB62-D89B0DCFB8ED}" type="parTrans" cxnId="{4D91AD89-AA4D-487F-A4B2-7493C85E496A}">
      <dgm:prSet/>
      <dgm:spPr/>
      <dgm:t>
        <a:bodyPr/>
        <a:lstStyle/>
        <a:p>
          <a:endParaRPr lang="en-US"/>
        </a:p>
      </dgm:t>
    </dgm:pt>
    <dgm:pt modelId="{9FC09B2A-5DE8-46D3-8D0B-3279C5954331}" type="sibTrans" cxnId="{4D91AD89-AA4D-487F-A4B2-7493C85E496A}">
      <dgm:prSet/>
      <dgm:spPr/>
      <dgm:t>
        <a:bodyPr/>
        <a:lstStyle/>
        <a:p>
          <a:endParaRPr lang="en-US"/>
        </a:p>
      </dgm:t>
    </dgm:pt>
    <dgm:pt modelId="{17DAFB15-A7BD-421D-999A-CEC702150226}">
      <dgm:prSet/>
      <dgm:spPr/>
      <dgm:t>
        <a:bodyPr/>
        <a:lstStyle/>
        <a:p>
          <a:r>
            <a:rPr lang="en-US" b="0" baseline="0" dirty="0"/>
            <a:t>Which products generate the least profit? </a:t>
          </a:r>
          <a:endParaRPr lang="en-US" dirty="0"/>
        </a:p>
      </dgm:t>
    </dgm:pt>
    <dgm:pt modelId="{5382CAB4-7B5B-4F58-B2B5-BD354AB76FF1}" type="parTrans" cxnId="{E68944ED-E483-4B03-B7F1-2419B101C79C}">
      <dgm:prSet/>
      <dgm:spPr/>
      <dgm:t>
        <a:bodyPr/>
        <a:lstStyle/>
        <a:p>
          <a:endParaRPr lang="en-US"/>
        </a:p>
      </dgm:t>
    </dgm:pt>
    <dgm:pt modelId="{ECB21D47-C037-49C7-9280-FD5A2F6E81EF}" type="sibTrans" cxnId="{E68944ED-E483-4B03-B7F1-2419B101C79C}">
      <dgm:prSet/>
      <dgm:spPr/>
      <dgm:t>
        <a:bodyPr/>
        <a:lstStyle/>
        <a:p>
          <a:endParaRPr lang="en-US"/>
        </a:p>
      </dgm:t>
    </dgm:pt>
    <dgm:pt modelId="{B7DCC913-8886-4462-98FA-4F7B248E9CE8}">
      <dgm:prSet/>
      <dgm:spPr/>
      <dgm:t>
        <a:bodyPr/>
        <a:lstStyle/>
        <a:p>
          <a:r>
            <a:rPr lang="en-US" b="0" baseline="0"/>
            <a:t>Which product categories are most and least profitable?</a:t>
          </a:r>
          <a:endParaRPr lang="en-US"/>
        </a:p>
      </dgm:t>
    </dgm:pt>
    <dgm:pt modelId="{081F98A6-655D-4DFC-86F1-8E47B5BCBD75}" type="parTrans" cxnId="{0E8987C5-438C-468F-A6B0-DE3B20CE8AA0}">
      <dgm:prSet/>
      <dgm:spPr/>
      <dgm:t>
        <a:bodyPr/>
        <a:lstStyle/>
        <a:p>
          <a:endParaRPr lang="en-US"/>
        </a:p>
      </dgm:t>
    </dgm:pt>
    <dgm:pt modelId="{7F08DA3F-8578-4578-AAD0-D123DB0CC494}" type="sibTrans" cxnId="{0E8987C5-438C-468F-A6B0-DE3B20CE8AA0}">
      <dgm:prSet/>
      <dgm:spPr/>
      <dgm:t>
        <a:bodyPr/>
        <a:lstStyle/>
        <a:p>
          <a:endParaRPr lang="en-US"/>
        </a:p>
      </dgm:t>
    </dgm:pt>
    <dgm:pt modelId="{13F1CC1C-6086-4FF3-A3A4-9E86EBE0DC34}" type="pres">
      <dgm:prSet presAssocID="{67EAC710-D748-48E1-9385-FB680E49DFEE}" presName="linear" presStyleCnt="0">
        <dgm:presLayoutVars>
          <dgm:animLvl val="lvl"/>
          <dgm:resizeHandles val="exact"/>
        </dgm:presLayoutVars>
      </dgm:prSet>
      <dgm:spPr/>
    </dgm:pt>
    <dgm:pt modelId="{935BB278-CF7A-4616-B7EB-6B2401F6B9B4}" type="pres">
      <dgm:prSet presAssocID="{8EF523FF-8EB6-4B6C-BCD8-08F933D408F9}" presName="parentText" presStyleLbl="node1" presStyleIdx="0" presStyleCnt="6">
        <dgm:presLayoutVars>
          <dgm:chMax val="0"/>
          <dgm:bulletEnabled val="1"/>
        </dgm:presLayoutVars>
      </dgm:prSet>
      <dgm:spPr/>
    </dgm:pt>
    <dgm:pt modelId="{522193FC-C80C-4661-B90A-F75C2620BA49}" type="pres">
      <dgm:prSet presAssocID="{4DD2BC40-AA3B-43D9-8A7F-C2ABC9353E71}" presName="spacer" presStyleCnt="0"/>
      <dgm:spPr/>
    </dgm:pt>
    <dgm:pt modelId="{0608BB80-785A-4AFA-AD94-49B029944B5A}" type="pres">
      <dgm:prSet presAssocID="{C53C0128-3E79-4402-9DF9-E202D67F0EEB}" presName="parentText" presStyleLbl="node1" presStyleIdx="1" presStyleCnt="6">
        <dgm:presLayoutVars>
          <dgm:chMax val="0"/>
          <dgm:bulletEnabled val="1"/>
        </dgm:presLayoutVars>
      </dgm:prSet>
      <dgm:spPr/>
    </dgm:pt>
    <dgm:pt modelId="{8133F22C-50BB-413A-AA17-203B5285145F}" type="pres">
      <dgm:prSet presAssocID="{7B97E774-7EA3-4FF1-A26F-ECED74559722}" presName="spacer" presStyleCnt="0"/>
      <dgm:spPr/>
    </dgm:pt>
    <dgm:pt modelId="{A17BA178-5CC2-4514-8748-5B8D2EDED6DD}" type="pres">
      <dgm:prSet presAssocID="{F9755D7F-B7A8-4193-8E9E-F714D7E58B38}" presName="parentText" presStyleLbl="node1" presStyleIdx="2" presStyleCnt="6">
        <dgm:presLayoutVars>
          <dgm:chMax val="0"/>
          <dgm:bulletEnabled val="1"/>
        </dgm:presLayoutVars>
      </dgm:prSet>
      <dgm:spPr/>
    </dgm:pt>
    <dgm:pt modelId="{D78B98C2-AE3F-4595-96F6-E387201077CB}" type="pres">
      <dgm:prSet presAssocID="{72152C3C-6AE7-42ED-9B56-BE124A9AC458}" presName="spacer" presStyleCnt="0"/>
      <dgm:spPr/>
    </dgm:pt>
    <dgm:pt modelId="{9DCB27B5-CB45-4809-BD17-AFF633C4366F}" type="pres">
      <dgm:prSet presAssocID="{3B238A3A-90EA-4F5B-BB4F-92F9E710A805}" presName="parentText" presStyleLbl="node1" presStyleIdx="3" presStyleCnt="6">
        <dgm:presLayoutVars>
          <dgm:chMax val="0"/>
          <dgm:bulletEnabled val="1"/>
        </dgm:presLayoutVars>
      </dgm:prSet>
      <dgm:spPr/>
    </dgm:pt>
    <dgm:pt modelId="{F69588DF-3E94-4C5E-8DA1-842FBC739BB7}" type="pres">
      <dgm:prSet presAssocID="{9FC09B2A-5DE8-46D3-8D0B-3279C5954331}" presName="spacer" presStyleCnt="0"/>
      <dgm:spPr/>
    </dgm:pt>
    <dgm:pt modelId="{649B4996-A7C4-48C9-9D9F-893CA128338F}" type="pres">
      <dgm:prSet presAssocID="{17DAFB15-A7BD-421D-999A-CEC702150226}" presName="parentText" presStyleLbl="node1" presStyleIdx="4" presStyleCnt="6">
        <dgm:presLayoutVars>
          <dgm:chMax val="0"/>
          <dgm:bulletEnabled val="1"/>
        </dgm:presLayoutVars>
      </dgm:prSet>
      <dgm:spPr/>
    </dgm:pt>
    <dgm:pt modelId="{E6D09E9E-8887-414C-9459-129AE3097116}" type="pres">
      <dgm:prSet presAssocID="{ECB21D47-C037-49C7-9280-FD5A2F6E81EF}" presName="spacer" presStyleCnt="0"/>
      <dgm:spPr/>
    </dgm:pt>
    <dgm:pt modelId="{4C5C12CD-B67A-4C4B-B979-F03B47AB5368}" type="pres">
      <dgm:prSet presAssocID="{B7DCC913-8886-4462-98FA-4F7B248E9CE8}" presName="parentText" presStyleLbl="node1" presStyleIdx="5" presStyleCnt="6">
        <dgm:presLayoutVars>
          <dgm:chMax val="0"/>
          <dgm:bulletEnabled val="1"/>
        </dgm:presLayoutVars>
      </dgm:prSet>
      <dgm:spPr/>
    </dgm:pt>
  </dgm:ptLst>
  <dgm:cxnLst>
    <dgm:cxn modelId="{5890BF06-49A3-4A6A-B2A9-D9DC65EB158E}" type="presOf" srcId="{B7DCC913-8886-4462-98FA-4F7B248E9CE8}" destId="{4C5C12CD-B67A-4C4B-B979-F03B47AB5368}" srcOrd="0" destOrd="0" presId="urn:microsoft.com/office/officeart/2005/8/layout/vList2"/>
    <dgm:cxn modelId="{1CDA7D2A-92C5-47DD-A2A3-990F6334214E}" type="presOf" srcId="{F9755D7F-B7A8-4193-8E9E-F714D7E58B38}" destId="{A17BA178-5CC2-4514-8748-5B8D2EDED6DD}" srcOrd="0" destOrd="0" presId="urn:microsoft.com/office/officeart/2005/8/layout/vList2"/>
    <dgm:cxn modelId="{11E54C33-B656-4DE9-8C9F-287BC89EA370}" type="presOf" srcId="{3B238A3A-90EA-4F5B-BB4F-92F9E710A805}" destId="{9DCB27B5-CB45-4809-BD17-AFF633C4366F}" srcOrd="0" destOrd="0" presId="urn:microsoft.com/office/officeart/2005/8/layout/vList2"/>
    <dgm:cxn modelId="{2634FF38-94DD-44E4-991B-FCCA7666F532}" type="presOf" srcId="{C53C0128-3E79-4402-9DF9-E202D67F0EEB}" destId="{0608BB80-785A-4AFA-AD94-49B029944B5A}" srcOrd="0" destOrd="0" presId="urn:microsoft.com/office/officeart/2005/8/layout/vList2"/>
    <dgm:cxn modelId="{E96C343A-3610-453B-A0D7-2E13DCFA6BC9}" srcId="{67EAC710-D748-48E1-9385-FB680E49DFEE}" destId="{8EF523FF-8EB6-4B6C-BCD8-08F933D408F9}" srcOrd="0" destOrd="0" parTransId="{B3245BC6-41BB-42FB-9C42-109B92510A79}" sibTransId="{4DD2BC40-AA3B-43D9-8A7F-C2ABC9353E71}"/>
    <dgm:cxn modelId="{499E746B-52A5-4A48-BE68-D3D4BBB0C65C}" type="presOf" srcId="{8EF523FF-8EB6-4B6C-BCD8-08F933D408F9}" destId="{935BB278-CF7A-4616-B7EB-6B2401F6B9B4}" srcOrd="0" destOrd="0" presId="urn:microsoft.com/office/officeart/2005/8/layout/vList2"/>
    <dgm:cxn modelId="{B2B66E84-28F7-4AA9-8AB6-3EF06DC98F0B}" type="presOf" srcId="{17DAFB15-A7BD-421D-999A-CEC702150226}" destId="{649B4996-A7C4-48C9-9D9F-893CA128338F}" srcOrd="0" destOrd="0" presId="urn:microsoft.com/office/officeart/2005/8/layout/vList2"/>
    <dgm:cxn modelId="{4D91AD89-AA4D-487F-A4B2-7493C85E496A}" srcId="{67EAC710-D748-48E1-9385-FB680E49DFEE}" destId="{3B238A3A-90EA-4F5B-BB4F-92F9E710A805}" srcOrd="3" destOrd="0" parTransId="{54D906A7-55B7-481B-AB62-D89B0DCFB8ED}" sibTransId="{9FC09B2A-5DE8-46D3-8D0B-3279C5954331}"/>
    <dgm:cxn modelId="{696B56A3-91CA-4F8A-9C67-17A346EAB0C3}" srcId="{67EAC710-D748-48E1-9385-FB680E49DFEE}" destId="{C53C0128-3E79-4402-9DF9-E202D67F0EEB}" srcOrd="1" destOrd="0" parTransId="{B34B119B-391E-4CA5-B6C7-F9CCB044F875}" sibTransId="{7B97E774-7EA3-4FF1-A26F-ECED74559722}"/>
    <dgm:cxn modelId="{ACEB9FA8-432B-4F31-AB8B-65049739CC10}" srcId="{67EAC710-D748-48E1-9385-FB680E49DFEE}" destId="{F9755D7F-B7A8-4193-8E9E-F714D7E58B38}" srcOrd="2" destOrd="0" parTransId="{ED44387D-3543-4C5A-AB65-A1B01F1A2BDA}" sibTransId="{72152C3C-6AE7-42ED-9B56-BE124A9AC458}"/>
    <dgm:cxn modelId="{7E2B20B3-7919-4735-AB83-DD61673C1975}" type="presOf" srcId="{67EAC710-D748-48E1-9385-FB680E49DFEE}" destId="{13F1CC1C-6086-4FF3-A3A4-9E86EBE0DC34}" srcOrd="0" destOrd="0" presId="urn:microsoft.com/office/officeart/2005/8/layout/vList2"/>
    <dgm:cxn modelId="{0E8987C5-438C-468F-A6B0-DE3B20CE8AA0}" srcId="{67EAC710-D748-48E1-9385-FB680E49DFEE}" destId="{B7DCC913-8886-4462-98FA-4F7B248E9CE8}" srcOrd="5" destOrd="0" parTransId="{081F98A6-655D-4DFC-86F1-8E47B5BCBD75}" sibTransId="{7F08DA3F-8578-4578-AAD0-D123DB0CC494}"/>
    <dgm:cxn modelId="{E68944ED-E483-4B03-B7F1-2419B101C79C}" srcId="{67EAC710-D748-48E1-9385-FB680E49DFEE}" destId="{17DAFB15-A7BD-421D-999A-CEC702150226}" srcOrd="4" destOrd="0" parTransId="{5382CAB4-7B5B-4F58-B2B5-BD354AB76FF1}" sibTransId="{ECB21D47-C037-49C7-9280-FD5A2F6E81EF}"/>
    <dgm:cxn modelId="{FDB929AD-0C24-42FF-8EB1-54DEA2BD58E2}" type="presParOf" srcId="{13F1CC1C-6086-4FF3-A3A4-9E86EBE0DC34}" destId="{935BB278-CF7A-4616-B7EB-6B2401F6B9B4}" srcOrd="0" destOrd="0" presId="urn:microsoft.com/office/officeart/2005/8/layout/vList2"/>
    <dgm:cxn modelId="{404C5AFD-BD96-4AB7-A8A0-346F132CA386}" type="presParOf" srcId="{13F1CC1C-6086-4FF3-A3A4-9E86EBE0DC34}" destId="{522193FC-C80C-4661-B90A-F75C2620BA49}" srcOrd="1" destOrd="0" presId="urn:microsoft.com/office/officeart/2005/8/layout/vList2"/>
    <dgm:cxn modelId="{9C0668F7-82BB-400A-8104-1DC8E29749F6}" type="presParOf" srcId="{13F1CC1C-6086-4FF3-A3A4-9E86EBE0DC34}" destId="{0608BB80-785A-4AFA-AD94-49B029944B5A}" srcOrd="2" destOrd="0" presId="urn:microsoft.com/office/officeart/2005/8/layout/vList2"/>
    <dgm:cxn modelId="{026CE3B8-3504-479D-B30A-E1820AA8CFA4}" type="presParOf" srcId="{13F1CC1C-6086-4FF3-A3A4-9E86EBE0DC34}" destId="{8133F22C-50BB-413A-AA17-203B5285145F}" srcOrd="3" destOrd="0" presId="urn:microsoft.com/office/officeart/2005/8/layout/vList2"/>
    <dgm:cxn modelId="{5800A02D-EAC9-48C3-9B29-C32C651D33F8}" type="presParOf" srcId="{13F1CC1C-6086-4FF3-A3A4-9E86EBE0DC34}" destId="{A17BA178-5CC2-4514-8748-5B8D2EDED6DD}" srcOrd="4" destOrd="0" presId="urn:microsoft.com/office/officeart/2005/8/layout/vList2"/>
    <dgm:cxn modelId="{E3ECA804-3A47-4396-8F53-75FFE610CB2A}" type="presParOf" srcId="{13F1CC1C-6086-4FF3-A3A4-9E86EBE0DC34}" destId="{D78B98C2-AE3F-4595-96F6-E387201077CB}" srcOrd="5" destOrd="0" presId="urn:microsoft.com/office/officeart/2005/8/layout/vList2"/>
    <dgm:cxn modelId="{3438E980-8410-4250-A824-C7E030DC9EDF}" type="presParOf" srcId="{13F1CC1C-6086-4FF3-A3A4-9E86EBE0DC34}" destId="{9DCB27B5-CB45-4809-BD17-AFF633C4366F}" srcOrd="6" destOrd="0" presId="urn:microsoft.com/office/officeart/2005/8/layout/vList2"/>
    <dgm:cxn modelId="{2AF688C4-7E22-4442-98B6-4A1974AC315F}" type="presParOf" srcId="{13F1CC1C-6086-4FF3-A3A4-9E86EBE0DC34}" destId="{F69588DF-3E94-4C5E-8DA1-842FBC739BB7}" srcOrd="7" destOrd="0" presId="urn:microsoft.com/office/officeart/2005/8/layout/vList2"/>
    <dgm:cxn modelId="{FB190B62-6D21-493E-B2A9-3598BBF1A3B9}" type="presParOf" srcId="{13F1CC1C-6086-4FF3-A3A4-9E86EBE0DC34}" destId="{649B4996-A7C4-48C9-9D9F-893CA128338F}" srcOrd="8" destOrd="0" presId="urn:microsoft.com/office/officeart/2005/8/layout/vList2"/>
    <dgm:cxn modelId="{9D6B9933-2B5B-493D-8084-00372EED7BB5}" type="presParOf" srcId="{13F1CC1C-6086-4FF3-A3A4-9E86EBE0DC34}" destId="{E6D09E9E-8887-414C-9459-129AE3097116}" srcOrd="9" destOrd="0" presId="urn:microsoft.com/office/officeart/2005/8/layout/vList2"/>
    <dgm:cxn modelId="{4E1CDB5C-3835-425E-8ACA-6C398FC0CCB7}" type="presParOf" srcId="{13F1CC1C-6086-4FF3-A3A4-9E86EBE0DC34}" destId="{4C5C12CD-B67A-4C4B-B979-F03B47AB5368}"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463CD9-8695-4193-817A-6385FC61378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4D719E8-4D01-46EF-A2AF-7CF576DD7E6F}">
      <dgm:prSet/>
      <dgm:spPr/>
      <dgm:t>
        <a:bodyPr/>
        <a:lstStyle/>
        <a:p>
          <a:pPr>
            <a:lnSpc>
              <a:spcPct val="100000"/>
            </a:lnSpc>
          </a:pPr>
          <a:r>
            <a:rPr lang="en-US"/>
            <a:t>Which months have the highest and lowest product sales?</a:t>
          </a:r>
        </a:p>
      </dgm:t>
    </dgm:pt>
    <dgm:pt modelId="{B0B4233D-7F02-4C7A-9F24-F8A17FE9FC32}" type="parTrans" cxnId="{66A3BA79-3A84-4D1A-BDBC-9E96650FAAB2}">
      <dgm:prSet/>
      <dgm:spPr/>
      <dgm:t>
        <a:bodyPr/>
        <a:lstStyle/>
        <a:p>
          <a:endParaRPr lang="en-US"/>
        </a:p>
      </dgm:t>
    </dgm:pt>
    <dgm:pt modelId="{72B9A002-DAF6-4521-B856-0722942AB8FD}" type="sibTrans" cxnId="{66A3BA79-3A84-4D1A-BDBC-9E96650FAAB2}">
      <dgm:prSet/>
      <dgm:spPr/>
      <dgm:t>
        <a:bodyPr/>
        <a:lstStyle/>
        <a:p>
          <a:endParaRPr lang="en-US"/>
        </a:p>
      </dgm:t>
    </dgm:pt>
    <dgm:pt modelId="{8DD60EA3-1071-4400-9E94-E38982EE595E}">
      <dgm:prSet/>
      <dgm:spPr/>
      <dgm:t>
        <a:bodyPr/>
        <a:lstStyle/>
        <a:p>
          <a:pPr>
            <a:lnSpc>
              <a:spcPct val="100000"/>
            </a:lnSpc>
          </a:pPr>
          <a:r>
            <a:rPr lang="en-US"/>
            <a:t>Which store locations perform best in terms of product sales? </a:t>
          </a:r>
        </a:p>
      </dgm:t>
    </dgm:pt>
    <dgm:pt modelId="{471EA522-3FAF-4F60-B2B2-C543EB5D7360}" type="parTrans" cxnId="{85EB0351-98BE-49D4-8358-C488A1681CB8}">
      <dgm:prSet/>
      <dgm:spPr/>
      <dgm:t>
        <a:bodyPr/>
        <a:lstStyle/>
        <a:p>
          <a:endParaRPr lang="en-US"/>
        </a:p>
      </dgm:t>
    </dgm:pt>
    <dgm:pt modelId="{8C51EE94-368A-4FDB-BDBF-31CF025DEFCC}" type="sibTrans" cxnId="{85EB0351-98BE-49D4-8358-C488A1681CB8}">
      <dgm:prSet/>
      <dgm:spPr/>
      <dgm:t>
        <a:bodyPr/>
        <a:lstStyle/>
        <a:p>
          <a:endParaRPr lang="en-US"/>
        </a:p>
      </dgm:t>
    </dgm:pt>
    <dgm:pt modelId="{A82A3B4F-8137-41D5-B94C-F082E42E5AED}">
      <dgm:prSet/>
      <dgm:spPr/>
      <dgm:t>
        <a:bodyPr/>
        <a:lstStyle/>
        <a:p>
          <a:pPr>
            <a:lnSpc>
              <a:spcPct val="100000"/>
            </a:lnSpc>
          </a:pPr>
          <a:r>
            <a:rPr lang="en-US"/>
            <a:t>Are certain stores more profitable based on how long they've been open? </a:t>
          </a:r>
        </a:p>
      </dgm:t>
    </dgm:pt>
    <dgm:pt modelId="{4175C68A-4C80-47AB-B908-7C64FC1787E7}" type="parTrans" cxnId="{E8D597A0-733C-4376-BAE7-997930D3233E}">
      <dgm:prSet/>
      <dgm:spPr/>
      <dgm:t>
        <a:bodyPr/>
        <a:lstStyle/>
        <a:p>
          <a:endParaRPr lang="en-US"/>
        </a:p>
      </dgm:t>
    </dgm:pt>
    <dgm:pt modelId="{4B1B1D7F-7047-428B-8852-3E01EAB44BA2}" type="sibTrans" cxnId="{E8D597A0-733C-4376-BAE7-997930D3233E}">
      <dgm:prSet/>
      <dgm:spPr/>
      <dgm:t>
        <a:bodyPr/>
        <a:lstStyle/>
        <a:p>
          <a:endParaRPr lang="en-US"/>
        </a:p>
      </dgm:t>
    </dgm:pt>
    <dgm:pt modelId="{A93B6FF3-BD42-4ED9-BAF8-AD9962079584}">
      <dgm:prSet/>
      <dgm:spPr/>
      <dgm:t>
        <a:bodyPr/>
        <a:lstStyle/>
        <a:p>
          <a:pPr>
            <a:lnSpc>
              <a:spcPct val="100000"/>
            </a:lnSpc>
          </a:pPr>
          <a:r>
            <a:rPr lang="en-US"/>
            <a:t>Which stores hold the highest stock levels, and are those products selling? </a:t>
          </a:r>
        </a:p>
      </dgm:t>
    </dgm:pt>
    <dgm:pt modelId="{8BCFF718-C7CE-4E23-BE5D-F4EE3FEA092A}" type="parTrans" cxnId="{5A0CDE57-55B8-4775-8320-66653FE585B5}">
      <dgm:prSet/>
      <dgm:spPr/>
      <dgm:t>
        <a:bodyPr/>
        <a:lstStyle/>
        <a:p>
          <a:endParaRPr lang="en-US"/>
        </a:p>
      </dgm:t>
    </dgm:pt>
    <dgm:pt modelId="{8427EE27-1343-46F8-B755-532C1C8441CA}" type="sibTrans" cxnId="{5A0CDE57-55B8-4775-8320-66653FE585B5}">
      <dgm:prSet/>
      <dgm:spPr/>
      <dgm:t>
        <a:bodyPr/>
        <a:lstStyle/>
        <a:p>
          <a:endParaRPr lang="en-US"/>
        </a:p>
      </dgm:t>
    </dgm:pt>
    <dgm:pt modelId="{726AAA5E-7BD5-460E-8057-B3591852BC14}">
      <dgm:prSet/>
      <dgm:spPr/>
      <dgm:t>
        <a:bodyPr/>
        <a:lstStyle/>
        <a:p>
          <a:pPr>
            <a:lnSpc>
              <a:spcPct val="100000"/>
            </a:lnSpc>
          </a:pPr>
          <a:r>
            <a:rPr lang="en-US"/>
            <a:t>Which stores generate the highest revenue and profit? </a:t>
          </a:r>
        </a:p>
      </dgm:t>
    </dgm:pt>
    <dgm:pt modelId="{604C2F36-EAAD-44A1-A3AF-F8057878E06E}" type="parTrans" cxnId="{A164F1F0-BEFD-44A9-BC86-556B9C724321}">
      <dgm:prSet/>
      <dgm:spPr/>
      <dgm:t>
        <a:bodyPr/>
        <a:lstStyle/>
        <a:p>
          <a:endParaRPr lang="en-US"/>
        </a:p>
      </dgm:t>
    </dgm:pt>
    <dgm:pt modelId="{79CCC9BE-3FCF-4499-8CD3-73C39BB015CE}" type="sibTrans" cxnId="{A164F1F0-BEFD-44A9-BC86-556B9C724321}">
      <dgm:prSet/>
      <dgm:spPr/>
      <dgm:t>
        <a:bodyPr/>
        <a:lstStyle/>
        <a:p>
          <a:endParaRPr lang="en-US"/>
        </a:p>
      </dgm:t>
    </dgm:pt>
    <dgm:pt modelId="{6E35A9A0-C18F-4A01-944F-3D33F16AC201}">
      <dgm:prSet/>
      <dgm:spPr/>
      <dgm:t>
        <a:bodyPr/>
        <a:lstStyle/>
        <a:p>
          <a:pPr>
            <a:lnSpc>
              <a:spcPct val="100000"/>
            </a:lnSpc>
          </a:pPr>
          <a:r>
            <a:rPr lang="en-US"/>
            <a:t>Which cities record the highest sales volumes by product? </a:t>
          </a:r>
        </a:p>
      </dgm:t>
    </dgm:pt>
    <dgm:pt modelId="{362EB3DE-8D7D-4E04-9552-F0E0E6D8CBDD}" type="parTrans" cxnId="{39D1D09E-2A1D-46C1-822E-E2075E5D122E}">
      <dgm:prSet/>
      <dgm:spPr/>
      <dgm:t>
        <a:bodyPr/>
        <a:lstStyle/>
        <a:p>
          <a:endParaRPr lang="en-US"/>
        </a:p>
      </dgm:t>
    </dgm:pt>
    <dgm:pt modelId="{14DF3EB7-A750-45E8-A0E8-8865704519F1}" type="sibTrans" cxnId="{39D1D09E-2A1D-46C1-822E-E2075E5D122E}">
      <dgm:prSet/>
      <dgm:spPr/>
      <dgm:t>
        <a:bodyPr/>
        <a:lstStyle/>
        <a:p>
          <a:endParaRPr lang="en-US"/>
        </a:p>
      </dgm:t>
    </dgm:pt>
    <dgm:pt modelId="{AC1257B7-CEC6-4A5E-A6F4-E4B6FF5F018F}" type="pres">
      <dgm:prSet presAssocID="{28463CD9-8695-4193-817A-6385FC61378A}" presName="root" presStyleCnt="0">
        <dgm:presLayoutVars>
          <dgm:dir/>
          <dgm:resizeHandles val="exact"/>
        </dgm:presLayoutVars>
      </dgm:prSet>
      <dgm:spPr/>
    </dgm:pt>
    <dgm:pt modelId="{2CDE5272-9F45-4CAF-9EA6-95F97CE3B01A}" type="pres">
      <dgm:prSet presAssocID="{14D719E8-4D01-46EF-A2AF-7CF576DD7E6F}" presName="compNode" presStyleCnt="0"/>
      <dgm:spPr/>
    </dgm:pt>
    <dgm:pt modelId="{8CE66C8E-1F50-492A-B884-B1BC4C2346E5}" type="pres">
      <dgm:prSet presAssocID="{14D719E8-4D01-46EF-A2AF-7CF576DD7E6F}" presName="bgRect" presStyleLbl="bgShp" presStyleIdx="0" presStyleCnt="6"/>
      <dgm:spPr/>
    </dgm:pt>
    <dgm:pt modelId="{61C4E7D4-0F8E-433B-91DD-303B1D5406B1}" type="pres">
      <dgm:prSet presAssocID="{14D719E8-4D01-46EF-A2AF-7CF576DD7E6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DFF8CA5C-26FB-4C7A-BC67-9545DF3573A3}" type="pres">
      <dgm:prSet presAssocID="{14D719E8-4D01-46EF-A2AF-7CF576DD7E6F}" presName="spaceRect" presStyleCnt="0"/>
      <dgm:spPr/>
    </dgm:pt>
    <dgm:pt modelId="{D269BAD3-109F-44D5-8F01-CC4C763253C3}" type="pres">
      <dgm:prSet presAssocID="{14D719E8-4D01-46EF-A2AF-7CF576DD7E6F}" presName="parTx" presStyleLbl="revTx" presStyleIdx="0" presStyleCnt="6">
        <dgm:presLayoutVars>
          <dgm:chMax val="0"/>
          <dgm:chPref val="0"/>
        </dgm:presLayoutVars>
      </dgm:prSet>
      <dgm:spPr/>
    </dgm:pt>
    <dgm:pt modelId="{12DC173F-AB09-4950-AD49-3A0E9B9ED823}" type="pres">
      <dgm:prSet presAssocID="{72B9A002-DAF6-4521-B856-0722942AB8FD}" presName="sibTrans" presStyleCnt="0"/>
      <dgm:spPr/>
    </dgm:pt>
    <dgm:pt modelId="{A1AB0AD4-EB22-409D-9544-6A557034E557}" type="pres">
      <dgm:prSet presAssocID="{8DD60EA3-1071-4400-9E94-E38982EE595E}" presName="compNode" presStyleCnt="0"/>
      <dgm:spPr/>
    </dgm:pt>
    <dgm:pt modelId="{74646BB6-212B-4678-BCFF-0986033C395D}" type="pres">
      <dgm:prSet presAssocID="{8DD60EA3-1071-4400-9E94-E38982EE595E}" presName="bgRect" presStyleLbl="bgShp" presStyleIdx="1" presStyleCnt="6"/>
      <dgm:spPr/>
    </dgm:pt>
    <dgm:pt modelId="{6A1C26DA-C277-46F3-969E-82366CD79C6C}" type="pres">
      <dgm:prSet presAssocID="{8DD60EA3-1071-4400-9E94-E38982EE595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re"/>
        </a:ext>
      </dgm:extLst>
    </dgm:pt>
    <dgm:pt modelId="{3E024FBF-19DF-48DD-B4F7-D2AF28D2355B}" type="pres">
      <dgm:prSet presAssocID="{8DD60EA3-1071-4400-9E94-E38982EE595E}" presName="spaceRect" presStyleCnt="0"/>
      <dgm:spPr/>
    </dgm:pt>
    <dgm:pt modelId="{2528F46E-82B7-4E81-96C5-1F4DC640E0E8}" type="pres">
      <dgm:prSet presAssocID="{8DD60EA3-1071-4400-9E94-E38982EE595E}" presName="parTx" presStyleLbl="revTx" presStyleIdx="1" presStyleCnt="6">
        <dgm:presLayoutVars>
          <dgm:chMax val="0"/>
          <dgm:chPref val="0"/>
        </dgm:presLayoutVars>
      </dgm:prSet>
      <dgm:spPr/>
    </dgm:pt>
    <dgm:pt modelId="{F3B91042-3B57-40D1-9054-1E5E0C9394B3}" type="pres">
      <dgm:prSet presAssocID="{8C51EE94-368A-4FDB-BDBF-31CF025DEFCC}" presName="sibTrans" presStyleCnt="0"/>
      <dgm:spPr/>
    </dgm:pt>
    <dgm:pt modelId="{74CC458C-9B4B-4B74-859D-D815CE45A203}" type="pres">
      <dgm:prSet presAssocID="{A82A3B4F-8137-41D5-B94C-F082E42E5AED}" presName="compNode" presStyleCnt="0"/>
      <dgm:spPr/>
    </dgm:pt>
    <dgm:pt modelId="{D5B46E6D-DA52-491D-9E9A-7838A0C8F2E0}" type="pres">
      <dgm:prSet presAssocID="{A82A3B4F-8137-41D5-B94C-F082E42E5AED}" presName="bgRect" presStyleLbl="bgShp" presStyleIdx="2" presStyleCnt="6"/>
      <dgm:spPr/>
    </dgm:pt>
    <dgm:pt modelId="{25FA3A5D-52A9-423B-9097-C8EFB16CB025}" type="pres">
      <dgm:prSet presAssocID="{A82A3B4F-8137-41D5-B94C-F082E42E5AE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Kiosk"/>
        </a:ext>
      </dgm:extLst>
    </dgm:pt>
    <dgm:pt modelId="{4461239A-5848-4021-8E27-5F48C2B74C50}" type="pres">
      <dgm:prSet presAssocID="{A82A3B4F-8137-41D5-B94C-F082E42E5AED}" presName="spaceRect" presStyleCnt="0"/>
      <dgm:spPr/>
    </dgm:pt>
    <dgm:pt modelId="{DE7E9F16-7C7B-41E9-B0FE-0716FB83950B}" type="pres">
      <dgm:prSet presAssocID="{A82A3B4F-8137-41D5-B94C-F082E42E5AED}" presName="parTx" presStyleLbl="revTx" presStyleIdx="2" presStyleCnt="6">
        <dgm:presLayoutVars>
          <dgm:chMax val="0"/>
          <dgm:chPref val="0"/>
        </dgm:presLayoutVars>
      </dgm:prSet>
      <dgm:spPr/>
    </dgm:pt>
    <dgm:pt modelId="{3877BAA6-15FE-4060-B668-74975FDE029A}" type="pres">
      <dgm:prSet presAssocID="{4B1B1D7F-7047-428B-8852-3E01EAB44BA2}" presName="sibTrans" presStyleCnt="0"/>
      <dgm:spPr/>
    </dgm:pt>
    <dgm:pt modelId="{A78EF044-1DE4-4E15-B101-43710F1EB3F0}" type="pres">
      <dgm:prSet presAssocID="{A93B6FF3-BD42-4ED9-BAF8-AD9962079584}" presName="compNode" presStyleCnt="0"/>
      <dgm:spPr/>
    </dgm:pt>
    <dgm:pt modelId="{63802C82-3E97-412D-A353-FD1AAB7DD6B3}" type="pres">
      <dgm:prSet presAssocID="{A93B6FF3-BD42-4ED9-BAF8-AD9962079584}" presName="bgRect" presStyleLbl="bgShp" presStyleIdx="3" presStyleCnt="6"/>
      <dgm:spPr/>
    </dgm:pt>
    <dgm:pt modelId="{DF9B6B3F-1444-465C-863B-E5A9D8FB74A4}" type="pres">
      <dgm:prSet presAssocID="{A93B6FF3-BD42-4ED9-BAF8-AD996207958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Graph with Upward Trend"/>
        </a:ext>
      </dgm:extLst>
    </dgm:pt>
    <dgm:pt modelId="{7E3E046C-FE82-4A3B-96FA-A1087374E095}" type="pres">
      <dgm:prSet presAssocID="{A93B6FF3-BD42-4ED9-BAF8-AD9962079584}" presName="spaceRect" presStyleCnt="0"/>
      <dgm:spPr/>
    </dgm:pt>
    <dgm:pt modelId="{AC9E08D6-D4A2-45B5-9333-96145F5689FA}" type="pres">
      <dgm:prSet presAssocID="{A93B6FF3-BD42-4ED9-BAF8-AD9962079584}" presName="parTx" presStyleLbl="revTx" presStyleIdx="3" presStyleCnt="6">
        <dgm:presLayoutVars>
          <dgm:chMax val="0"/>
          <dgm:chPref val="0"/>
        </dgm:presLayoutVars>
      </dgm:prSet>
      <dgm:spPr/>
    </dgm:pt>
    <dgm:pt modelId="{D7753E60-5DB8-4960-AE28-FA4F5784087E}" type="pres">
      <dgm:prSet presAssocID="{8427EE27-1343-46F8-B755-532C1C8441CA}" presName="sibTrans" presStyleCnt="0"/>
      <dgm:spPr/>
    </dgm:pt>
    <dgm:pt modelId="{CA4D1AB7-C3B1-4466-BDA7-6461B9F155A2}" type="pres">
      <dgm:prSet presAssocID="{726AAA5E-7BD5-460E-8057-B3591852BC14}" presName="compNode" presStyleCnt="0"/>
      <dgm:spPr/>
    </dgm:pt>
    <dgm:pt modelId="{03B05C30-5916-4375-A06C-4F96957370EF}" type="pres">
      <dgm:prSet presAssocID="{726AAA5E-7BD5-460E-8057-B3591852BC14}" presName="bgRect" presStyleLbl="bgShp" presStyleIdx="4" presStyleCnt="6"/>
      <dgm:spPr/>
    </dgm:pt>
    <dgm:pt modelId="{51484F12-66D1-4F6A-A44E-4FB59C7DF4C2}" type="pres">
      <dgm:prSet presAssocID="{726AAA5E-7BD5-460E-8057-B3591852BC1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oney"/>
        </a:ext>
      </dgm:extLst>
    </dgm:pt>
    <dgm:pt modelId="{0B25516D-E8B8-4E0F-BB2A-B4E7FDD037EA}" type="pres">
      <dgm:prSet presAssocID="{726AAA5E-7BD5-460E-8057-B3591852BC14}" presName="spaceRect" presStyleCnt="0"/>
      <dgm:spPr/>
    </dgm:pt>
    <dgm:pt modelId="{D69DD339-A8CD-4366-9128-5D3316D56A2E}" type="pres">
      <dgm:prSet presAssocID="{726AAA5E-7BD5-460E-8057-B3591852BC14}" presName="parTx" presStyleLbl="revTx" presStyleIdx="4" presStyleCnt="6">
        <dgm:presLayoutVars>
          <dgm:chMax val="0"/>
          <dgm:chPref val="0"/>
        </dgm:presLayoutVars>
      </dgm:prSet>
      <dgm:spPr/>
    </dgm:pt>
    <dgm:pt modelId="{0BE6E929-BF59-41F1-9010-1AD239A9D9A5}" type="pres">
      <dgm:prSet presAssocID="{79CCC9BE-3FCF-4499-8CD3-73C39BB015CE}" presName="sibTrans" presStyleCnt="0"/>
      <dgm:spPr/>
    </dgm:pt>
    <dgm:pt modelId="{F7267E7C-6854-4F18-9655-57A447D9899A}" type="pres">
      <dgm:prSet presAssocID="{6E35A9A0-C18F-4A01-944F-3D33F16AC201}" presName="compNode" presStyleCnt="0"/>
      <dgm:spPr/>
    </dgm:pt>
    <dgm:pt modelId="{EBFBCC6B-E13B-4FB5-A031-5EB08D455D7E}" type="pres">
      <dgm:prSet presAssocID="{6E35A9A0-C18F-4A01-944F-3D33F16AC201}" presName="bgRect" presStyleLbl="bgShp" presStyleIdx="5" presStyleCnt="6"/>
      <dgm:spPr/>
    </dgm:pt>
    <dgm:pt modelId="{198AF44D-66F1-4A76-B5A8-B615B063E02B}" type="pres">
      <dgm:prSet presAssocID="{6E35A9A0-C18F-4A01-944F-3D33F16AC20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ity"/>
        </a:ext>
      </dgm:extLst>
    </dgm:pt>
    <dgm:pt modelId="{E4192FF4-84F6-4A6A-A569-586020F2361C}" type="pres">
      <dgm:prSet presAssocID="{6E35A9A0-C18F-4A01-944F-3D33F16AC201}" presName="spaceRect" presStyleCnt="0"/>
      <dgm:spPr/>
    </dgm:pt>
    <dgm:pt modelId="{31959E88-9E6D-4746-BA7B-ED0DF057288B}" type="pres">
      <dgm:prSet presAssocID="{6E35A9A0-C18F-4A01-944F-3D33F16AC201}" presName="parTx" presStyleLbl="revTx" presStyleIdx="5" presStyleCnt="6">
        <dgm:presLayoutVars>
          <dgm:chMax val="0"/>
          <dgm:chPref val="0"/>
        </dgm:presLayoutVars>
      </dgm:prSet>
      <dgm:spPr/>
    </dgm:pt>
  </dgm:ptLst>
  <dgm:cxnLst>
    <dgm:cxn modelId="{F0D2A73C-7826-4F0D-A432-67D47C022F72}" type="presOf" srcId="{28463CD9-8695-4193-817A-6385FC61378A}" destId="{AC1257B7-CEC6-4A5E-A6F4-E4B6FF5F018F}" srcOrd="0" destOrd="0" presId="urn:microsoft.com/office/officeart/2018/2/layout/IconVerticalSolidList"/>
    <dgm:cxn modelId="{E9E4C344-3761-49E4-B21E-0B23473339B2}" type="presOf" srcId="{726AAA5E-7BD5-460E-8057-B3591852BC14}" destId="{D69DD339-A8CD-4366-9128-5D3316D56A2E}" srcOrd="0" destOrd="0" presId="urn:microsoft.com/office/officeart/2018/2/layout/IconVerticalSolidList"/>
    <dgm:cxn modelId="{D227CB65-188A-457E-AF0A-1533CBB73D13}" type="presOf" srcId="{6E35A9A0-C18F-4A01-944F-3D33F16AC201}" destId="{31959E88-9E6D-4746-BA7B-ED0DF057288B}" srcOrd="0" destOrd="0" presId="urn:microsoft.com/office/officeart/2018/2/layout/IconVerticalSolidList"/>
    <dgm:cxn modelId="{85EB0351-98BE-49D4-8358-C488A1681CB8}" srcId="{28463CD9-8695-4193-817A-6385FC61378A}" destId="{8DD60EA3-1071-4400-9E94-E38982EE595E}" srcOrd="1" destOrd="0" parTransId="{471EA522-3FAF-4F60-B2B2-C543EB5D7360}" sibTransId="{8C51EE94-368A-4FDB-BDBF-31CF025DEFCC}"/>
    <dgm:cxn modelId="{5A0CDE57-55B8-4775-8320-66653FE585B5}" srcId="{28463CD9-8695-4193-817A-6385FC61378A}" destId="{A93B6FF3-BD42-4ED9-BAF8-AD9962079584}" srcOrd="3" destOrd="0" parTransId="{8BCFF718-C7CE-4E23-BE5D-F4EE3FEA092A}" sibTransId="{8427EE27-1343-46F8-B755-532C1C8441CA}"/>
    <dgm:cxn modelId="{66A3BA79-3A84-4D1A-BDBC-9E96650FAAB2}" srcId="{28463CD9-8695-4193-817A-6385FC61378A}" destId="{14D719E8-4D01-46EF-A2AF-7CF576DD7E6F}" srcOrd="0" destOrd="0" parTransId="{B0B4233D-7F02-4C7A-9F24-F8A17FE9FC32}" sibTransId="{72B9A002-DAF6-4521-B856-0722942AB8FD}"/>
    <dgm:cxn modelId="{4D2B9B82-3034-49D6-9A5C-933E7D70D8DA}" type="presOf" srcId="{14D719E8-4D01-46EF-A2AF-7CF576DD7E6F}" destId="{D269BAD3-109F-44D5-8F01-CC4C763253C3}" srcOrd="0" destOrd="0" presId="urn:microsoft.com/office/officeart/2018/2/layout/IconVerticalSolidList"/>
    <dgm:cxn modelId="{8B131391-FD41-4116-890E-D6564BC0CA57}" type="presOf" srcId="{A93B6FF3-BD42-4ED9-BAF8-AD9962079584}" destId="{AC9E08D6-D4A2-45B5-9333-96145F5689FA}" srcOrd="0" destOrd="0" presId="urn:microsoft.com/office/officeart/2018/2/layout/IconVerticalSolidList"/>
    <dgm:cxn modelId="{39D1D09E-2A1D-46C1-822E-E2075E5D122E}" srcId="{28463CD9-8695-4193-817A-6385FC61378A}" destId="{6E35A9A0-C18F-4A01-944F-3D33F16AC201}" srcOrd="5" destOrd="0" parTransId="{362EB3DE-8D7D-4E04-9552-F0E0E6D8CBDD}" sibTransId="{14DF3EB7-A750-45E8-A0E8-8865704519F1}"/>
    <dgm:cxn modelId="{E8D597A0-733C-4376-BAE7-997930D3233E}" srcId="{28463CD9-8695-4193-817A-6385FC61378A}" destId="{A82A3B4F-8137-41D5-B94C-F082E42E5AED}" srcOrd="2" destOrd="0" parTransId="{4175C68A-4C80-47AB-B908-7C64FC1787E7}" sibTransId="{4B1B1D7F-7047-428B-8852-3E01EAB44BA2}"/>
    <dgm:cxn modelId="{360515AB-36F9-490D-8395-9072B5FBD74A}" type="presOf" srcId="{A82A3B4F-8137-41D5-B94C-F082E42E5AED}" destId="{DE7E9F16-7C7B-41E9-B0FE-0716FB83950B}" srcOrd="0" destOrd="0" presId="urn:microsoft.com/office/officeart/2018/2/layout/IconVerticalSolidList"/>
    <dgm:cxn modelId="{4FFCCDD2-9259-4261-AB24-9972BA557E23}" type="presOf" srcId="{8DD60EA3-1071-4400-9E94-E38982EE595E}" destId="{2528F46E-82B7-4E81-96C5-1F4DC640E0E8}" srcOrd="0" destOrd="0" presId="urn:microsoft.com/office/officeart/2018/2/layout/IconVerticalSolidList"/>
    <dgm:cxn modelId="{A164F1F0-BEFD-44A9-BC86-556B9C724321}" srcId="{28463CD9-8695-4193-817A-6385FC61378A}" destId="{726AAA5E-7BD5-460E-8057-B3591852BC14}" srcOrd="4" destOrd="0" parTransId="{604C2F36-EAAD-44A1-A3AF-F8057878E06E}" sibTransId="{79CCC9BE-3FCF-4499-8CD3-73C39BB015CE}"/>
    <dgm:cxn modelId="{4D4CFFD2-93E5-46B3-9BA9-C9B42A90AF08}" type="presParOf" srcId="{AC1257B7-CEC6-4A5E-A6F4-E4B6FF5F018F}" destId="{2CDE5272-9F45-4CAF-9EA6-95F97CE3B01A}" srcOrd="0" destOrd="0" presId="urn:microsoft.com/office/officeart/2018/2/layout/IconVerticalSolidList"/>
    <dgm:cxn modelId="{68F2A49F-9F90-4B0D-B727-E8B651837ABB}" type="presParOf" srcId="{2CDE5272-9F45-4CAF-9EA6-95F97CE3B01A}" destId="{8CE66C8E-1F50-492A-B884-B1BC4C2346E5}" srcOrd="0" destOrd="0" presId="urn:microsoft.com/office/officeart/2018/2/layout/IconVerticalSolidList"/>
    <dgm:cxn modelId="{83242373-B485-4C49-A9E7-1379B160DEA8}" type="presParOf" srcId="{2CDE5272-9F45-4CAF-9EA6-95F97CE3B01A}" destId="{61C4E7D4-0F8E-433B-91DD-303B1D5406B1}" srcOrd="1" destOrd="0" presId="urn:microsoft.com/office/officeart/2018/2/layout/IconVerticalSolidList"/>
    <dgm:cxn modelId="{65D45CDB-13E5-4009-A5AE-765CC34B2709}" type="presParOf" srcId="{2CDE5272-9F45-4CAF-9EA6-95F97CE3B01A}" destId="{DFF8CA5C-26FB-4C7A-BC67-9545DF3573A3}" srcOrd="2" destOrd="0" presId="urn:microsoft.com/office/officeart/2018/2/layout/IconVerticalSolidList"/>
    <dgm:cxn modelId="{CAC8E651-DA06-4680-ACFF-6740265F1FC6}" type="presParOf" srcId="{2CDE5272-9F45-4CAF-9EA6-95F97CE3B01A}" destId="{D269BAD3-109F-44D5-8F01-CC4C763253C3}" srcOrd="3" destOrd="0" presId="urn:microsoft.com/office/officeart/2018/2/layout/IconVerticalSolidList"/>
    <dgm:cxn modelId="{990C806E-4F58-4AC7-B7D1-AC0F9E19D734}" type="presParOf" srcId="{AC1257B7-CEC6-4A5E-A6F4-E4B6FF5F018F}" destId="{12DC173F-AB09-4950-AD49-3A0E9B9ED823}" srcOrd="1" destOrd="0" presId="urn:microsoft.com/office/officeart/2018/2/layout/IconVerticalSolidList"/>
    <dgm:cxn modelId="{F9BCCCD1-3BBA-4AA7-8A21-AD417A03B0E9}" type="presParOf" srcId="{AC1257B7-CEC6-4A5E-A6F4-E4B6FF5F018F}" destId="{A1AB0AD4-EB22-409D-9544-6A557034E557}" srcOrd="2" destOrd="0" presId="urn:microsoft.com/office/officeart/2018/2/layout/IconVerticalSolidList"/>
    <dgm:cxn modelId="{78C47F45-C2EE-4519-9D85-B5118AE66984}" type="presParOf" srcId="{A1AB0AD4-EB22-409D-9544-6A557034E557}" destId="{74646BB6-212B-4678-BCFF-0986033C395D}" srcOrd="0" destOrd="0" presId="urn:microsoft.com/office/officeart/2018/2/layout/IconVerticalSolidList"/>
    <dgm:cxn modelId="{B44D310E-BC1C-457F-93FD-B3029CC21396}" type="presParOf" srcId="{A1AB0AD4-EB22-409D-9544-6A557034E557}" destId="{6A1C26DA-C277-46F3-969E-82366CD79C6C}" srcOrd="1" destOrd="0" presId="urn:microsoft.com/office/officeart/2018/2/layout/IconVerticalSolidList"/>
    <dgm:cxn modelId="{243C32AF-5F5A-4FA6-A569-9112E92C2720}" type="presParOf" srcId="{A1AB0AD4-EB22-409D-9544-6A557034E557}" destId="{3E024FBF-19DF-48DD-B4F7-D2AF28D2355B}" srcOrd="2" destOrd="0" presId="urn:microsoft.com/office/officeart/2018/2/layout/IconVerticalSolidList"/>
    <dgm:cxn modelId="{A0209A98-B197-4377-8398-D09B88A097E0}" type="presParOf" srcId="{A1AB0AD4-EB22-409D-9544-6A557034E557}" destId="{2528F46E-82B7-4E81-96C5-1F4DC640E0E8}" srcOrd="3" destOrd="0" presId="urn:microsoft.com/office/officeart/2018/2/layout/IconVerticalSolidList"/>
    <dgm:cxn modelId="{0ED2021A-E046-4C7E-A40C-69D71E5E3D54}" type="presParOf" srcId="{AC1257B7-CEC6-4A5E-A6F4-E4B6FF5F018F}" destId="{F3B91042-3B57-40D1-9054-1E5E0C9394B3}" srcOrd="3" destOrd="0" presId="urn:microsoft.com/office/officeart/2018/2/layout/IconVerticalSolidList"/>
    <dgm:cxn modelId="{92EE56F0-CAB0-4D73-AE77-C1197A24B258}" type="presParOf" srcId="{AC1257B7-CEC6-4A5E-A6F4-E4B6FF5F018F}" destId="{74CC458C-9B4B-4B74-859D-D815CE45A203}" srcOrd="4" destOrd="0" presId="urn:microsoft.com/office/officeart/2018/2/layout/IconVerticalSolidList"/>
    <dgm:cxn modelId="{7CFCACFB-ECD5-42BF-8DA4-8E1B6E22C00E}" type="presParOf" srcId="{74CC458C-9B4B-4B74-859D-D815CE45A203}" destId="{D5B46E6D-DA52-491D-9E9A-7838A0C8F2E0}" srcOrd="0" destOrd="0" presId="urn:microsoft.com/office/officeart/2018/2/layout/IconVerticalSolidList"/>
    <dgm:cxn modelId="{DCD506E2-5195-42F9-9940-60D6AA4C7049}" type="presParOf" srcId="{74CC458C-9B4B-4B74-859D-D815CE45A203}" destId="{25FA3A5D-52A9-423B-9097-C8EFB16CB025}" srcOrd="1" destOrd="0" presId="urn:microsoft.com/office/officeart/2018/2/layout/IconVerticalSolidList"/>
    <dgm:cxn modelId="{30F2BFDE-0CF6-4C35-8F61-E0A684DE328A}" type="presParOf" srcId="{74CC458C-9B4B-4B74-859D-D815CE45A203}" destId="{4461239A-5848-4021-8E27-5F48C2B74C50}" srcOrd="2" destOrd="0" presId="urn:microsoft.com/office/officeart/2018/2/layout/IconVerticalSolidList"/>
    <dgm:cxn modelId="{7F137257-575A-4F59-A263-F65DA8DF1942}" type="presParOf" srcId="{74CC458C-9B4B-4B74-859D-D815CE45A203}" destId="{DE7E9F16-7C7B-41E9-B0FE-0716FB83950B}" srcOrd="3" destOrd="0" presId="urn:microsoft.com/office/officeart/2018/2/layout/IconVerticalSolidList"/>
    <dgm:cxn modelId="{B12420A8-8C25-4246-AA9F-895ACC91D0DA}" type="presParOf" srcId="{AC1257B7-CEC6-4A5E-A6F4-E4B6FF5F018F}" destId="{3877BAA6-15FE-4060-B668-74975FDE029A}" srcOrd="5" destOrd="0" presId="urn:microsoft.com/office/officeart/2018/2/layout/IconVerticalSolidList"/>
    <dgm:cxn modelId="{26089005-45F1-4865-B535-F2E1ED6A9261}" type="presParOf" srcId="{AC1257B7-CEC6-4A5E-A6F4-E4B6FF5F018F}" destId="{A78EF044-1DE4-4E15-B101-43710F1EB3F0}" srcOrd="6" destOrd="0" presId="urn:microsoft.com/office/officeart/2018/2/layout/IconVerticalSolidList"/>
    <dgm:cxn modelId="{21E0985E-7800-470E-8820-5E2445EED6DD}" type="presParOf" srcId="{A78EF044-1DE4-4E15-B101-43710F1EB3F0}" destId="{63802C82-3E97-412D-A353-FD1AAB7DD6B3}" srcOrd="0" destOrd="0" presId="urn:microsoft.com/office/officeart/2018/2/layout/IconVerticalSolidList"/>
    <dgm:cxn modelId="{1144ED16-DBE9-4885-8751-9B332D0583F6}" type="presParOf" srcId="{A78EF044-1DE4-4E15-B101-43710F1EB3F0}" destId="{DF9B6B3F-1444-465C-863B-E5A9D8FB74A4}" srcOrd="1" destOrd="0" presId="urn:microsoft.com/office/officeart/2018/2/layout/IconVerticalSolidList"/>
    <dgm:cxn modelId="{534B69CA-B168-4449-B775-2CA7DD06B609}" type="presParOf" srcId="{A78EF044-1DE4-4E15-B101-43710F1EB3F0}" destId="{7E3E046C-FE82-4A3B-96FA-A1087374E095}" srcOrd="2" destOrd="0" presId="urn:microsoft.com/office/officeart/2018/2/layout/IconVerticalSolidList"/>
    <dgm:cxn modelId="{9C90AB06-0F12-46CF-AD2D-BF017B26621C}" type="presParOf" srcId="{A78EF044-1DE4-4E15-B101-43710F1EB3F0}" destId="{AC9E08D6-D4A2-45B5-9333-96145F5689FA}" srcOrd="3" destOrd="0" presId="urn:microsoft.com/office/officeart/2018/2/layout/IconVerticalSolidList"/>
    <dgm:cxn modelId="{12CCD682-DDFA-44AE-9F41-03288CB5CEB6}" type="presParOf" srcId="{AC1257B7-CEC6-4A5E-A6F4-E4B6FF5F018F}" destId="{D7753E60-5DB8-4960-AE28-FA4F5784087E}" srcOrd="7" destOrd="0" presId="urn:microsoft.com/office/officeart/2018/2/layout/IconVerticalSolidList"/>
    <dgm:cxn modelId="{06CADE7F-1020-40C6-B430-C861F5C2673F}" type="presParOf" srcId="{AC1257B7-CEC6-4A5E-A6F4-E4B6FF5F018F}" destId="{CA4D1AB7-C3B1-4466-BDA7-6461B9F155A2}" srcOrd="8" destOrd="0" presId="urn:microsoft.com/office/officeart/2018/2/layout/IconVerticalSolidList"/>
    <dgm:cxn modelId="{9F098E61-A67B-4868-B1F6-BD989B13261C}" type="presParOf" srcId="{CA4D1AB7-C3B1-4466-BDA7-6461B9F155A2}" destId="{03B05C30-5916-4375-A06C-4F96957370EF}" srcOrd="0" destOrd="0" presId="urn:microsoft.com/office/officeart/2018/2/layout/IconVerticalSolidList"/>
    <dgm:cxn modelId="{B717D321-8A7A-42CE-B545-A07E618B7441}" type="presParOf" srcId="{CA4D1AB7-C3B1-4466-BDA7-6461B9F155A2}" destId="{51484F12-66D1-4F6A-A44E-4FB59C7DF4C2}" srcOrd="1" destOrd="0" presId="urn:microsoft.com/office/officeart/2018/2/layout/IconVerticalSolidList"/>
    <dgm:cxn modelId="{E5A4391E-BB6C-4819-8932-71471556DBF9}" type="presParOf" srcId="{CA4D1AB7-C3B1-4466-BDA7-6461B9F155A2}" destId="{0B25516D-E8B8-4E0F-BB2A-B4E7FDD037EA}" srcOrd="2" destOrd="0" presId="urn:microsoft.com/office/officeart/2018/2/layout/IconVerticalSolidList"/>
    <dgm:cxn modelId="{2E2139B7-333B-4200-8850-EBBFD1651230}" type="presParOf" srcId="{CA4D1AB7-C3B1-4466-BDA7-6461B9F155A2}" destId="{D69DD339-A8CD-4366-9128-5D3316D56A2E}" srcOrd="3" destOrd="0" presId="urn:microsoft.com/office/officeart/2018/2/layout/IconVerticalSolidList"/>
    <dgm:cxn modelId="{8BABE6BD-7E66-47DE-8957-F122253D64CD}" type="presParOf" srcId="{AC1257B7-CEC6-4A5E-A6F4-E4B6FF5F018F}" destId="{0BE6E929-BF59-41F1-9010-1AD239A9D9A5}" srcOrd="9" destOrd="0" presId="urn:microsoft.com/office/officeart/2018/2/layout/IconVerticalSolidList"/>
    <dgm:cxn modelId="{A3A84357-6219-4E8E-B6F4-E32747CCE8F2}" type="presParOf" srcId="{AC1257B7-CEC6-4A5E-A6F4-E4B6FF5F018F}" destId="{F7267E7C-6854-4F18-9655-57A447D9899A}" srcOrd="10" destOrd="0" presId="urn:microsoft.com/office/officeart/2018/2/layout/IconVerticalSolidList"/>
    <dgm:cxn modelId="{05EA2E6B-212B-41C0-AF86-68C9664B94C1}" type="presParOf" srcId="{F7267E7C-6854-4F18-9655-57A447D9899A}" destId="{EBFBCC6B-E13B-4FB5-A031-5EB08D455D7E}" srcOrd="0" destOrd="0" presId="urn:microsoft.com/office/officeart/2018/2/layout/IconVerticalSolidList"/>
    <dgm:cxn modelId="{9C595199-DB47-46F1-A1AF-021A33EBB2FF}" type="presParOf" srcId="{F7267E7C-6854-4F18-9655-57A447D9899A}" destId="{198AF44D-66F1-4A76-B5A8-B615B063E02B}" srcOrd="1" destOrd="0" presId="urn:microsoft.com/office/officeart/2018/2/layout/IconVerticalSolidList"/>
    <dgm:cxn modelId="{C5072DA2-2294-4FC4-9800-B062E3CFAE02}" type="presParOf" srcId="{F7267E7C-6854-4F18-9655-57A447D9899A}" destId="{E4192FF4-84F6-4A6A-A569-586020F2361C}" srcOrd="2" destOrd="0" presId="urn:microsoft.com/office/officeart/2018/2/layout/IconVerticalSolidList"/>
    <dgm:cxn modelId="{47AD4C18-26D1-4F7E-AF9E-A9367408507E}" type="presParOf" srcId="{F7267E7C-6854-4F18-9655-57A447D9899A}" destId="{31959E88-9E6D-4746-BA7B-ED0DF057288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3E65A-1110-40B5-8BB0-E62E345FBA00}">
      <dsp:nvSpPr>
        <dsp:cNvPr id="0" name=""/>
        <dsp:cNvSpPr/>
      </dsp:nvSpPr>
      <dsp:spPr>
        <a:xfrm>
          <a:off x="293847" y="504539"/>
          <a:ext cx="723301" cy="72330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3C993E-60FF-46AE-B350-8DFDD7F88195}">
      <dsp:nvSpPr>
        <dsp:cNvPr id="0" name=""/>
        <dsp:cNvSpPr/>
      </dsp:nvSpPr>
      <dsp:spPr>
        <a:xfrm>
          <a:off x="445740" y="656433"/>
          <a:ext cx="419514" cy="4195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1E625F-0AD1-4FB3-9D2E-4A1A7E6C3D5C}">
      <dsp:nvSpPr>
        <dsp:cNvPr id="0" name=""/>
        <dsp:cNvSpPr/>
      </dsp:nvSpPr>
      <dsp:spPr>
        <a:xfrm>
          <a:off x="1172141" y="504539"/>
          <a:ext cx="1704923" cy="723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i="0" kern="1200" baseline="0" dirty="0"/>
            <a:t>Total Revenue</a:t>
          </a:r>
          <a:r>
            <a:rPr lang="en-US" sz="1200" b="0" i="0" kern="1200" baseline="0" dirty="0"/>
            <a:t>: The total income generated from all product sales.</a:t>
          </a:r>
          <a:endParaRPr lang="en-US" sz="1200" kern="1200" dirty="0"/>
        </a:p>
      </dsp:txBody>
      <dsp:txXfrm>
        <a:off x="1172141" y="504539"/>
        <a:ext cx="1704923" cy="723301"/>
      </dsp:txXfrm>
    </dsp:sp>
    <dsp:sp modelId="{6D7F4693-24D3-4093-8654-57A5755419C0}">
      <dsp:nvSpPr>
        <dsp:cNvPr id="0" name=""/>
        <dsp:cNvSpPr/>
      </dsp:nvSpPr>
      <dsp:spPr>
        <a:xfrm>
          <a:off x="3174135" y="504539"/>
          <a:ext cx="723301" cy="72330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2D049A-1A6F-4BDA-B096-74346F27AAD6}">
      <dsp:nvSpPr>
        <dsp:cNvPr id="0" name=""/>
        <dsp:cNvSpPr/>
      </dsp:nvSpPr>
      <dsp:spPr>
        <a:xfrm>
          <a:off x="3326028" y="656433"/>
          <a:ext cx="419514" cy="4195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532A04-4A80-4C5E-8A5B-25E0E4EB5786}">
      <dsp:nvSpPr>
        <dsp:cNvPr id="0" name=""/>
        <dsp:cNvSpPr/>
      </dsp:nvSpPr>
      <dsp:spPr>
        <a:xfrm>
          <a:off x="4052429" y="504539"/>
          <a:ext cx="1704923" cy="723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i="0" kern="1200" baseline="0" dirty="0"/>
            <a:t>Total Profit</a:t>
          </a:r>
          <a:r>
            <a:rPr lang="en-US" sz="1200" b="0" i="0" kern="1200" baseline="0" dirty="0"/>
            <a:t>: The overall earnings after subtracting product costs from revenue.</a:t>
          </a:r>
          <a:endParaRPr lang="en-US" sz="1200" kern="1200" dirty="0"/>
        </a:p>
      </dsp:txBody>
      <dsp:txXfrm>
        <a:off x="4052429" y="504539"/>
        <a:ext cx="1704923" cy="723301"/>
      </dsp:txXfrm>
    </dsp:sp>
    <dsp:sp modelId="{7960E201-454B-4C2E-90BE-44D795408786}">
      <dsp:nvSpPr>
        <dsp:cNvPr id="0" name=""/>
        <dsp:cNvSpPr/>
      </dsp:nvSpPr>
      <dsp:spPr>
        <a:xfrm>
          <a:off x="6054423" y="504539"/>
          <a:ext cx="723301" cy="72330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C087DE-A63A-4335-865D-E940BFAE56A0}">
      <dsp:nvSpPr>
        <dsp:cNvPr id="0" name=""/>
        <dsp:cNvSpPr/>
      </dsp:nvSpPr>
      <dsp:spPr>
        <a:xfrm>
          <a:off x="6206316" y="656433"/>
          <a:ext cx="419514" cy="4195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269A09-77E4-47BC-9ACA-02A0B75E0D08}">
      <dsp:nvSpPr>
        <dsp:cNvPr id="0" name=""/>
        <dsp:cNvSpPr/>
      </dsp:nvSpPr>
      <dsp:spPr>
        <a:xfrm>
          <a:off x="6932717" y="504539"/>
          <a:ext cx="1704923" cy="723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i="0" kern="1200" baseline="0" dirty="0"/>
            <a:t>Total Sales (Count)</a:t>
          </a:r>
          <a:r>
            <a:rPr lang="en-US" sz="1200" b="0" i="0" kern="1200" baseline="0" dirty="0"/>
            <a:t>: The total number of sales transactions or units sold.</a:t>
          </a:r>
          <a:endParaRPr lang="en-US" sz="1200" kern="1200" dirty="0"/>
        </a:p>
      </dsp:txBody>
      <dsp:txXfrm>
        <a:off x="6932717" y="504539"/>
        <a:ext cx="1704923" cy="723301"/>
      </dsp:txXfrm>
    </dsp:sp>
    <dsp:sp modelId="{F5E05FC1-11DF-4D93-B570-0452E03DEE41}">
      <dsp:nvSpPr>
        <dsp:cNvPr id="0" name=""/>
        <dsp:cNvSpPr/>
      </dsp:nvSpPr>
      <dsp:spPr>
        <a:xfrm>
          <a:off x="293847" y="1730812"/>
          <a:ext cx="723301" cy="72330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13B6D-AF04-4F39-BD59-488209947D4A}">
      <dsp:nvSpPr>
        <dsp:cNvPr id="0" name=""/>
        <dsp:cNvSpPr/>
      </dsp:nvSpPr>
      <dsp:spPr>
        <a:xfrm>
          <a:off x="445740" y="1882705"/>
          <a:ext cx="419514" cy="4195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5EC08B-ED6D-4F94-838B-3F26632E18EF}">
      <dsp:nvSpPr>
        <dsp:cNvPr id="0" name=""/>
        <dsp:cNvSpPr/>
      </dsp:nvSpPr>
      <dsp:spPr>
        <a:xfrm>
          <a:off x="1130592" y="1936272"/>
          <a:ext cx="1704923" cy="723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i="0" kern="1200" baseline="0" dirty="0"/>
            <a:t>Average Profit per Unit</a:t>
          </a:r>
          <a:r>
            <a:rPr lang="en-US" sz="1200" b="0" i="0" kern="1200" baseline="0" dirty="0"/>
            <a:t>: The average amount of profit earned on each unit sold.</a:t>
          </a:r>
          <a:endParaRPr lang="en-US" sz="1200" kern="1200" dirty="0"/>
        </a:p>
      </dsp:txBody>
      <dsp:txXfrm>
        <a:off x="1130592" y="1936272"/>
        <a:ext cx="1704923" cy="723301"/>
      </dsp:txXfrm>
    </dsp:sp>
    <dsp:sp modelId="{BACEF2D7-2573-41AA-8E85-8694A11EB4D4}">
      <dsp:nvSpPr>
        <dsp:cNvPr id="0" name=""/>
        <dsp:cNvSpPr/>
      </dsp:nvSpPr>
      <dsp:spPr>
        <a:xfrm>
          <a:off x="3174135" y="1730812"/>
          <a:ext cx="723301" cy="72330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F18330-6ABC-4EBF-A7FB-6CD1D4CA8679}">
      <dsp:nvSpPr>
        <dsp:cNvPr id="0" name=""/>
        <dsp:cNvSpPr/>
      </dsp:nvSpPr>
      <dsp:spPr>
        <a:xfrm>
          <a:off x="3326028" y="1882705"/>
          <a:ext cx="419514" cy="4195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AFD42F-07D4-4852-B346-95B6DEB1FF82}">
      <dsp:nvSpPr>
        <dsp:cNvPr id="0" name=""/>
        <dsp:cNvSpPr/>
      </dsp:nvSpPr>
      <dsp:spPr>
        <a:xfrm>
          <a:off x="4036181" y="1921712"/>
          <a:ext cx="1704923" cy="723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i="0" kern="1200" baseline="0" dirty="0"/>
            <a:t>Product Count</a:t>
          </a:r>
          <a:r>
            <a:rPr lang="en-US" sz="1200" b="0" i="0" kern="1200" baseline="0" dirty="0"/>
            <a:t>: The number of distinct products sold by the store.</a:t>
          </a:r>
          <a:endParaRPr lang="en-US" sz="1200" kern="1200" dirty="0"/>
        </a:p>
      </dsp:txBody>
      <dsp:txXfrm>
        <a:off x="4036181" y="1921712"/>
        <a:ext cx="1704923" cy="723301"/>
      </dsp:txXfrm>
    </dsp:sp>
    <dsp:sp modelId="{CEA5E010-6F4D-470E-BDA6-48053131B2C2}">
      <dsp:nvSpPr>
        <dsp:cNvPr id="0" name=""/>
        <dsp:cNvSpPr/>
      </dsp:nvSpPr>
      <dsp:spPr>
        <a:xfrm>
          <a:off x="6054423" y="1730812"/>
          <a:ext cx="723301" cy="72330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7C4862-7281-4176-9693-867FF9611F42}">
      <dsp:nvSpPr>
        <dsp:cNvPr id="0" name=""/>
        <dsp:cNvSpPr/>
      </dsp:nvSpPr>
      <dsp:spPr>
        <a:xfrm>
          <a:off x="6206316" y="1882705"/>
          <a:ext cx="419514" cy="41951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A5F26D-E67C-494D-BCB9-0EBCFC72E576}">
      <dsp:nvSpPr>
        <dsp:cNvPr id="0" name=""/>
        <dsp:cNvSpPr/>
      </dsp:nvSpPr>
      <dsp:spPr>
        <a:xfrm>
          <a:off x="6932717" y="1730812"/>
          <a:ext cx="1704923" cy="723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i="0" kern="1200" baseline="0" dirty="0"/>
            <a:t>Total Products Sold</a:t>
          </a:r>
          <a:r>
            <a:rPr lang="en-US" sz="1200" b="0" i="0" kern="1200" baseline="0" dirty="0"/>
            <a:t>: The sum of all units sold across all products.</a:t>
          </a:r>
          <a:endParaRPr lang="en-US" sz="1200" kern="1200" dirty="0"/>
        </a:p>
      </dsp:txBody>
      <dsp:txXfrm>
        <a:off x="6932717" y="1730812"/>
        <a:ext cx="1704923" cy="7233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5BB278-CF7A-4616-B7EB-6B2401F6B9B4}">
      <dsp:nvSpPr>
        <dsp:cNvPr id="0" name=""/>
        <dsp:cNvSpPr/>
      </dsp:nvSpPr>
      <dsp:spPr>
        <a:xfrm>
          <a:off x="0" y="165473"/>
          <a:ext cx="9154951" cy="8143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baseline="0" dirty="0"/>
            <a:t>Which products and categories drive the highest sales? </a:t>
          </a:r>
          <a:endParaRPr lang="en-US" sz="2400" kern="1200" dirty="0"/>
        </a:p>
      </dsp:txBody>
      <dsp:txXfrm>
        <a:off x="39752" y="205225"/>
        <a:ext cx="9075447" cy="734815"/>
      </dsp:txXfrm>
    </dsp:sp>
    <dsp:sp modelId="{0608BB80-785A-4AFA-AD94-49B029944B5A}">
      <dsp:nvSpPr>
        <dsp:cNvPr id="0" name=""/>
        <dsp:cNvSpPr/>
      </dsp:nvSpPr>
      <dsp:spPr>
        <a:xfrm>
          <a:off x="0" y="1048913"/>
          <a:ext cx="9154951" cy="8143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baseline="0" dirty="0"/>
            <a:t>Which products and categories drive the lowest sales? </a:t>
          </a:r>
          <a:endParaRPr lang="en-US" sz="2400" kern="1200" dirty="0"/>
        </a:p>
      </dsp:txBody>
      <dsp:txXfrm>
        <a:off x="39752" y="1088665"/>
        <a:ext cx="9075447" cy="734815"/>
      </dsp:txXfrm>
    </dsp:sp>
    <dsp:sp modelId="{A17BA178-5CC2-4514-8748-5B8D2EDED6DD}">
      <dsp:nvSpPr>
        <dsp:cNvPr id="0" name=""/>
        <dsp:cNvSpPr/>
      </dsp:nvSpPr>
      <dsp:spPr>
        <a:xfrm>
          <a:off x="0" y="1932353"/>
          <a:ext cx="9154951" cy="8143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baseline="0" dirty="0"/>
            <a:t>Which Product Categories drive the Most and Least sales?</a:t>
          </a:r>
          <a:endParaRPr lang="en-US" sz="2400" kern="1200" dirty="0"/>
        </a:p>
      </dsp:txBody>
      <dsp:txXfrm>
        <a:off x="39752" y="1972105"/>
        <a:ext cx="9075447" cy="734815"/>
      </dsp:txXfrm>
    </dsp:sp>
    <dsp:sp modelId="{9DCB27B5-CB45-4809-BD17-AFF633C4366F}">
      <dsp:nvSpPr>
        <dsp:cNvPr id="0" name=""/>
        <dsp:cNvSpPr/>
      </dsp:nvSpPr>
      <dsp:spPr>
        <a:xfrm>
          <a:off x="0" y="2815793"/>
          <a:ext cx="9154951" cy="8143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baseline="0" dirty="0"/>
            <a:t>Which products generate the most profit? </a:t>
          </a:r>
          <a:endParaRPr lang="en-US" sz="2400" kern="1200" dirty="0"/>
        </a:p>
      </dsp:txBody>
      <dsp:txXfrm>
        <a:off x="39752" y="2855545"/>
        <a:ext cx="9075447" cy="734815"/>
      </dsp:txXfrm>
    </dsp:sp>
    <dsp:sp modelId="{649B4996-A7C4-48C9-9D9F-893CA128338F}">
      <dsp:nvSpPr>
        <dsp:cNvPr id="0" name=""/>
        <dsp:cNvSpPr/>
      </dsp:nvSpPr>
      <dsp:spPr>
        <a:xfrm>
          <a:off x="0" y="3699233"/>
          <a:ext cx="9154951" cy="8143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baseline="0" dirty="0"/>
            <a:t>Which products generate the least profit? </a:t>
          </a:r>
          <a:endParaRPr lang="en-US" sz="2400" kern="1200" dirty="0"/>
        </a:p>
      </dsp:txBody>
      <dsp:txXfrm>
        <a:off x="39752" y="3738985"/>
        <a:ext cx="9075447" cy="734815"/>
      </dsp:txXfrm>
    </dsp:sp>
    <dsp:sp modelId="{4C5C12CD-B67A-4C4B-B979-F03B47AB5368}">
      <dsp:nvSpPr>
        <dsp:cNvPr id="0" name=""/>
        <dsp:cNvSpPr/>
      </dsp:nvSpPr>
      <dsp:spPr>
        <a:xfrm>
          <a:off x="0" y="4582673"/>
          <a:ext cx="9154951" cy="8143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kern="1200" baseline="0"/>
            <a:t>Which product categories are most and least profitable?</a:t>
          </a:r>
          <a:endParaRPr lang="en-US" sz="2400" kern="1200"/>
        </a:p>
      </dsp:txBody>
      <dsp:txXfrm>
        <a:off x="39752" y="4622425"/>
        <a:ext cx="9075447" cy="734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E66C8E-1F50-492A-B884-B1BC4C2346E5}">
      <dsp:nvSpPr>
        <dsp:cNvPr id="0" name=""/>
        <dsp:cNvSpPr/>
      </dsp:nvSpPr>
      <dsp:spPr>
        <a:xfrm>
          <a:off x="0" y="1622"/>
          <a:ext cx="8851493" cy="6915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C4E7D4-0F8E-433B-91DD-303B1D5406B1}">
      <dsp:nvSpPr>
        <dsp:cNvPr id="0" name=""/>
        <dsp:cNvSpPr/>
      </dsp:nvSpPr>
      <dsp:spPr>
        <a:xfrm>
          <a:off x="209190" y="157218"/>
          <a:ext cx="380345" cy="3803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69BAD3-109F-44D5-8F01-CC4C763253C3}">
      <dsp:nvSpPr>
        <dsp:cNvPr id="0" name=""/>
        <dsp:cNvSpPr/>
      </dsp:nvSpPr>
      <dsp:spPr>
        <a:xfrm>
          <a:off x="798725" y="1622"/>
          <a:ext cx="8052767" cy="69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8" tIns="73188" rIns="73188" bIns="73188" numCol="1" spcCol="1270" anchor="ctr" anchorCtr="0">
          <a:noAutofit/>
        </a:bodyPr>
        <a:lstStyle/>
        <a:p>
          <a:pPr marL="0" lvl="0" indent="0" algn="l" defTabSz="755650">
            <a:lnSpc>
              <a:spcPct val="100000"/>
            </a:lnSpc>
            <a:spcBef>
              <a:spcPct val="0"/>
            </a:spcBef>
            <a:spcAft>
              <a:spcPct val="35000"/>
            </a:spcAft>
            <a:buNone/>
          </a:pPr>
          <a:r>
            <a:rPr lang="en-US" sz="1700" kern="1200"/>
            <a:t>Which months have the highest and lowest product sales?</a:t>
          </a:r>
        </a:p>
      </dsp:txBody>
      <dsp:txXfrm>
        <a:off x="798725" y="1622"/>
        <a:ext cx="8052767" cy="691537"/>
      </dsp:txXfrm>
    </dsp:sp>
    <dsp:sp modelId="{74646BB6-212B-4678-BCFF-0986033C395D}">
      <dsp:nvSpPr>
        <dsp:cNvPr id="0" name=""/>
        <dsp:cNvSpPr/>
      </dsp:nvSpPr>
      <dsp:spPr>
        <a:xfrm>
          <a:off x="0" y="866044"/>
          <a:ext cx="8851493" cy="6915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1C26DA-C277-46F3-969E-82366CD79C6C}">
      <dsp:nvSpPr>
        <dsp:cNvPr id="0" name=""/>
        <dsp:cNvSpPr/>
      </dsp:nvSpPr>
      <dsp:spPr>
        <a:xfrm>
          <a:off x="209190" y="1021640"/>
          <a:ext cx="380345" cy="3803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28F46E-82B7-4E81-96C5-1F4DC640E0E8}">
      <dsp:nvSpPr>
        <dsp:cNvPr id="0" name=""/>
        <dsp:cNvSpPr/>
      </dsp:nvSpPr>
      <dsp:spPr>
        <a:xfrm>
          <a:off x="798725" y="866044"/>
          <a:ext cx="8052767" cy="69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8" tIns="73188" rIns="73188" bIns="73188" numCol="1" spcCol="1270" anchor="ctr" anchorCtr="0">
          <a:noAutofit/>
        </a:bodyPr>
        <a:lstStyle/>
        <a:p>
          <a:pPr marL="0" lvl="0" indent="0" algn="l" defTabSz="755650">
            <a:lnSpc>
              <a:spcPct val="100000"/>
            </a:lnSpc>
            <a:spcBef>
              <a:spcPct val="0"/>
            </a:spcBef>
            <a:spcAft>
              <a:spcPct val="35000"/>
            </a:spcAft>
            <a:buNone/>
          </a:pPr>
          <a:r>
            <a:rPr lang="en-US" sz="1700" kern="1200"/>
            <a:t>Which store locations perform best in terms of product sales? </a:t>
          </a:r>
        </a:p>
      </dsp:txBody>
      <dsp:txXfrm>
        <a:off x="798725" y="866044"/>
        <a:ext cx="8052767" cy="691537"/>
      </dsp:txXfrm>
    </dsp:sp>
    <dsp:sp modelId="{D5B46E6D-DA52-491D-9E9A-7838A0C8F2E0}">
      <dsp:nvSpPr>
        <dsp:cNvPr id="0" name=""/>
        <dsp:cNvSpPr/>
      </dsp:nvSpPr>
      <dsp:spPr>
        <a:xfrm>
          <a:off x="0" y="1730466"/>
          <a:ext cx="8851493" cy="6915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FA3A5D-52A9-423B-9097-C8EFB16CB025}">
      <dsp:nvSpPr>
        <dsp:cNvPr id="0" name=""/>
        <dsp:cNvSpPr/>
      </dsp:nvSpPr>
      <dsp:spPr>
        <a:xfrm>
          <a:off x="209190" y="1886062"/>
          <a:ext cx="380345" cy="3803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7E9F16-7C7B-41E9-B0FE-0716FB83950B}">
      <dsp:nvSpPr>
        <dsp:cNvPr id="0" name=""/>
        <dsp:cNvSpPr/>
      </dsp:nvSpPr>
      <dsp:spPr>
        <a:xfrm>
          <a:off x="798725" y="1730466"/>
          <a:ext cx="8052767" cy="69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8" tIns="73188" rIns="73188" bIns="73188" numCol="1" spcCol="1270" anchor="ctr" anchorCtr="0">
          <a:noAutofit/>
        </a:bodyPr>
        <a:lstStyle/>
        <a:p>
          <a:pPr marL="0" lvl="0" indent="0" algn="l" defTabSz="755650">
            <a:lnSpc>
              <a:spcPct val="100000"/>
            </a:lnSpc>
            <a:spcBef>
              <a:spcPct val="0"/>
            </a:spcBef>
            <a:spcAft>
              <a:spcPct val="35000"/>
            </a:spcAft>
            <a:buNone/>
          </a:pPr>
          <a:r>
            <a:rPr lang="en-US" sz="1700" kern="1200"/>
            <a:t>Are certain stores more profitable based on how long they've been open? </a:t>
          </a:r>
        </a:p>
      </dsp:txBody>
      <dsp:txXfrm>
        <a:off x="798725" y="1730466"/>
        <a:ext cx="8052767" cy="691537"/>
      </dsp:txXfrm>
    </dsp:sp>
    <dsp:sp modelId="{63802C82-3E97-412D-A353-FD1AAB7DD6B3}">
      <dsp:nvSpPr>
        <dsp:cNvPr id="0" name=""/>
        <dsp:cNvSpPr/>
      </dsp:nvSpPr>
      <dsp:spPr>
        <a:xfrm>
          <a:off x="0" y="2594888"/>
          <a:ext cx="8851493" cy="6915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9B6B3F-1444-465C-863B-E5A9D8FB74A4}">
      <dsp:nvSpPr>
        <dsp:cNvPr id="0" name=""/>
        <dsp:cNvSpPr/>
      </dsp:nvSpPr>
      <dsp:spPr>
        <a:xfrm>
          <a:off x="209190" y="2750484"/>
          <a:ext cx="380345" cy="3803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9E08D6-D4A2-45B5-9333-96145F5689FA}">
      <dsp:nvSpPr>
        <dsp:cNvPr id="0" name=""/>
        <dsp:cNvSpPr/>
      </dsp:nvSpPr>
      <dsp:spPr>
        <a:xfrm>
          <a:off x="798725" y="2594888"/>
          <a:ext cx="8052767" cy="69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8" tIns="73188" rIns="73188" bIns="73188" numCol="1" spcCol="1270" anchor="ctr" anchorCtr="0">
          <a:noAutofit/>
        </a:bodyPr>
        <a:lstStyle/>
        <a:p>
          <a:pPr marL="0" lvl="0" indent="0" algn="l" defTabSz="755650">
            <a:lnSpc>
              <a:spcPct val="100000"/>
            </a:lnSpc>
            <a:spcBef>
              <a:spcPct val="0"/>
            </a:spcBef>
            <a:spcAft>
              <a:spcPct val="35000"/>
            </a:spcAft>
            <a:buNone/>
          </a:pPr>
          <a:r>
            <a:rPr lang="en-US" sz="1700" kern="1200"/>
            <a:t>Which stores hold the highest stock levels, and are those products selling? </a:t>
          </a:r>
        </a:p>
      </dsp:txBody>
      <dsp:txXfrm>
        <a:off x="798725" y="2594888"/>
        <a:ext cx="8052767" cy="691537"/>
      </dsp:txXfrm>
    </dsp:sp>
    <dsp:sp modelId="{03B05C30-5916-4375-A06C-4F96957370EF}">
      <dsp:nvSpPr>
        <dsp:cNvPr id="0" name=""/>
        <dsp:cNvSpPr/>
      </dsp:nvSpPr>
      <dsp:spPr>
        <a:xfrm>
          <a:off x="0" y="3459310"/>
          <a:ext cx="8851493" cy="6915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484F12-66D1-4F6A-A44E-4FB59C7DF4C2}">
      <dsp:nvSpPr>
        <dsp:cNvPr id="0" name=""/>
        <dsp:cNvSpPr/>
      </dsp:nvSpPr>
      <dsp:spPr>
        <a:xfrm>
          <a:off x="209190" y="3614906"/>
          <a:ext cx="380345" cy="3803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9DD339-A8CD-4366-9128-5D3316D56A2E}">
      <dsp:nvSpPr>
        <dsp:cNvPr id="0" name=""/>
        <dsp:cNvSpPr/>
      </dsp:nvSpPr>
      <dsp:spPr>
        <a:xfrm>
          <a:off x="798725" y="3459310"/>
          <a:ext cx="8052767" cy="69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8" tIns="73188" rIns="73188" bIns="73188" numCol="1" spcCol="1270" anchor="ctr" anchorCtr="0">
          <a:noAutofit/>
        </a:bodyPr>
        <a:lstStyle/>
        <a:p>
          <a:pPr marL="0" lvl="0" indent="0" algn="l" defTabSz="755650">
            <a:lnSpc>
              <a:spcPct val="100000"/>
            </a:lnSpc>
            <a:spcBef>
              <a:spcPct val="0"/>
            </a:spcBef>
            <a:spcAft>
              <a:spcPct val="35000"/>
            </a:spcAft>
            <a:buNone/>
          </a:pPr>
          <a:r>
            <a:rPr lang="en-US" sz="1700" kern="1200"/>
            <a:t>Which stores generate the highest revenue and profit? </a:t>
          </a:r>
        </a:p>
      </dsp:txBody>
      <dsp:txXfrm>
        <a:off x="798725" y="3459310"/>
        <a:ext cx="8052767" cy="691537"/>
      </dsp:txXfrm>
    </dsp:sp>
    <dsp:sp modelId="{EBFBCC6B-E13B-4FB5-A031-5EB08D455D7E}">
      <dsp:nvSpPr>
        <dsp:cNvPr id="0" name=""/>
        <dsp:cNvSpPr/>
      </dsp:nvSpPr>
      <dsp:spPr>
        <a:xfrm>
          <a:off x="0" y="4323732"/>
          <a:ext cx="8851493" cy="6915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8AF44D-66F1-4A76-B5A8-B615B063E02B}">
      <dsp:nvSpPr>
        <dsp:cNvPr id="0" name=""/>
        <dsp:cNvSpPr/>
      </dsp:nvSpPr>
      <dsp:spPr>
        <a:xfrm>
          <a:off x="209190" y="4479328"/>
          <a:ext cx="380345" cy="38034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959E88-9E6D-4746-BA7B-ED0DF057288B}">
      <dsp:nvSpPr>
        <dsp:cNvPr id="0" name=""/>
        <dsp:cNvSpPr/>
      </dsp:nvSpPr>
      <dsp:spPr>
        <a:xfrm>
          <a:off x="798725" y="4323732"/>
          <a:ext cx="8052767" cy="69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8" tIns="73188" rIns="73188" bIns="73188" numCol="1" spcCol="1270" anchor="ctr" anchorCtr="0">
          <a:noAutofit/>
        </a:bodyPr>
        <a:lstStyle/>
        <a:p>
          <a:pPr marL="0" lvl="0" indent="0" algn="l" defTabSz="755650">
            <a:lnSpc>
              <a:spcPct val="100000"/>
            </a:lnSpc>
            <a:spcBef>
              <a:spcPct val="0"/>
            </a:spcBef>
            <a:spcAft>
              <a:spcPct val="35000"/>
            </a:spcAft>
            <a:buNone/>
          </a:pPr>
          <a:r>
            <a:rPr lang="en-US" sz="1700" kern="1200"/>
            <a:t>Which cities record the highest sales volumes by product? </a:t>
          </a:r>
        </a:p>
      </dsp:txBody>
      <dsp:txXfrm>
        <a:off x="798725" y="4323732"/>
        <a:ext cx="8052767" cy="69153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CDD8A0-7A58-6198-70D0-A043D40F02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78CBB6F-05AA-DD8D-D8FD-F71C51CE80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E51743-1D80-4ECF-9A78-AFB354C425A4}" type="datetimeFigureOut">
              <a:rPr lang="en-US" smtClean="0"/>
              <a:t>11/6/2025</a:t>
            </a:fld>
            <a:endParaRPr lang="en-US"/>
          </a:p>
        </p:txBody>
      </p:sp>
      <p:sp>
        <p:nvSpPr>
          <p:cNvPr id="4" name="Footer Placeholder 3">
            <a:extLst>
              <a:ext uri="{FF2B5EF4-FFF2-40B4-BE49-F238E27FC236}">
                <a16:creationId xmlns:a16="http://schemas.microsoft.com/office/drawing/2014/main" id="{F9CA17B7-1022-F4EF-66F2-32688D365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2FDA01-E4E7-213D-3D33-B949B5C894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424462-F781-4202-ABEB-18B047C26C2C}" type="slidenum">
              <a:rPr lang="en-US" smtClean="0"/>
              <a:t>‹#›</a:t>
            </a:fld>
            <a:endParaRPr lang="en-US"/>
          </a:p>
        </p:txBody>
      </p:sp>
    </p:spTree>
    <p:extLst>
      <p:ext uri="{BB962C8B-B14F-4D97-AF65-F5344CB8AC3E}">
        <p14:creationId xmlns:p14="http://schemas.microsoft.com/office/powerpoint/2010/main" val="25680261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8ECF1B-AF62-46D6-8B9D-88BEE1E5D1B4}"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0BF83-E6F4-4CED-A387-EAF3532B556D}" type="slidenum">
              <a:rPr lang="en-US" smtClean="0"/>
              <a:t>‹#›</a:t>
            </a:fld>
            <a:endParaRPr lang="en-US"/>
          </a:p>
        </p:txBody>
      </p:sp>
    </p:spTree>
    <p:extLst>
      <p:ext uri="{BB962C8B-B14F-4D97-AF65-F5344CB8AC3E}">
        <p14:creationId xmlns:p14="http://schemas.microsoft.com/office/powerpoint/2010/main" val="2351107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8E13B-B44A-103A-0129-CC43AD3BC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753D9-14D9-0D98-DB0C-0CAB32710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A205A-EBAA-4D9A-84AD-B8681C6A02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4E39B9-F4E8-B218-306E-2D7997BA7805}"/>
              </a:ext>
            </a:extLst>
          </p:cNvPr>
          <p:cNvSpPr>
            <a:spLocks noGrp="1"/>
          </p:cNvSpPr>
          <p:nvPr>
            <p:ph type="sldNum" sz="quarter" idx="5"/>
          </p:nvPr>
        </p:nvSpPr>
        <p:spPr/>
        <p:txBody>
          <a:bodyPr/>
          <a:lstStyle/>
          <a:p>
            <a:fld id="{2E60BF83-E6F4-4CED-A387-EAF3532B556D}" type="slidenum">
              <a:rPr lang="en-US" smtClean="0"/>
              <a:t>6</a:t>
            </a:fld>
            <a:endParaRPr lang="en-US"/>
          </a:p>
        </p:txBody>
      </p:sp>
    </p:spTree>
    <p:extLst>
      <p:ext uri="{BB962C8B-B14F-4D97-AF65-F5344CB8AC3E}">
        <p14:creationId xmlns:p14="http://schemas.microsoft.com/office/powerpoint/2010/main" val="4260175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60BF83-E6F4-4CED-A387-EAF3532B556D}" type="slidenum">
              <a:rPr lang="en-US" smtClean="0"/>
              <a:t>7</a:t>
            </a:fld>
            <a:endParaRPr lang="en-US"/>
          </a:p>
        </p:txBody>
      </p:sp>
    </p:spTree>
    <p:extLst>
      <p:ext uri="{BB962C8B-B14F-4D97-AF65-F5344CB8AC3E}">
        <p14:creationId xmlns:p14="http://schemas.microsoft.com/office/powerpoint/2010/main" val="3155557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5162-2B5E-C2AB-882C-1EBBB4451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3197A-2CD4-1E16-457F-F473B181A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681AC-CE2C-1E13-9DF2-F68EDCC1AC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E8F7B9-6F1A-BB7A-81D0-5BCBA484C209}"/>
              </a:ext>
            </a:extLst>
          </p:cNvPr>
          <p:cNvSpPr>
            <a:spLocks noGrp="1"/>
          </p:cNvSpPr>
          <p:nvPr>
            <p:ph type="sldNum" sz="quarter" idx="5"/>
          </p:nvPr>
        </p:nvSpPr>
        <p:spPr/>
        <p:txBody>
          <a:bodyPr/>
          <a:lstStyle/>
          <a:p>
            <a:fld id="{2E60BF83-E6F4-4CED-A387-EAF3532B556D}" type="slidenum">
              <a:rPr lang="en-US" smtClean="0"/>
              <a:t>8</a:t>
            </a:fld>
            <a:endParaRPr lang="en-US"/>
          </a:p>
        </p:txBody>
      </p:sp>
    </p:spTree>
    <p:extLst>
      <p:ext uri="{BB962C8B-B14F-4D97-AF65-F5344CB8AC3E}">
        <p14:creationId xmlns:p14="http://schemas.microsoft.com/office/powerpoint/2010/main" val="1042659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0B8DD-FC5A-AAED-1FFD-5D13F04A7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6703C-BDD7-4CA0-A37C-ED70087350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33442-56BB-30EF-EB1D-FDFCC2282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ED176B-27F6-D58C-9A2E-3EB4F9226EE2}"/>
              </a:ext>
            </a:extLst>
          </p:cNvPr>
          <p:cNvSpPr>
            <a:spLocks noGrp="1"/>
          </p:cNvSpPr>
          <p:nvPr>
            <p:ph type="sldNum" sz="quarter" idx="5"/>
          </p:nvPr>
        </p:nvSpPr>
        <p:spPr/>
        <p:txBody>
          <a:bodyPr/>
          <a:lstStyle/>
          <a:p>
            <a:fld id="{2E60BF83-E6F4-4CED-A387-EAF3532B556D}" type="slidenum">
              <a:rPr lang="en-US" smtClean="0"/>
              <a:t>9</a:t>
            </a:fld>
            <a:endParaRPr lang="en-US"/>
          </a:p>
        </p:txBody>
      </p:sp>
    </p:spTree>
    <p:extLst>
      <p:ext uri="{BB962C8B-B14F-4D97-AF65-F5344CB8AC3E}">
        <p14:creationId xmlns:p14="http://schemas.microsoft.com/office/powerpoint/2010/main" val="880163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EE1E1-538B-2CD9-A1D7-E7C331FB6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C1B1E-39E2-D676-F8B6-1A5C443EA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FAA77-EAED-6BF3-765D-BDA72DA042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BC1B03-4305-A56D-0438-314CD03AD544}"/>
              </a:ext>
            </a:extLst>
          </p:cNvPr>
          <p:cNvSpPr>
            <a:spLocks noGrp="1"/>
          </p:cNvSpPr>
          <p:nvPr>
            <p:ph type="sldNum" sz="quarter" idx="5"/>
          </p:nvPr>
        </p:nvSpPr>
        <p:spPr/>
        <p:txBody>
          <a:bodyPr/>
          <a:lstStyle/>
          <a:p>
            <a:fld id="{2E60BF83-E6F4-4CED-A387-EAF3532B556D}" type="slidenum">
              <a:rPr lang="en-US" smtClean="0"/>
              <a:t>10</a:t>
            </a:fld>
            <a:endParaRPr lang="en-US"/>
          </a:p>
        </p:txBody>
      </p:sp>
    </p:spTree>
    <p:extLst>
      <p:ext uri="{BB962C8B-B14F-4D97-AF65-F5344CB8AC3E}">
        <p14:creationId xmlns:p14="http://schemas.microsoft.com/office/powerpoint/2010/main" val="247822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899A7-8AE3-2746-49B2-0EC1FBCF5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EE8ED-2BE6-E352-F075-F6D1F641E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8FC56-3977-81CA-783D-7DB8675B88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11D989-2230-219F-0FF6-3FD708CE976C}"/>
              </a:ext>
            </a:extLst>
          </p:cNvPr>
          <p:cNvSpPr>
            <a:spLocks noGrp="1"/>
          </p:cNvSpPr>
          <p:nvPr>
            <p:ph type="sldNum" sz="quarter" idx="5"/>
          </p:nvPr>
        </p:nvSpPr>
        <p:spPr/>
        <p:txBody>
          <a:bodyPr/>
          <a:lstStyle/>
          <a:p>
            <a:fld id="{2E60BF83-E6F4-4CED-A387-EAF3532B556D}" type="slidenum">
              <a:rPr lang="en-US" smtClean="0"/>
              <a:t>11</a:t>
            </a:fld>
            <a:endParaRPr lang="en-US"/>
          </a:p>
        </p:txBody>
      </p:sp>
    </p:spTree>
    <p:extLst>
      <p:ext uri="{BB962C8B-B14F-4D97-AF65-F5344CB8AC3E}">
        <p14:creationId xmlns:p14="http://schemas.microsoft.com/office/powerpoint/2010/main" val="3708526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60BF83-E6F4-4CED-A387-EAF3532B556D}" type="slidenum">
              <a:rPr lang="en-US" smtClean="0"/>
              <a:t>16</a:t>
            </a:fld>
            <a:endParaRPr lang="en-US"/>
          </a:p>
        </p:txBody>
      </p:sp>
    </p:spTree>
    <p:extLst>
      <p:ext uri="{BB962C8B-B14F-4D97-AF65-F5344CB8AC3E}">
        <p14:creationId xmlns:p14="http://schemas.microsoft.com/office/powerpoint/2010/main" val="524233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11/6/2025</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09769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3052302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11/6/2025</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139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9747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74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338242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11/6/2025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23187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11/6/2025</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772000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11/6/2025</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2934007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2852612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11/6/2025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9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11/6/2025</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7559525"/>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33" r:id="rId6"/>
    <p:sldLayoutId id="2147483829" r:id="rId7"/>
    <p:sldLayoutId id="2147483830" r:id="rId8"/>
    <p:sldLayoutId id="2147483831" r:id="rId9"/>
    <p:sldLayoutId id="2147483832" r:id="rId10"/>
    <p:sldLayoutId id="2147483834" r:id="rId11"/>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jpe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png"/><Relationship Id="rId9" Type="http://schemas.microsoft.com/office/2007/relationships/diagramDrawing" Target="../diagrams/drawing1.xml"/></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CA22F210-7186-4074-94C5-FAD2C2EB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7ED93057-B056-4D1D-B0DA-F1619DAAF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4ADEA9-D02B-093D-F37A-7702B353007E}"/>
              </a:ext>
            </a:extLst>
          </p:cNvPr>
          <p:cNvSpPr>
            <a:spLocks noGrp="1"/>
          </p:cNvSpPr>
          <p:nvPr>
            <p:ph type="ctrTitle"/>
          </p:nvPr>
        </p:nvSpPr>
        <p:spPr>
          <a:xfrm>
            <a:off x="1319515" y="889697"/>
            <a:ext cx="5412406" cy="2341259"/>
          </a:xfrm>
        </p:spPr>
        <p:txBody>
          <a:bodyPr vert="horz" lIns="109728" tIns="109728" rIns="109728" bIns="91440" rtlCol="0" anchor="ctr">
            <a:normAutofit/>
          </a:bodyPr>
          <a:lstStyle/>
          <a:p>
            <a:pPr>
              <a:lnSpc>
                <a:spcPct val="115000"/>
              </a:lnSpc>
            </a:pPr>
            <a:r>
              <a:rPr lang="en-US" sz="2800" dirty="0">
                <a:solidFill>
                  <a:schemeClr val="bg1"/>
                </a:solidFill>
                <a:latin typeface="Bell MT" panose="02020503060305020303" pitchFamily="18" charset="0"/>
              </a:rPr>
              <a:t>PRODUCT AND SALES performance ANALYSIS </a:t>
            </a:r>
            <a:br>
              <a:rPr lang="en-US" sz="2800" dirty="0">
                <a:solidFill>
                  <a:schemeClr val="bg1"/>
                </a:solidFill>
                <a:latin typeface="Bell MT" panose="02020503060305020303" pitchFamily="18" charset="0"/>
              </a:rPr>
            </a:br>
            <a:r>
              <a:rPr lang="en-US" sz="2800" dirty="0">
                <a:solidFill>
                  <a:schemeClr val="bg1"/>
                </a:solidFill>
                <a:latin typeface="Bell MT" panose="02020503060305020303" pitchFamily="18" charset="0"/>
              </a:rPr>
              <a:t>TDI SAPPHIRE COHORT SQL CAPSTONE 2025</a:t>
            </a:r>
          </a:p>
        </p:txBody>
      </p:sp>
      <p:sp>
        <p:nvSpPr>
          <p:cNvPr id="6" name="TextBox 5">
            <a:extLst>
              <a:ext uri="{FF2B5EF4-FFF2-40B4-BE49-F238E27FC236}">
                <a16:creationId xmlns:a16="http://schemas.microsoft.com/office/drawing/2014/main" id="{336A5C36-1C46-558A-AA2D-E29CB199CEA6}"/>
              </a:ext>
            </a:extLst>
          </p:cNvPr>
          <p:cNvSpPr txBox="1"/>
          <p:nvPr/>
        </p:nvSpPr>
        <p:spPr>
          <a:xfrm>
            <a:off x="1635104" y="3751119"/>
            <a:ext cx="4797502" cy="1606163"/>
          </a:xfrm>
          <a:prstGeom prst="rect">
            <a:avLst/>
          </a:prstGeom>
        </p:spPr>
        <p:txBody>
          <a:bodyPr vert="horz" lIns="109728" tIns="109728" rIns="109728" bIns="91440" rtlCol="0" anchor="t">
            <a:normAutofit/>
          </a:bodyPr>
          <a:lstStyle/>
          <a:p>
            <a:pPr>
              <a:lnSpc>
                <a:spcPct val="150000"/>
              </a:lnSpc>
              <a:spcBef>
                <a:spcPts val="930"/>
              </a:spcBef>
            </a:pPr>
            <a:r>
              <a:rPr lang="en-US" sz="2400" spc="150" dirty="0">
                <a:solidFill>
                  <a:schemeClr val="tx1">
                    <a:lumMod val="75000"/>
                    <a:lumOff val="25000"/>
                  </a:schemeClr>
                </a:solidFill>
                <a:latin typeface="Bell MT" panose="02020503060305020303" pitchFamily="18" charset="0"/>
              </a:rPr>
              <a:t>PRESENTED BY FELICITAS EZECHIKELUBA</a:t>
            </a:r>
          </a:p>
        </p:txBody>
      </p:sp>
      <p:sp>
        <p:nvSpPr>
          <p:cNvPr id="57" name="Rectangle 56">
            <a:extLst>
              <a:ext uri="{FF2B5EF4-FFF2-40B4-BE49-F238E27FC236}">
                <a16:creationId xmlns:a16="http://schemas.microsoft.com/office/drawing/2014/main" id="{F5B41592-BC5E-4AE2-8CA7-91C73FD8F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B574A3D-9991-4D4A-91DF-0D0DE47DB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5A56255-4961-41E1-887B-7319F23C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udy oil paint art">
            <a:extLst>
              <a:ext uri="{FF2B5EF4-FFF2-40B4-BE49-F238E27FC236}">
                <a16:creationId xmlns:a16="http://schemas.microsoft.com/office/drawing/2014/main" id="{66B004F3-F195-C1CE-C4D2-0C757BCA697B}"/>
              </a:ext>
            </a:extLst>
          </p:cNvPr>
          <p:cNvPicPr>
            <a:picLocks noChangeAspect="1"/>
          </p:cNvPicPr>
          <p:nvPr/>
        </p:nvPicPr>
        <p:blipFill>
          <a:blip r:embed="rId2"/>
          <a:srcRect r="48101" b="-2"/>
          <a:stretch>
            <a:fillRect/>
          </a:stretch>
        </p:blipFill>
        <p:spPr>
          <a:xfrm>
            <a:off x="6859936" y="-2"/>
            <a:ext cx="5332064" cy="6858002"/>
          </a:xfrm>
          <a:prstGeom prst="rect">
            <a:avLst/>
          </a:prstGeom>
        </p:spPr>
      </p:pic>
    </p:spTree>
    <p:extLst>
      <p:ext uri="{BB962C8B-B14F-4D97-AF65-F5344CB8AC3E}">
        <p14:creationId xmlns:p14="http://schemas.microsoft.com/office/powerpoint/2010/main" val="485253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90F936-828E-1612-A1A6-279F63D4312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27434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D7AAC2-C42A-ED1E-5233-DD5552C36025}"/>
              </a:ext>
            </a:extLst>
          </p:cNvPr>
          <p:cNvPicPr>
            <a:picLocks noChangeAspect="1"/>
          </p:cNvPicPr>
          <p:nvPr/>
        </p:nvPicPr>
        <p:blipFill>
          <a:blip r:embed="rId2"/>
          <a:stretch>
            <a:fillRect/>
          </a:stretch>
        </p:blipFill>
        <p:spPr>
          <a:xfrm>
            <a:off x="0" y="0"/>
            <a:ext cx="12192000" cy="6986016"/>
          </a:xfrm>
          <a:prstGeom prst="rect">
            <a:avLst/>
          </a:prstGeom>
        </p:spPr>
      </p:pic>
    </p:spTree>
    <p:extLst>
      <p:ext uri="{BB962C8B-B14F-4D97-AF65-F5344CB8AC3E}">
        <p14:creationId xmlns:p14="http://schemas.microsoft.com/office/powerpoint/2010/main" val="698000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498250-CF99-F27B-CAB3-26B6A686F42C}"/>
              </a:ext>
            </a:extLst>
          </p:cNvPr>
          <p:cNvPicPr>
            <a:picLocks noChangeAspect="1"/>
          </p:cNvPicPr>
          <p:nvPr/>
        </p:nvPicPr>
        <p:blipFill>
          <a:blip r:embed="rId2">
            <a:extLst>
              <a:ext uri="{28A0092B-C50C-407E-A947-70E740481C1C}">
                <a14:useLocalDpi xmlns:a14="http://schemas.microsoft.com/office/drawing/2010/main" val="0"/>
              </a:ext>
            </a:extLst>
          </a:blip>
          <a:srcRect t="13333" r="1551" b="11392"/>
          <a:stretch>
            <a:fillRect/>
          </a:stretch>
        </p:blipFill>
        <p:spPr>
          <a:xfrm>
            <a:off x="0" y="0"/>
            <a:ext cx="12192000" cy="6858000"/>
          </a:xfrm>
          <a:prstGeom prst="rect">
            <a:avLst/>
          </a:prstGeom>
        </p:spPr>
      </p:pic>
    </p:spTree>
    <p:extLst>
      <p:ext uri="{BB962C8B-B14F-4D97-AF65-F5344CB8AC3E}">
        <p14:creationId xmlns:p14="http://schemas.microsoft.com/office/powerpoint/2010/main" val="743606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CAF1549-1502-8DC4-D829-16CD3AD55096}"/>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46" name="Rectangle 45">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0"/>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7582419"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2593D704-FA91-EA40-7737-C120CAFA9A4F}"/>
              </a:ext>
            </a:extLst>
          </p:cNvPr>
          <p:cNvSpPr>
            <a:spLocks noGrp="1"/>
          </p:cNvSpPr>
          <p:nvPr>
            <p:ph type="title"/>
          </p:nvPr>
        </p:nvSpPr>
        <p:spPr>
          <a:xfrm>
            <a:off x="447675" y="273876"/>
            <a:ext cx="5648325" cy="766418"/>
          </a:xfrm>
        </p:spPr>
        <p:txBody>
          <a:bodyPr vert="horz" lIns="109728" tIns="109728" rIns="109728" bIns="91440" rtlCol="0" anchor="b">
            <a:normAutofit fontScale="90000"/>
          </a:bodyPr>
          <a:lstStyle/>
          <a:p>
            <a:pPr algn="l"/>
            <a:r>
              <a:rPr lang="en-US" sz="5100" cap="all" dirty="0">
                <a:solidFill>
                  <a:schemeClr val="tx2"/>
                </a:solidFill>
                <a:latin typeface="Bell MT" panose="02020503060305020303" pitchFamily="18" charset="0"/>
              </a:rPr>
              <a:t>INTRODUCTION</a:t>
            </a:r>
          </a:p>
        </p:txBody>
      </p:sp>
      <p:sp>
        <p:nvSpPr>
          <p:cNvPr id="12" name="Text Placeholder 11">
            <a:extLst>
              <a:ext uri="{FF2B5EF4-FFF2-40B4-BE49-F238E27FC236}">
                <a16:creationId xmlns:a16="http://schemas.microsoft.com/office/drawing/2014/main" id="{026C5C67-9F73-890D-B1B7-6022F09FE640}"/>
              </a:ext>
            </a:extLst>
          </p:cNvPr>
          <p:cNvSpPr>
            <a:spLocks noGrp="1"/>
          </p:cNvSpPr>
          <p:nvPr>
            <p:ph type="body" idx="1"/>
          </p:nvPr>
        </p:nvSpPr>
        <p:spPr>
          <a:xfrm>
            <a:off x="0" y="1159516"/>
            <a:ext cx="7667625" cy="4973849"/>
          </a:xfrm>
        </p:spPr>
        <p:txBody>
          <a:bodyPr vert="horz" lIns="109728" tIns="109728" rIns="109728" bIns="91440" rtlCol="0" anchor="t">
            <a:normAutofit fontScale="85000" lnSpcReduction="20000"/>
          </a:bodyPr>
          <a:lstStyle/>
          <a:p>
            <a:pPr algn="l">
              <a:lnSpc>
                <a:spcPct val="150000"/>
              </a:lnSpc>
              <a:spcBef>
                <a:spcPts val="930"/>
              </a:spcBef>
            </a:pPr>
            <a:r>
              <a:rPr lang="en-US" dirty="0">
                <a:solidFill>
                  <a:schemeClr val="tx1"/>
                </a:solidFill>
                <a:latin typeface="Bell MT" panose="02020503060305020303" pitchFamily="18" charset="0"/>
              </a:rPr>
              <a:t>This project analyzes sales, product, inventory, and store data from Maven Toys, a fictional toy retail 4 chain stores operating across 29 Mexican cities. By examining multiple data tables, the analysis uncovers product performance patterns, seasonal demand trends, and the impact of store location and age on sales results. The findings highlight which products are top sellers and which underperform, when most products are sold throughout the year, and how different stores compare . These insights support smarter business decisions in inventory management, pricing strategies, and promotional planning to boost sales and improve overall profitability.</a:t>
            </a:r>
          </a:p>
        </p:txBody>
      </p:sp>
      <p:pic>
        <p:nvPicPr>
          <p:cNvPr id="4" name="Picture 3" descr="Cloudy oil paint art">
            <a:extLst>
              <a:ext uri="{FF2B5EF4-FFF2-40B4-BE49-F238E27FC236}">
                <a16:creationId xmlns:a16="http://schemas.microsoft.com/office/drawing/2014/main" id="{6CBB4ACA-8605-6864-23CA-D7CD67D8B1AD}"/>
              </a:ext>
            </a:extLst>
          </p:cNvPr>
          <p:cNvPicPr>
            <a:picLocks noChangeAspect="1"/>
          </p:cNvPicPr>
          <p:nvPr/>
        </p:nvPicPr>
        <p:blipFill>
          <a:blip r:embed="rId2"/>
          <a:srcRect r="39349" b="-1"/>
          <a:stretch>
            <a:fillRect/>
          </a:stretch>
        </p:blipFill>
        <p:spPr>
          <a:xfrm>
            <a:off x="7585467" y="1074544"/>
            <a:ext cx="4606534" cy="5069861"/>
          </a:xfrm>
          <a:prstGeom prst="rect">
            <a:avLst/>
          </a:prstGeom>
        </p:spPr>
      </p:pic>
      <p:sp>
        <p:nvSpPr>
          <p:cNvPr id="54" name="Rectangle 53">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5336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F44415-E83A-0CD5-025C-D23F60A5F81F}"/>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73E6F2D6-83AC-2580-6297-E5FD7B6FA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7">
            <a:extLst>
              <a:ext uri="{FF2B5EF4-FFF2-40B4-BE49-F238E27FC236}">
                <a16:creationId xmlns:a16="http://schemas.microsoft.com/office/drawing/2014/main" id="{E17B4375-C850-0A24-7A3D-A28613A9C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46" name="Rectangle 45">
            <a:extLst>
              <a:ext uri="{FF2B5EF4-FFF2-40B4-BE49-F238E27FC236}">
                <a16:creationId xmlns:a16="http://schemas.microsoft.com/office/drawing/2014/main" id="{DB1C7443-485F-F0F6-A597-F5AAB3B5C5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D430A1DA-AAC6-547B-5113-0515BE5AB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9AE66400-80C0-EA8E-F8E5-496E96C29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1" y="0"/>
            <a:ext cx="3027529"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CE02B56-5FBD-03F0-7914-A56EFE165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9158373"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9A4F8619-CA75-41B3-F915-4FD52F7185B9}"/>
              </a:ext>
            </a:extLst>
          </p:cNvPr>
          <p:cNvSpPr>
            <a:spLocks noGrp="1"/>
          </p:cNvSpPr>
          <p:nvPr>
            <p:ph type="title"/>
          </p:nvPr>
        </p:nvSpPr>
        <p:spPr>
          <a:xfrm>
            <a:off x="447358" y="331974"/>
            <a:ext cx="5347536" cy="667522"/>
          </a:xfrm>
        </p:spPr>
        <p:txBody>
          <a:bodyPr vert="horz" lIns="109728" tIns="109728" rIns="109728" bIns="91440" rtlCol="0" anchor="b">
            <a:normAutofit fontScale="90000"/>
          </a:bodyPr>
          <a:lstStyle/>
          <a:p>
            <a:pPr algn="l"/>
            <a:r>
              <a:rPr lang="en-US" sz="3600" cap="all" dirty="0">
                <a:solidFill>
                  <a:schemeClr val="tx2"/>
                </a:solidFill>
                <a:latin typeface="Bell MT" panose="02020503060305020303" pitchFamily="18" charset="0"/>
              </a:rPr>
              <a:t>PROBLEM STATEMENT</a:t>
            </a:r>
            <a:endParaRPr lang="en-US" sz="6600" cap="all" dirty="0">
              <a:solidFill>
                <a:schemeClr val="tx2"/>
              </a:solidFill>
              <a:latin typeface="Bell MT" panose="02020503060305020303" pitchFamily="18" charset="0"/>
            </a:endParaRPr>
          </a:p>
        </p:txBody>
      </p:sp>
      <p:sp>
        <p:nvSpPr>
          <p:cNvPr id="12" name="Text Placeholder 11">
            <a:extLst>
              <a:ext uri="{FF2B5EF4-FFF2-40B4-BE49-F238E27FC236}">
                <a16:creationId xmlns:a16="http://schemas.microsoft.com/office/drawing/2014/main" id="{F6AA4E01-A348-8DCF-5D8C-59EBD0D68802}"/>
              </a:ext>
            </a:extLst>
          </p:cNvPr>
          <p:cNvSpPr>
            <a:spLocks noGrp="1"/>
          </p:cNvSpPr>
          <p:nvPr>
            <p:ph type="body" idx="1"/>
          </p:nvPr>
        </p:nvSpPr>
        <p:spPr>
          <a:xfrm>
            <a:off x="418806" y="2066769"/>
            <a:ext cx="8363917" cy="1946860"/>
          </a:xfrm>
        </p:spPr>
        <p:txBody>
          <a:bodyPr vert="horz" lIns="109728" tIns="109728" rIns="109728" bIns="91440" rtlCol="0" anchor="ctr">
            <a:noAutofit/>
          </a:bodyPr>
          <a:lstStyle/>
          <a:p>
            <a:pPr algn="l">
              <a:lnSpc>
                <a:spcPct val="140000"/>
              </a:lnSpc>
              <a:spcBef>
                <a:spcPts val="930"/>
              </a:spcBef>
            </a:pPr>
            <a:r>
              <a:rPr lang="en-US" sz="2000" dirty="0">
                <a:solidFill>
                  <a:schemeClr val="tx1"/>
                </a:solidFill>
                <a:latin typeface="Bell MT" panose="02020503060305020303" pitchFamily="18" charset="0"/>
              </a:rPr>
              <a:t>Ultimately, the goal is to understand: </a:t>
            </a:r>
            <a:r>
              <a:rPr lang="en-US" sz="2000" b="1" dirty="0">
                <a:solidFill>
                  <a:schemeClr val="tx1"/>
                </a:solidFill>
                <a:latin typeface="Bell MT" panose="02020503060305020303" pitchFamily="18" charset="0"/>
              </a:rPr>
              <a:t>What factors are influencing product and sales performance?</a:t>
            </a:r>
          </a:p>
          <a:p>
            <a:pPr algn="l">
              <a:lnSpc>
                <a:spcPct val="140000"/>
              </a:lnSpc>
              <a:spcBef>
                <a:spcPts val="930"/>
              </a:spcBef>
            </a:pPr>
            <a:endParaRPr lang="en-US" sz="2000" dirty="0">
              <a:solidFill>
                <a:schemeClr val="tx1"/>
              </a:solidFill>
              <a:latin typeface="Bell MT" panose="02020503060305020303" pitchFamily="18" charset="0"/>
            </a:endParaRPr>
          </a:p>
        </p:txBody>
      </p:sp>
      <p:sp>
        <p:nvSpPr>
          <p:cNvPr id="54" name="Rectangle 53">
            <a:extLst>
              <a:ext uri="{FF2B5EF4-FFF2-40B4-BE49-F238E27FC236}">
                <a16:creationId xmlns:a16="http://schemas.microsoft.com/office/drawing/2014/main" id="{3FE106CF-549B-F599-A745-1866D96FE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9201530"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F37332F-EDFD-385A-9192-33E2C08E40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2" y="1052464"/>
            <a:ext cx="3027528" cy="5115151"/>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B0E473C-811A-E271-91C8-D079B333D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6D4F791D-C284-B34D-3DF6-E5EE39B25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1420" y="6167615"/>
            <a:ext cx="3027529"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3EEAC0D8-ECBB-DB7B-3F9A-4A2786148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0C171DE-0AFC-1557-6E5D-B5FBE7E38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loudy oil paint art">
            <a:extLst>
              <a:ext uri="{FF2B5EF4-FFF2-40B4-BE49-F238E27FC236}">
                <a16:creationId xmlns:a16="http://schemas.microsoft.com/office/drawing/2014/main" id="{968AE369-B3F9-E773-5C49-3FA2F8070761}"/>
              </a:ext>
            </a:extLst>
          </p:cNvPr>
          <p:cNvPicPr>
            <a:picLocks noChangeAspect="1"/>
          </p:cNvPicPr>
          <p:nvPr/>
        </p:nvPicPr>
        <p:blipFill>
          <a:blip r:embed="rId3"/>
          <a:srcRect t="7865" b="7865"/>
          <a:stretch>
            <a:fillRect/>
          </a:stretch>
        </p:blipFill>
        <p:spPr>
          <a:xfrm>
            <a:off x="9181902" y="1088546"/>
            <a:ext cx="3027529" cy="5020972"/>
          </a:xfrm>
          <a:prstGeom prst="rect">
            <a:avLst/>
          </a:prstGeom>
        </p:spPr>
      </p:pic>
    </p:spTree>
    <p:extLst>
      <p:ext uri="{BB962C8B-B14F-4D97-AF65-F5344CB8AC3E}">
        <p14:creationId xmlns:p14="http://schemas.microsoft.com/office/powerpoint/2010/main" val="1953122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C3CEDC9-1518-89C9-6A3B-B8CCC54D9B7F}"/>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46" name="Rectangle 45">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1" y="0"/>
            <a:ext cx="3027529"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9158373"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237C28E8-D814-B1F8-D75D-18C2D054C3F8}"/>
              </a:ext>
            </a:extLst>
          </p:cNvPr>
          <p:cNvSpPr>
            <a:spLocks noGrp="1"/>
          </p:cNvSpPr>
          <p:nvPr>
            <p:ph type="title"/>
          </p:nvPr>
        </p:nvSpPr>
        <p:spPr>
          <a:xfrm>
            <a:off x="542609" y="111544"/>
            <a:ext cx="3206497" cy="917488"/>
          </a:xfrm>
        </p:spPr>
        <p:txBody>
          <a:bodyPr vert="horz" lIns="109728" tIns="109728" rIns="109728" bIns="91440" rtlCol="0" anchor="b">
            <a:normAutofit/>
          </a:bodyPr>
          <a:lstStyle/>
          <a:p>
            <a:pPr algn="l"/>
            <a:r>
              <a:rPr lang="en-US" sz="3600" cap="all" dirty="0">
                <a:solidFill>
                  <a:schemeClr val="tx2"/>
                </a:solidFill>
                <a:latin typeface="Bell MT" panose="02020503060305020303" pitchFamily="18" charset="0"/>
              </a:rPr>
              <a:t>GOALS</a:t>
            </a:r>
            <a:endParaRPr lang="en-US" sz="6600" cap="all" dirty="0">
              <a:solidFill>
                <a:schemeClr val="tx2"/>
              </a:solidFill>
              <a:latin typeface="Bell MT" panose="02020503060305020303" pitchFamily="18" charset="0"/>
            </a:endParaRPr>
          </a:p>
        </p:txBody>
      </p:sp>
      <p:sp>
        <p:nvSpPr>
          <p:cNvPr id="12" name="Text Placeholder 11">
            <a:extLst>
              <a:ext uri="{FF2B5EF4-FFF2-40B4-BE49-F238E27FC236}">
                <a16:creationId xmlns:a16="http://schemas.microsoft.com/office/drawing/2014/main" id="{5D6ACA22-9895-8DEB-5F22-F4A7A2F624CC}"/>
              </a:ext>
            </a:extLst>
          </p:cNvPr>
          <p:cNvSpPr>
            <a:spLocks noGrp="1"/>
          </p:cNvSpPr>
          <p:nvPr>
            <p:ph type="body" idx="1"/>
          </p:nvPr>
        </p:nvSpPr>
        <p:spPr>
          <a:xfrm>
            <a:off x="102773" y="1074132"/>
            <a:ext cx="9098757" cy="4874000"/>
          </a:xfrm>
        </p:spPr>
        <p:txBody>
          <a:bodyPr vert="horz" lIns="109728" tIns="109728" rIns="109728" bIns="91440" rtlCol="0" anchor="t">
            <a:noAutofit/>
          </a:bodyPr>
          <a:lstStyle/>
          <a:p>
            <a:pPr algn="l">
              <a:lnSpc>
                <a:spcPct val="140000"/>
              </a:lnSpc>
              <a:spcBef>
                <a:spcPts val="930"/>
              </a:spcBef>
            </a:pPr>
            <a:endParaRPr lang="en-US" dirty="0">
              <a:solidFill>
                <a:schemeClr val="tx1"/>
              </a:solidFill>
              <a:latin typeface="Bell MT" panose="02020503060305020303" pitchFamily="18" charset="0"/>
            </a:endParaRPr>
          </a:p>
          <a:p>
            <a:pPr algn="l">
              <a:lnSpc>
                <a:spcPct val="140000"/>
              </a:lnSpc>
              <a:spcBef>
                <a:spcPts val="930"/>
              </a:spcBef>
            </a:pPr>
            <a:r>
              <a:rPr lang="en-US" dirty="0">
                <a:solidFill>
                  <a:schemeClr val="tx1"/>
                </a:solidFill>
                <a:latin typeface="Bell MT" panose="02020503060305020303" pitchFamily="18" charset="0"/>
              </a:rPr>
              <a:t>By working with multiple tables, I explored product performance, seasonal sales trends, and how store location or age might affect results. </a:t>
            </a:r>
          </a:p>
          <a:p>
            <a:pPr algn="l">
              <a:lnSpc>
                <a:spcPct val="140000"/>
              </a:lnSpc>
              <a:spcBef>
                <a:spcPts val="930"/>
              </a:spcBef>
            </a:pPr>
            <a:r>
              <a:rPr lang="en-US" b="1" dirty="0">
                <a:solidFill>
                  <a:schemeClr val="tx1"/>
                </a:solidFill>
                <a:latin typeface="Bell MT" panose="02020503060305020303" pitchFamily="18" charset="0"/>
              </a:rPr>
              <a:t>The goal </a:t>
            </a:r>
            <a:r>
              <a:rPr lang="en-US" dirty="0">
                <a:solidFill>
                  <a:schemeClr val="tx1"/>
                </a:solidFill>
                <a:latin typeface="Bell MT" panose="02020503060305020303" pitchFamily="18" charset="0"/>
              </a:rPr>
              <a:t>is to give a full picture of what drives sales and how the business can grow more effectively.</a:t>
            </a:r>
          </a:p>
          <a:p>
            <a:pPr algn="l">
              <a:lnSpc>
                <a:spcPct val="140000"/>
              </a:lnSpc>
              <a:spcBef>
                <a:spcPts val="930"/>
              </a:spcBef>
            </a:pPr>
            <a:r>
              <a:rPr lang="en-US" dirty="0">
                <a:solidFill>
                  <a:schemeClr val="tx1"/>
                </a:solidFill>
                <a:latin typeface="Bell MT" panose="02020503060305020303" pitchFamily="18" charset="0"/>
              </a:rPr>
              <a:t> </a:t>
            </a:r>
          </a:p>
        </p:txBody>
      </p:sp>
      <p:sp>
        <p:nvSpPr>
          <p:cNvPr id="54" name="Rectangle 53">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9201530"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1DF095C-665A-4B22-A777-D3196F4951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2" y="1052464"/>
            <a:ext cx="3027528" cy="5115151"/>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1420" y="6167615"/>
            <a:ext cx="3027529"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loudy oil paint art">
            <a:extLst>
              <a:ext uri="{FF2B5EF4-FFF2-40B4-BE49-F238E27FC236}">
                <a16:creationId xmlns:a16="http://schemas.microsoft.com/office/drawing/2014/main" id="{11485D26-F6AD-9EAD-306D-7A891A1488D3}"/>
              </a:ext>
            </a:extLst>
          </p:cNvPr>
          <p:cNvPicPr>
            <a:picLocks noChangeAspect="1"/>
          </p:cNvPicPr>
          <p:nvPr/>
        </p:nvPicPr>
        <p:blipFill>
          <a:blip r:embed="rId3"/>
          <a:srcRect t="7865" b="7865"/>
          <a:stretch>
            <a:fillRect/>
          </a:stretch>
        </p:blipFill>
        <p:spPr>
          <a:xfrm>
            <a:off x="9181902" y="1088546"/>
            <a:ext cx="3027529" cy="5020972"/>
          </a:xfrm>
          <a:prstGeom prst="rect">
            <a:avLst/>
          </a:prstGeom>
        </p:spPr>
      </p:pic>
    </p:spTree>
    <p:extLst>
      <p:ext uri="{BB962C8B-B14F-4D97-AF65-F5344CB8AC3E}">
        <p14:creationId xmlns:p14="http://schemas.microsoft.com/office/powerpoint/2010/main" val="2413977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96C3548-B0B3-702E-976E-1A93674BD1E4}"/>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ED2EFA61-6B22-0920-5A6C-67357CB1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7">
            <a:extLst>
              <a:ext uri="{FF2B5EF4-FFF2-40B4-BE49-F238E27FC236}">
                <a16:creationId xmlns:a16="http://schemas.microsoft.com/office/drawing/2014/main" id="{1CAAEC95-F0D1-2D6A-E0F7-E318F6458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46" name="Rectangle 45">
            <a:extLst>
              <a:ext uri="{FF2B5EF4-FFF2-40B4-BE49-F238E27FC236}">
                <a16:creationId xmlns:a16="http://schemas.microsoft.com/office/drawing/2014/main" id="{BA453C36-40E0-8E1B-C98D-874FC1603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B9CC68F9-4A8F-E174-A64B-B2086F7EC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99F73012-B91F-A73C-F082-0EA1B85F5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1" y="0"/>
            <a:ext cx="3027529"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22F8229-B59F-41E3-A619-6F1C13427E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9158373"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6A82C99B-C5ED-0ECE-F40B-2210712E9214}"/>
              </a:ext>
            </a:extLst>
          </p:cNvPr>
          <p:cNvSpPr>
            <a:spLocks noGrp="1"/>
          </p:cNvSpPr>
          <p:nvPr>
            <p:ph type="title"/>
          </p:nvPr>
        </p:nvSpPr>
        <p:spPr>
          <a:xfrm>
            <a:off x="542609" y="349908"/>
            <a:ext cx="3762691" cy="679123"/>
          </a:xfrm>
        </p:spPr>
        <p:txBody>
          <a:bodyPr vert="horz" lIns="109728" tIns="109728" rIns="109728" bIns="91440" rtlCol="0" anchor="b">
            <a:normAutofit fontScale="90000"/>
          </a:bodyPr>
          <a:lstStyle/>
          <a:p>
            <a:pPr algn="l"/>
            <a:r>
              <a:rPr lang="en-US" sz="3600" cap="all" dirty="0">
                <a:solidFill>
                  <a:schemeClr val="tx2"/>
                </a:solidFill>
                <a:latin typeface="Bell MT" panose="02020503060305020303" pitchFamily="18" charset="0"/>
              </a:rPr>
              <a:t>OBJECTIVES</a:t>
            </a:r>
            <a:endParaRPr lang="en-US" sz="6600" cap="all" dirty="0">
              <a:solidFill>
                <a:schemeClr val="tx2"/>
              </a:solidFill>
              <a:latin typeface="Bell MT" panose="02020503060305020303" pitchFamily="18" charset="0"/>
            </a:endParaRPr>
          </a:p>
        </p:txBody>
      </p:sp>
      <p:sp>
        <p:nvSpPr>
          <p:cNvPr id="12" name="Text Placeholder 11">
            <a:extLst>
              <a:ext uri="{FF2B5EF4-FFF2-40B4-BE49-F238E27FC236}">
                <a16:creationId xmlns:a16="http://schemas.microsoft.com/office/drawing/2014/main" id="{84CC81FC-5D85-EF0E-07AC-47C781D99FFB}"/>
              </a:ext>
            </a:extLst>
          </p:cNvPr>
          <p:cNvSpPr>
            <a:spLocks noGrp="1"/>
          </p:cNvSpPr>
          <p:nvPr>
            <p:ph type="body" idx="1"/>
          </p:nvPr>
        </p:nvSpPr>
        <p:spPr>
          <a:xfrm>
            <a:off x="102773" y="1074132"/>
            <a:ext cx="9098757" cy="4874000"/>
          </a:xfrm>
        </p:spPr>
        <p:txBody>
          <a:bodyPr vert="horz" lIns="109728" tIns="109728" rIns="109728" bIns="91440" rtlCol="0" anchor="t">
            <a:noAutofit/>
          </a:bodyPr>
          <a:lstStyle/>
          <a:p>
            <a:pPr algn="l">
              <a:lnSpc>
                <a:spcPct val="140000"/>
              </a:lnSpc>
              <a:spcBef>
                <a:spcPts val="930"/>
              </a:spcBef>
            </a:pPr>
            <a:r>
              <a:rPr lang="en-US" sz="1800" dirty="0">
                <a:solidFill>
                  <a:schemeClr val="tx1"/>
                </a:solidFill>
                <a:latin typeface="Bell MT" panose="02020503060305020303" pitchFamily="18" charset="0"/>
              </a:rPr>
              <a:t>•Identify top-selling and underperforming products to improve inventory planning.</a:t>
            </a:r>
            <a:br>
              <a:rPr lang="en-US" sz="1800" dirty="0">
                <a:solidFill>
                  <a:schemeClr val="tx1"/>
                </a:solidFill>
                <a:latin typeface="Bell MT" panose="02020503060305020303" pitchFamily="18" charset="0"/>
              </a:rPr>
            </a:br>
            <a:r>
              <a:rPr lang="en-US" sz="1800" dirty="0">
                <a:solidFill>
                  <a:schemeClr val="tx1"/>
                </a:solidFill>
                <a:latin typeface="Bell MT" panose="02020503060305020303" pitchFamily="18" charset="0"/>
              </a:rPr>
              <a:t>•Analyze revenue and profit trends across products, categories, and stores.</a:t>
            </a:r>
          </a:p>
          <a:p>
            <a:pPr algn="l">
              <a:lnSpc>
                <a:spcPct val="140000"/>
              </a:lnSpc>
              <a:spcBef>
                <a:spcPts val="930"/>
              </a:spcBef>
            </a:pPr>
            <a:r>
              <a:rPr lang="en-US" sz="1800" dirty="0">
                <a:solidFill>
                  <a:schemeClr val="tx1"/>
                </a:solidFill>
                <a:latin typeface="Bell MT" panose="02020503060305020303" pitchFamily="18" charset="0"/>
              </a:rPr>
              <a:t>•Measure product performance drivers such as price, location, and category.</a:t>
            </a:r>
          </a:p>
          <a:p>
            <a:pPr algn="l">
              <a:lnSpc>
                <a:spcPct val="140000"/>
              </a:lnSpc>
              <a:spcBef>
                <a:spcPts val="930"/>
              </a:spcBef>
            </a:pPr>
            <a:r>
              <a:rPr lang="en-US" sz="1800" dirty="0">
                <a:solidFill>
                  <a:schemeClr val="tx1"/>
                </a:solidFill>
                <a:latin typeface="Bell MT" panose="02020503060305020303" pitchFamily="18" charset="0"/>
              </a:rPr>
              <a:t>•Investigate inventory levels to find products that are overstocked or selling slowly.</a:t>
            </a:r>
          </a:p>
          <a:p>
            <a:pPr algn="l">
              <a:lnSpc>
                <a:spcPct val="140000"/>
              </a:lnSpc>
              <a:spcBef>
                <a:spcPts val="930"/>
              </a:spcBef>
            </a:pPr>
            <a:r>
              <a:rPr lang="en-US" sz="1800" dirty="0">
                <a:solidFill>
                  <a:schemeClr val="tx1"/>
                </a:solidFill>
                <a:latin typeface="Bell MT" panose="02020503060305020303" pitchFamily="18" charset="0"/>
              </a:rPr>
              <a:t>•Understand how store age, location, and product category influence performance.</a:t>
            </a:r>
          </a:p>
          <a:p>
            <a:pPr algn="l">
              <a:lnSpc>
                <a:spcPct val="140000"/>
              </a:lnSpc>
              <a:spcBef>
                <a:spcPts val="930"/>
              </a:spcBef>
            </a:pPr>
            <a:r>
              <a:rPr lang="en-US" sz="1800" dirty="0">
                <a:solidFill>
                  <a:schemeClr val="tx1"/>
                </a:solidFill>
                <a:latin typeface="Bell MT" panose="02020503060305020303" pitchFamily="18" charset="0"/>
              </a:rPr>
              <a:t>•Explore time-based patterns (daily, monthly, seasonal) to guide pricing, stocking, and promotion strategies.</a:t>
            </a:r>
          </a:p>
          <a:p>
            <a:pPr algn="l">
              <a:lnSpc>
                <a:spcPct val="140000"/>
              </a:lnSpc>
              <a:spcBef>
                <a:spcPts val="930"/>
              </a:spcBef>
            </a:pPr>
            <a:endParaRPr lang="en-US" sz="1800" dirty="0">
              <a:solidFill>
                <a:schemeClr val="tx1"/>
              </a:solidFill>
              <a:latin typeface="Bell MT" panose="02020503060305020303" pitchFamily="18" charset="0"/>
            </a:endParaRPr>
          </a:p>
          <a:p>
            <a:pPr algn="l">
              <a:lnSpc>
                <a:spcPct val="140000"/>
              </a:lnSpc>
              <a:spcBef>
                <a:spcPts val="930"/>
              </a:spcBef>
            </a:pPr>
            <a:endParaRPr lang="en-US" sz="1800" dirty="0">
              <a:solidFill>
                <a:schemeClr val="tx1"/>
              </a:solidFill>
              <a:latin typeface="Bell MT" panose="02020503060305020303" pitchFamily="18" charset="0"/>
            </a:endParaRPr>
          </a:p>
        </p:txBody>
      </p:sp>
      <p:sp>
        <p:nvSpPr>
          <p:cNvPr id="54" name="Rectangle 53">
            <a:extLst>
              <a:ext uri="{FF2B5EF4-FFF2-40B4-BE49-F238E27FC236}">
                <a16:creationId xmlns:a16="http://schemas.microsoft.com/office/drawing/2014/main" id="{239ACDCA-D663-BE80-64EF-A5F08076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9201530"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423CE80-DE98-5568-4745-DCFD1283A4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2" y="1052464"/>
            <a:ext cx="3027528" cy="5115151"/>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EC1F3F5-941B-9A59-8933-AFF013141F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A5AF4D91-459F-F01E-C2EB-D18604F7A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1420" y="6167615"/>
            <a:ext cx="3027529"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10130E5-FF33-176B-3C17-3530F23BD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0C854B57-1306-EFA3-17CC-DD5193841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loudy oil paint art">
            <a:extLst>
              <a:ext uri="{FF2B5EF4-FFF2-40B4-BE49-F238E27FC236}">
                <a16:creationId xmlns:a16="http://schemas.microsoft.com/office/drawing/2014/main" id="{AECEE86E-53A6-3CF4-3FF9-7054A17DBE0E}"/>
              </a:ext>
            </a:extLst>
          </p:cNvPr>
          <p:cNvPicPr>
            <a:picLocks noChangeAspect="1"/>
          </p:cNvPicPr>
          <p:nvPr/>
        </p:nvPicPr>
        <p:blipFill>
          <a:blip r:embed="rId3"/>
          <a:srcRect t="7865" b="7865"/>
          <a:stretch>
            <a:fillRect/>
          </a:stretch>
        </p:blipFill>
        <p:spPr>
          <a:xfrm>
            <a:off x="9181902" y="1088546"/>
            <a:ext cx="3027529" cy="5020972"/>
          </a:xfrm>
          <a:prstGeom prst="rect">
            <a:avLst/>
          </a:prstGeom>
        </p:spPr>
      </p:pic>
    </p:spTree>
    <p:extLst>
      <p:ext uri="{BB962C8B-B14F-4D97-AF65-F5344CB8AC3E}">
        <p14:creationId xmlns:p14="http://schemas.microsoft.com/office/powerpoint/2010/main" val="974090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B1AE8B7-7F9B-A1EF-D0BE-F0A3A917A407}"/>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50CA7DF-4941-38BB-AB89-EA254BC98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7">
            <a:extLst>
              <a:ext uri="{FF2B5EF4-FFF2-40B4-BE49-F238E27FC236}">
                <a16:creationId xmlns:a16="http://schemas.microsoft.com/office/drawing/2014/main" id="{3595F1A2-9DEF-0B4E-91EA-C59FBCA5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46" name="Rectangle 45">
            <a:extLst>
              <a:ext uri="{FF2B5EF4-FFF2-40B4-BE49-F238E27FC236}">
                <a16:creationId xmlns:a16="http://schemas.microsoft.com/office/drawing/2014/main" id="{A0063058-0DBC-97E5-50E2-E1E8E74C1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75900AF2-D647-C4C7-2CD0-9AA18E76E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A8E675F9-EEB0-2884-9F99-5A998B4E9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1" y="0"/>
            <a:ext cx="3027529"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6BA587F-9C2A-7DF2-27C5-E48B32AE1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9158373"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89184042-F317-F1BB-D3A0-A20C78E6902F}"/>
              </a:ext>
            </a:extLst>
          </p:cNvPr>
          <p:cNvSpPr>
            <a:spLocks noGrp="1"/>
          </p:cNvSpPr>
          <p:nvPr>
            <p:ph type="title"/>
          </p:nvPr>
        </p:nvSpPr>
        <p:spPr>
          <a:xfrm>
            <a:off x="371158" y="526198"/>
            <a:ext cx="7591742" cy="505300"/>
          </a:xfrm>
        </p:spPr>
        <p:txBody>
          <a:bodyPr vert="horz" lIns="109728" tIns="109728" rIns="109728" bIns="91440" rtlCol="0" anchor="b">
            <a:normAutofit fontScale="90000"/>
          </a:bodyPr>
          <a:lstStyle/>
          <a:p>
            <a:pPr algn="l"/>
            <a:r>
              <a:rPr lang="en-US" sz="3600" cap="all" dirty="0">
                <a:solidFill>
                  <a:schemeClr val="tx2"/>
                </a:solidFill>
                <a:latin typeface="Bell MT" panose="02020503060305020303" pitchFamily="18" charset="0"/>
              </a:rPr>
              <a:t>KEY PERFORMANCE INDICATORS</a:t>
            </a:r>
            <a:endParaRPr lang="en-US" sz="6600" cap="all" dirty="0">
              <a:solidFill>
                <a:schemeClr val="tx2"/>
              </a:solidFill>
              <a:latin typeface="Bell MT" panose="02020503060305020303" pitchFamily="18" charset="0"/>
            </a:endParaRPr>
          </a:p>
        </p:txBody>
      </p:sp>
      <p:sp>
        <p:nvSpPr>
          <p:cNvPr id="54" name="Rectangle 53">
            <a:extLst>
              <a:ext uri="{FF2B5EF4-FFF2-40B4-BE49-F238E27FC236}">
                <a16:creationId xmlns:a16="http://schemas.microsoft.com/office/drawing/2014/main" id="{50533284-0ACF-D48C-229B-60DD56B81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9201530"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1460ABD9-38C3-18AC-A50E-D4C3275A8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2" y="1052464"/>
            <a:ext cx="3027528" cy="5115151"/>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96AE0F9-7625-EB08-B630-00F90C5EF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D3D5EEF-3592-0C2D-FFE9-B9C989764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1420" y="6167615"/>
            <a:ext cx="3027529"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98910811-8804-48AD-3B91-9B871B9C8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06D3B979-9DBB-A718-64B0-D98CDE6CB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loudy oil paint art">
            <a:extLst>
              <a:ext uri="{FF2B5EF4-FFF2-40B4-BE49-F238E27FC236}">
                <a16:creationId xmlns:a16="http://schemas.microsoft.com/office/drawing/2014/main" id="{4E7DBA7D-55AA-20F6-F7DA-03C0317D8A08}"/>
              </a:ext>
            </a:extLst>
          </p:cNvPr>
          <p:cNvPicPr>
            <a:picLocks noChangeAspect="1"/>
          </p:cNvPicPr>
          <p:nvPr/>
        </p:nvPicPr>
        <p:blipFill>
          <a:blip r:embed="rId3"/>
          <a:srcRect t="7865" b="7865"/>
          <a:stretch>
            <a:fillRect/>
          </a:stretch>
        </p:blipFill>
        <p:spPr>
          <a:xfrm>
            <a:off x="9181902" y="1088546"/>
            <a:ext cx="3027529" cy="5020972"/>
          </a:xfrm>
          <a:prstGeom prst="rect">
            <a:avLst/>
          </a:prstGeom>
        </p:spPr>
      </p:pic>
      <p:pic>
        <p:nvPicPr>
          <p:cNvPr id="7" name="Picture 6">
            <a:extLst>
              <a:ext uri="{FF2B5EF4-FFF2-40B4-BE49-F238E27FC236}">
                <a16:creationId xmlns:a16="http://schemas.microsoft.com/office/drawing/2014/main" id="{FA1F4FEE-1B8B-D6F3-D732-000337B2D8B6}"/>
              </a:ext>
            </a:extLst>
          </p:cNvPr>
          <p:cNvPicPr>
            <a:picLocks noChangeAspect="1"/>
          </p:cNvPicPr>
          <p:nvPr/>
        </p:nvPicPr>
        <p:blipFill>
          <a:blip r:embed="rId4"/>
          <a:stretch>
            <a:fillRect/>
          </a:stretch>
        </p:blipFill>
        <p:spPr>
          <a:xfrm>
            <a:off x="103188" y="1101456"/>
            <a:ext cx="12085762" cy="1924273"/>
          </a:xfrm>
          <a:prstGeom prst="rect">
            <a:avLst/>
          </a:prstGeom>
        </p:spPr>
      </p:pic>
      <p:graphicFrame>
        <p:nvGraphicFramePr>
          <p:cNvPr id="68" name="Rectangle 1">
            <a:extLst>
              <a:ext uri="{FF2B5EF4-FFF2-40B4-BE49-F238E27FC236}">
                <a16:creationId xmlns:a16="http://schemas.microsoft.com/office/drawing/2014/main" id="{A15537D2-E20A-F92B-0C97-E9421E09C6A4}"/>
              </a:ext>
            </a:extLst>
          </p:cNvPr>
          <p:cNvGraphicFramePr/>
          <p:nvPr>
            <p:extLst>
              <p:ext uri="{D42A27DB-BD31-4B8C-83A1-F6EECF244321}">
                <p14:modId xmlns:p14="http://schemas.microsoft.com/office/powerpoint/2010/main" val="2759004287"/>
              </p:ext>
            </p:extLst>
          </p:nvPr>
        </p:nvGraphicFramePr>
        <p:xfrm>
          <a:off x="195072" y="3089737"/>
          <a:ext cx="8931489" cy="29586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77330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4B17C9F-46B6-321E-76F6-F18F53A4472F}"/>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75" name="Rectangle 74">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7" name="Rectangle 76">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0"/>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7582419"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6690B2CF-1492-B27E-C3E5-DC1D06C514C4}"/>
              </a:ext>
            </a:extLst>
          </p:cNvPr>
          <p:cNvSpPr>
            <a:spLocks noGrp="1"/>
          </p:cNvSpPr>
          <p:nvPr>
            <p:ph type="title"/>
          </p:nvPr>
        </p:nvSpPr>
        <p:spPr>
          <a:xfrm>
            <a:off x="1139589" y="1709530"/>
            <a:ext cx="5837464" cy="3311479"/>
          </a:xfrm>
        </p:spPr>
        <p:txBody>
          <a:bodyPr vert="horz" lIns="109728" tIns="109728" rIns="109728" bIns="91440" rtlCol="0" anchor="b">
            <a:normAutofit/>
          </a:bodyPr>
          <a:lstStyle/>
          <a:p>
            <a:pPr algn="l"/>
            <a:r>
              <a:rPr lang="en-US" sz="5600" b="0" cap="all" dirty="0">
                <a:solidFill>
                  <a:schemeClr val="tx2"/>
                </a:solidFill>
              </a:rPr>
              <a:t>KEY BUSINESS QUESTIONS</a:t>
            </a:r>
          </a:p>
        </p:txBody>
      </p:sp>
      <p:pic>
        <p:nvPicPr>
          <p:cNvPr id="2" name="Picture 1" descr="Cloudy oil paint art">
            <a:extLst>
              <a:ext uri="{FF2B5EF4-FFF2-40B4-BE49-F238E27FC236}">
                <a16:creationId xmlns:a16="http://schemas.microsoft.com/office/drawing/2014/main" id="{8B3E7465-C2C8-F4D6-348F-AC52AAC3FF17}"/>
              </a:ext>
            </a:extLst>
          </p:cNvPr>
          <p:cNvPicPr>
            <a:picLocks noChangeAspect="1"/>
          </p:cNvPicPr>
          <p:nvPr/>
        </p:nvPicPr>
        <p:blipFill>
          <a:blip r:embed="rId3"/>
          <a:srcRect r="39349" b="-1"/>
          <a:stretch>
            <a:fillRect/>
          </a:stretch>
        </p:blipFill>
        <p:spPr>
          <a:xfrm>
            <a:off x="7585467" y="1074544"/>
            <a:ext cx="4606533" cy="5069861"/>
          </a:xfrm>
          <a:prstGeom prst="rect">
            <a:avLst/>
          </a:prstGeom>
        </p:spPr>
      </p:pic>
      <p:sp>
        <p:nvSpPr>
          <p:cNvPr id="83" name="Rectangle 82">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6" name="Text Placeholder 11">
            <a:extLst>
              <a:ext uri="{FF2B5EF4-FFF2-40B4-BE49-F238E27FC236}">
                <a16:creationId xmlns:a16="http://schemas.microsoft.com/office/drawing/2014/main" id="{FD332811-4465-8D97-8CA4-AB886AAEF0F4}"/>
              </a:ext>
            </a:extLst>
          </p:cNvPr>
          <p:cNvGraphicFramePr/>
          <p:nvPr>
            <p:extLst>
              <p:ext uri="{D42A27DB-BD31-4B8C-83A1-F6EECF244321}">
                <p14:modId xmlns:p14="http://schemas.microsoft.com/office/powerpoint/2010/main" val="1012093063"/>
              </p:ext>
            </p:extLst>
          </p:nvPr>
        </p:nvGraphicFramePr>
        <p:xfrm>
          <a:off x="0" y="1095507"/>
          <a:ext cx="9154951" cy="55624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E6E581F-735B-2040-8BAA-E5EB65B0C7F4}"/>
              </a:ext>
            </a:extLst>
          </p:cNvPr>
          <p:cNvSpPr txBox="1"/>
          <p:nvPr/>
        </p:nvSpPr>
        <p:spPr>
          <a:xfrm>
            <a:off x="261257" y="391511"/>
            <a:ext cx="6159640" cy="584775"/>
          </a:xfrm>
          <a:prstGeom prst="rect">
            <a:avLst/>
          </a:prstGeom>
          <a:noFill/>
        </p:spPr>
        <p:txBody>
          <a:bodyPr wrap="square" rtlCol="0">
            <a:spAutoFit/>
          </a:bodyPr>
          <a:lstStyle/>
          <a:p>
            <a:r>
              <a:rPr kumimoji="0" lang="en-US" sz="3200" b="1" i="0" u="none" strike="noStrike" kern="1200" cap="all" spc="150" normalizeH="0" baseline="0" noProof="0">
                <a:ln>
                  <a:noFill/>
                </a:ln>
                <a:solidFill>
                  <a:srgbClr val="595460"/>
                </a:solidFill>
                <a:effectLst/>
                <a:uLnTx/>
                <a:uFillTx/>
                <a:latin typeface="Bell MT" panose="02020503060305020303" pitchFamily="18" charset="0"/>
                <a:ea typeface="+mj-ea"/>
                <a:cs typeface="+mj-cs"/>
              </a:rPr>
              <a:t>KEY BUSINESS QUESTIONS</a:t>
            </a:r>
            <a:endParaRPr lang="en-US" dirty="0"/>
          </a:p>
        </p:txBody>
      </p:sp>
    </p:spTree>
    <p:extLst>
      <p:ext uri="{BB962C8B-B14F-4D97-AF65-F5344CB8AC3E}">
        <p14:creationId xmlns:p14="http://schemas.microsoft.com/office/powerpoint/2010/main" val="2441533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F3999E-2B0B-4272-2DBA-0159C5DEB561}"/>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C3DF56D-8097-1AFB-531A-6FE8CA54B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7">
            <a:extLst>
              <a:ext uri="{FF2B5EF4-FFF2-40B4-BE49-F238E27FC236}">
                <a16:creationId xmlns:a16="http://schemas.microsoft.com/office/drawing/2014/main" id="{B069EAD8-5F60-7701-36AB-7CE43D4FD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46" name="Rectangle 45">
            <a:extLst>
              <a:ext uri="{FF2B5EF4-FFF2-40B4-BE49-F238E27FC236}">
                <a16:creationId xmlns:a16="http://schemas.microsoft.com/office/drawing/2014/main" id="{E3E794F8-7869-B5E4-127F-141872F571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359F1628-FBF9-D6F8-5D9C-A75664DED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2C773E5F-C88F-BD97-E015-5C0D1B4D9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1" y="0"/>
            <a:ext cx="3027529"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8FF935C-E156-4D9F-7A6C-10544D6D5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9158373"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06FD8E49-AC0C-297D-4B9A-BF925A262B67}"/>
              </a:ext>
            </a:extLst>
          </p:cNvPr>
          <p:cNvSpPr>
            <a:spLocks noGrp="1"/>
          </p:cNvSpPr>
          <p:nvPr>
            <p:ph type="title"/>
          </p:nvPr>
        </p:nvSpPr>
        <p:spPr>
          <a:xfrm>
            <a:off x="542609" y="392540"/>
            <a:ext cx="6315387" cy="636491"/>
          </a:xfrm>
        </p:spPr>
        <p:txBody>
          <a:bodyPr vert="horz" lIns="109728" tIns="109728" rIns="109728" bIns="91440" rtlCol="0" anchor="b">
            <a:normAutofit fontScale="90000"/>
          </a:bodyPr>
          <a:lstStyle/>
          <a:p>
            <a:pPr algn="l"/>
            <a:r>
              <a:rPr lang="en-US" sz="3600" cap="all">
                <a:solidFill>
                  <a:schemeClr val="tx2"/>
                </a:solidFill>
                <a:latin typeface="Bell MT" panose="02020503060305020303" pitchFamily="18" charset="0"/>
              </a:rPr>
              <a:t>KEY BUSINESS QUESTIONS</a:t>
            </a:r>
            <a:endParaRPr lang="en-US" sz="6600" cap="all" dirty="0">
              <a:solidFill>
                <a:schemeClr val="tx2"/>
              </a:solidFill>
              <a:latin typeface="Bell MT" panose="02020503060305020303" pitchFamily="18" charset="0"/>
            </a:endParaRPr>
          </a:p>
        </p:txBody>
      </p:sp>
      <p:sp>
        <p:nvSpPr>
          <p:cNvPr id="54" name="Rectangle 53">
            <a:extLst>
              <a:ext uri="{FF2B5EF4-FFF2-40B4-BE49-F238E27FC236}">
                <a16:creationId xmlns:a16="http://schemas.microsoft.com/office/drawing/2014/main" id="{F18A9136-4716-92A5-16CE-C16AF2CEA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9201530"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D4D655-FEDD-7D85-307A-4357E9797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4472" y="1052464"/>
            <a:ext cx="3027528" cy="5115151"/>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35FC7A0-8522-9E0D-A72B-CFB10AD73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006CE07-71E3-48A9-5D1C-D276F5D53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1420" y="6167615"/>
            <a:ext cx="3027529"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5E66E55-D0B3-8442-60F0-0B4008739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FB0D6BA-65D6-057E-A341-94F7A3CB7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loudy oil paint art">
            <a:extLst>
              <a:ext uri="{FF2B5EF4-FFF2-40B4-BE49-F238E27FC236}">
                <a16:creationId xmlns:a16="http://schemas.microsoft.com/office/drawing/2014/main" id="{2E397FFC-5F61-951F-E08B-0DDAA1B7AA63}"/>
              </a:ext>
            </a:extLst>
          </p:cNvPr>
          <p:cNvPicPr>
            <a:picLocks noChangeAspect="1"/>
          </p:cNvPicPr>
          <p:nvPr/>
        </p:nvPicPr>
        <p:blipFill>
          <a:blip r:embed="rId3"/>
          <a:srcRect t="7865" b="7865"/>
          <a:stretch>
            <a:fillRect/>
          </a:stretch>
        </p:blipFill>
        <p:spPr>
          <a:xfrm>
            <a:off x="9181902" y="1088546"/>
            <a:ext cx="3027529" cy="5020972"/>
          </a:xfrm>
          <a:prstGeom prst="rect">
            <a:avLst/>
          </a:prstGeom>
        </p:spPr>
      </p:pic>
      <p:graphicFrame>
        <p:nvGraphicFramePr>
          <p:cNvPr id="68" name="Text Placeholder 11">
            <a:extLst>
              <a:ext uri="{FF2B5EF4-FFF2-40B4-BE49-F238E27FC236}">
                <a16:creationId xmlns:a16="http://schemas.microsoft.com/office/drawing/2014/main" id="{94CA23F3-71E9-714C-B0E3-6709F1F06DD6}"/>
              </a:ext>
            </a:extLst>
          </p:cNvPr>
          <p:cNvGraphicFramePr/>
          <p:nvPr>
            <p:extLst>
              <p:ext uri="{D42A27DB-BD31-4B8C-83A1-F6EECF244321}">
                <p14:modId xmlns:p14="http://schemas.microsoft.com/office/powerpoint/2010/main" val="1024260490"/>
              </p:ext>
            </p:extLst>
          </p:nvPr>
        </p:nvGraphicFramePr>
        <p:xfrm>
          <a:off x="175018" y="920553"/>
          <a:ext cx="8851493" cy="50168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36643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18D63F7-C6C9-FC52-106C-AE7A66255853}"/>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21E73781-3558-B534-8991-3EB18A25319C}"/>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BE084872-4202-7BE7-DCB0-8ECF0A5F4698}"/>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550410F2-25BA-B5D9-CF52-10FDC4A734F8}"/>
              </a:ext>
            </a:extLst>
          </p:cNvPr>
          <p:cNvSpPr>
            <a:spLocks noGrp="1"/>
          </p:cNvSpPr>
          <p:nvPr>
            <p:ph type="body" idx="1"/>
          </p:nvPr>
        </p:nvSpPr>
        <p:spPr>
          <a:xfrm>
            <a:off x="50242" y="1118848"/>
            <a:ext cx="11802647"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products generate the most profit? </a:t>
            </a:r>
          </a:p>
          <a:p>
            <a:endParaRPr lang="en-US" dirty="0"/>
          </a:p>
        </p:txBody>
      </p:sp>
      <p:sp>
        <p:nvSpPr>
          <p:cNvPr id="5" name="TextBox 4">
            <a:extLst>
              <a:ext uri="{FF2B5EF4-FFF2-40B4-BE49-F238E27FC236}">
                <a16:creationId xmlns:a16="http://schemas.microsoft.com/office/drawing/2014/main" id="{E11DD710-D628-8A06-3BB4-009A54062A59}"/>
              </a:ext>
            </a:extLst>
          </p:cNvPr>
          <p:cNvSpPr txBox="1"/>
          <p:nvPr/>
        </p:nvSpPr>
        <p:spPr>
          <a:xfrm>
            <a:off x="5423898" y="1779687"/>
            <a:ext cx="6717859" cy="5078313"/>
          </a:xfrm>
          <a:prstGeom prst="rect">
            <a:avLst/>
          </a:prstGeom>
          <a:noFill/>
        </p:spPr>
        <p:txBody>
          <a:bodyPr wrap="square" rtlCol="0">
            <a:spAutoFit/>
          </a:bodyPr>
          <a:lstStyle/>
          <a:p>
            <a:r>
              <a:rPr lang="en-US" b="1" dirty="0">
                <a:latin typeface="Bell MT" panose="02020503060305020303" pitchFamily="18" charset="0"/>
              </a:rPr>
              <a:t>Finding: </a:t>
            </a:r>
          </a:p>
          <a:p>
            <a:pPr marL="285750" lvl="0" indent="-285750">
              <a:buFont typeface="Arial" panose="020B0604020202020204" pitchFamily="34" charset="0"/>
              <a:buChar char="•"/>
            </a:pPr>
            <a:r>
              <a:rPr lang="en-US" b="1" dirty="0">
                <a:latin typeface="Bell MT" panose="02020503060305020303" pitchFamily="18" charset="0"/>
              </a:rPr>
              <a:t>Colorbuds</a:t>
            </a:r>
            <a:r>
              <a:rPr lang="en-US" dirty="0">
                <a:latin typeface="Bell MT" panose="02020503060305020303" pitchFamily="18" charset="0"/>
              </a:rPr>
              <a:t> generates the highest profit: </a:t>
            </a:r>
            <a:r>
              <a:rPr lang="en-US" b="1" dirty="0">
                <a:latin typeface="Bell MT" panose="02020503060305020303" pitchFamily="18" charset="0"/>
              </a:rPr>
              <a:t>$834.94K</a:t>
            </a:r>
            <a:r>
              <a:rPr lang="en-US" dirty="0">
                <a:latin typeface="Bell MT" panose="02020503060305020303" pitchFamily="18" charset="0"/>
              </a:rPr>
              <a:t> , significantly above all others.</a:t>
            </a:r>
          </a:p>
          <a:p>
            <a:pPr marL="285750" lvl="0" indent="-285750">
              <a:buFont typeface="Arial" panose="020B0604020202020204" pitchFamily="34" charset="0"/>
              <a:buChar char="•"/>
            </a:pPr>
            <a:r>
              <a:rPr lang="en-US" dirty="0">
                <a:latin typeface="Bell MT" panose="02020503060305020303" pitchFamily="18" charset="0"/>
              </a:rPr>
              <a:t>Followed by </a:t>
            </a:r>
            <a:r>
              <a:rPr lang="en-US" b="1" dirty="0">
                <a:latin typeface="Bell MT" panose="02020503060305020303" pitchFamily="18" charset="0"/>
              </a:rPr>
              <a:t>Action Figure</a:t>
            </a:r>
            <a:r>
              <a:rPr lang="en-US" dirty="0">
                <a:latin typeface="Bell MT" panose="02020503060305020303" pitchFamily="18" charset="0"/>
              </a:rPr>
              <a:t> ($347.75K) and </a:t>
            </a:r>
            <a:r>
              <a:rPr lang="en-US" b="1" dirty="0">
                <a:latin typeface="Bell MT" panose="02020503060305020303" pitchFamily="18" charset="0"/>
              </a:rPr>
              <a:t>Lego Bricks</a:t>
            </a:r>
            <a:r>
              <a:rPr lang="en-US" dirty="0">
                <a:latin typeface="Bell MT" panose="02020503060305020303" pitchFamily="18" charset="0"/>
              </a:rPr>
              <a:t> ($298.69K).</a:t>
            </a:r>
          </a:p>
          <a:p>
            <a:pPr marL="285750" lvl="0" indent="-285750">
              <a:buFont typeface="Arial" panose="020B0604020202020204" pitchFamily="34" charset="0"/>
              <a:buChar char="•"/>
            </a:pPr>
            <a:r>
              <a:rPr lang="en-US" dirty="0">
                <a:latin typeface="Bell MT" panose="02020503060305020303" pitchFamily="18" charset="0"/>
              </a:rPr>
              <a:t>Other top performers include </a:t>
            </a:r>
            <a:r>
              <a:rPr lang="en-US" b="1" dirty="0">
                <a:latin typeface="Bell MT" panose="02020503060305020303" pitchFamily="18" charset="0"/>
              </a:rPr>
              <a:t>Deck Of Cards</a:t>
            </a:r>
            <a:r>
              <a:rPr lang="en-US" dirty="0">
                <a:latin typeface="Bell MT" panose="02020503060305020303" pitchFamily="18" charset="0"/>
              </a:rPr>
              <a:t>, </a:t>
            </a:r>
            <a:r>
              <a:rPr lang="en-US" b="1" dirty="0">
                <a:latin typeface="Bell MT" panose="02020503060305020303" pitchFamily="18" charset="0"/>
              </a:rPr>
              <a:t>Glass Marbles</a:t>
            </a:r>
            <a:r>
              <a:rPr lang="en-US" dirty="0">
                <a:latin typeface="Bell MT" panose="02020503060305020303" pitchFamily="18" charset="0"/>
              </a:rPr>
              <a:t>, and </a:t>
            </a:r>
            <a:r>
              <a:rPr lang="en-US" b="1" dirty="0">
                <a:latin typeface="Bell MT" panose="02020503060305020303" pitchFamily="18" charset="0"/>
              </a:rPr>
              <a:t>Barrel O' Slime</a:t>
            </a:r>
            <a:r>
              <a:rPr lang="en-US" dirty="0">
                <a:latin typeface="Bell MT" panose="02020503060305020303" pitchFamily="18" charset="0"/>
              </a:rPr>
              <a:t>.</a:t>
            </a:r>
          </a:p>
          <a:p>
            <a:endParaRPr lang="en-US" dirty="0">
              <a:latin typeface="Bell MT" panose="02020503060305020303" pitchFamily="18" charset="0"/>
            </a:endParaRPr>
          </a:p>
          <a:p>
            <a:r>
              <a:rPr lang="en-US" b="1" dirty="0">
                <a:latin typeface="Bell MT" panose="02020503060305020303" pitchFamily="18" charset="0"/>
              </a:rPr>
              <a:t>Insight:</a:t>
            </a:r>
          </a:p>
          <a:p>
            <a:pPr marL="285750" lvl="0" indent="-285750">
              <a:buFont typeface="Arial" panose="020B0604020202020204" pitchFamily="34" charset="0"/>
              <a:buChar char="•"/>
            </a:pPr>
            <a:r>
              <a:rPr lang="en-US" b="1" dirty="0">
                <a:latin typeface="Bell MT" panose="02020503060305020303" pitchFamily="18" charset="0"/>
              </a:rPr>
              <a:t>Colorbuds</a:t>
            </a:r>
            <a:r>
              <a:rPr lang="en-US" dirty="0">
                <a:latin typeface="Bell MT" panose="02020503060305020303" pitchFamily="18" charset="0"/>
              </a:rPr>
              <a:t> stands out with exceptional profitability , suggesting high unit margin or volume.</a:t>
            </a:r>
          </a:p>
          <a:p>
            <a:pPr marL="285750" lvl="0" indent="-285750">
              <a:buFont typeface="Arial" panose="020B0604020202020204" pitchFamily="34" charset="0"/>
              <a:buChar char="•"/>
            </a:pPr>
            <a:r>
              <a:rPr lang="en-US" b="1" dirty="0">
                <a:latin typeface="Bell MT" panose="02020503060305020303" pitchFamily="18" charset="0"/>
              </a:rPr>
              <a:t>Toys</a:t>
            </a:r>
            <a:r>
              <a:rPr lang="en-US" dirty="0">
                <a:latin typeface="Bell MT" panose="02020503060305020303" pitchFamily="18" charset="0"/>
              </a:rPr>
              <a:t> like Action Figures and Lego Bricks deliver strong returns, reinforcing Toys as a high-value category.</a:t>
            </a:r>
          </a:p>
          <a:p>
            <a:pPr marL="285750" lvl="0" indent="-285750">
              <a:buFont typeface="Arial" panose="020B0604020202020204" pitchFamily="34" charset="0"/>
              <a:buChar char="•"/>
            </a:pPr>
            <a:r>
              <a:rPr lang="en-US" dirty="0">
                <a:latin typeface="Bell MT" panose="02020503060305020303" pitchFamily="18" charset="0"/>
              </a:rPr>
              <a:t>Some lower-cost items (Deck Of Cards, Glass Marbles) still drive solid profit - possibly due to high turnover.</a:t>
            </a:r>
          </a:p>
          <a:p>
            <a:pPr marL="285750" lvl="0" indent="-285750">
              <a:buFont typeface="Arial" panose="020B0604020202020204" pitchFamily="34" charset="0"/>
              <a:buChar char="•"/>
            </a:pPr>
            <a:r>
              <a:rPr lang="en-US" dirty="0">
                <a:latin typeface="Bell MT" panose="02020503060305020303" pitchFamily="18" charset="0"/>
              </a:rPr>
              <a:t>Profit leaders align closely with top-selling products, indicating healthy pricing strategies and demand.</a:t>
            </a:r>
          </a:p>
          <a:p>
            <a:endParaRPr lang="en-US" dirty="0">
              <a:latin typeface="Bell MT" panose="02020503060305020303" pitchFamily="18" charset="0"/>
            </a:endParaRPr>
          </a:p>
        </p:txBody>
      </p:sp>
      <p:sp>
        <p:nvSpPr>
          <p:cNvPr id="9" name="TextBox 8">
            <a:extLst>
              <a:ext uri="{FF2B5EF4-FFF2-40B4-BE49-F238E27FC236}">
                <a16:creationId xmlns:a16="http://schemas.microsoft.com/office/drawing/2014/main" id="{6B5FFCC1-F454-68FB-8D34-45E58AED58A4}"/>
              </a:ext>
            </a:extLst>
          </p:cNvPr>
          <p:cNvSpPr txBox="1"/>
          <p:nvPr/>
        </p:nvSpPr>
        <p:spPr>
          <a:xfrm>
            <a:off x="223597" y="1844560"/>
            <a:ext cx="4753645" cy="3806951"/>
          </a:xfrm>
          <a:prstGeom prst="rect">
            <a:avLst/>
          </a:prstGeom>
          <a:solidFill>
            <a:srgbClr val="454452"/>
          </a:solidFill>
        </p:spPr>
        <p:txBody>
          <a:bodyPr wrap="square" rtlCol="0">
            <a:spAutoFit/>
          </a:bodyPr>
          <a:lstStyle/>
          <a:p>
            <a:endParaRPr lang="en-US" dirty="0"/>
          </a:p>
        </p:txBody>
      </p:sp>
      <p:pic>
        <p:nvPicPr>
          <p:cNvPr id="3" name="Picture 2">
            <a:extLst>
              <a:ext uri="{FF2B5EF4-FFF2-40B4-BE49-F238E27FC236}">
                <a16:creationId xmlns:a16="http://schemas.microsoft.com/office/drawing/2014/main" id="{FD625D49-490C-91DB-60DC-B02A1F775BA9}"/>
              </a:ext>
            </a:extLst>
          </p:cNvPr>
          <p:cNvPicPr>
            <a:picLocks noChangeAspect="1"/>
          </p:cNvPicPr>
          <p:nvPr/>
        </p:nvPicPr>
        <p:blipFill>
          <a:blip r:embed="rId3"/>
          <a:stretch>
            <a:fillRect/>
          </a:stretch>
        </p:blipFill>
        <p:spPr>
          <a:xfrm>
            <a:off x="339540" y="1969477"/>
            <a:ext cx="4521758" cy="3557116"/>
          </a:xfrm>
          <a:prstGeom prst="rect">
            <a:avLst/>
          </a:prstGeom>
        </p:spPr>
      </p:pic>
    </p:spTree>
    <p:extLst>
      <p:ext uri="{BB962C8B-B14F-4D97-AF65-F5344CB8AC3E}">
        <p14:creationId xmlns:p14="http://schemas.microsoft.com/office/powerpoint/2010/main" val="80614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D0C453-5BFF-A9DF-88D8-1FBCF6069745}"/>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50C81F9D-6710-8478-4B3E-0A74D15A669A}"/>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EC81BB6D-EED0-3682-4D62-5EADFBD88E77}"/>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C9A767BC-991D-931E-D1C4-DE6A26860A1F}"/>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products generate the least profit? </a:t>
            </a:r>
          </a:p>
          <a:p>
            <a:endParaRPr lang="en-US" dirty="0"/>
          </a:p>
        </p:txBody>
      </p:sp>
      <p:sp>
        <p:nvSpPr>
          <p:cNvPr id="5" name="TextBox 4">
            <a:extLst>
              <a:ext uri="{FF2B5EF4-FFF2-40B4-BE49-F238E27FC236}">
                <a16:creationId xmlns:a16="http://schemas.microsoft.com/office/drawing/2014/main" id="{C4B8F1A4-B119-4849-85A0-8DA31F5556C8}"/>
              </a:ext>
            </a:extLst>
          </p:cNvPr>
          <p:cNvSpPr txBox="1"/>
          <p:nvPr/>
        </p:nvSpPr>
        <p:spPr>
          <a:xfrm>
            <a:off x="5727874" y="1699545"/>
            <a:ext cx="6464106" cy="3970318"/>
          </a:xfrm>
          <a:prstGeom prst="rect">
            <a:avLst/>
          </a:prstGeom>
          <a:noFill/>
        </p:spPr>
        <p:txBody>
          <a:bodyPr wrap="square" rtlCol="0">
            <a:spAutoFit/>
          </a:bodyPr>
          <a:lstStyle/>
          <a:p>
            <a:r>
              <a:rPr lang="en-US" b="1" dirty="0">
                <a:latin typeface="Bell MT" panose="02020503060305020303" pitchFamily="18" charset="0"/>
              </a:rPr>
              <a:t>Finding: </a:t>
            </a:r>
          </a:p>
          <a:p>
            <a:pPr lvl="0"/>
            <a:r>
              <a:rPr lang="en-US" b="1" dirty="0">
                <a:latin typeface="Bell MT" panose="02020503060305020303" pitchFamily="18" charset="0"/>
              </a:rPr>
              <a:t>•  Classic Dominoes</a:t>
            </a:r>
            <a:r>
              <a:rPr lang="en-US" dirty="0">
                <a:latin typeface="Bell MT" panose="02020503060305020303" pitchFamily="18" charset="0"/>
              </a:rPr>
              <a:t> has the lowest profit at </a:t>
            </a:r>
            <a:r>
              <a:rPr lang="en-US" b="1" dirty="0">
                <a:latin typeface="Bell MT" panose="02020503060305020303" pitchFamily="18" charset="0"/>
              </a:rPr>
              <a:t>$8.94K</a:t>
            </a:r>
            <a:r>
              <a:rPr lang="en-US" dirty="0">
                <a:latin typeface="Bell MT" panose="02020503060305020303" pitchFamily="18" charset="0"/>
              </a:rPr>
              <a:t>.</a:t>
            </a:r>
          </a:p>
          <a:p>
            <a:pPr lvl="0"/>
            <a:r>
              <a:rPr lang="en-US" b="1" dirty="0">
                <a:latin typeface="Bell MT" panose="02020503060305020303" pitchFamily="18" charset="0"/>
              </a:rPr>
              <a:t>•  </a:t>
            </a:r>
            <a:r>
              <a:rPr lang="en-US" dirty="0">
                <a:latin typeface="Bell MT" panose="02020503060305020303" pitchFamily="18" charset="0"/>
              </a:rPr>
              <a:t>Other low-profit items include </a:t>
            </a:r>
            <a:r>
              <a:rPr lang="en-US" b="1" dirty="0">
                <a:latin typeface="Bell MT" panose="02020503060305020303" pitchFamily="18" charset="0"/>
              </a:rPr>
              <a:t>Uno Card Game</a:t>
            </a:r>
            <a:r>
              <a:rPr lang="en-US" dirty="0">
                <a:latin typeface="Bell MT" panose="02020503060305020303" pitchFamily="18" charset="0"/>
              </a:rPr>
              <a:t>, </a:t>
            </a:r>
            <a:r>
              <a:rPr lang="en-US" b="1" dirty="0">
                <a:latin typeface="Bell MT" panose="02020503060305020303" pitchFamily="18" charset="0"/>
              </a:rPr>
              <a:t>Chutes &amp; Ladders</a:t>
            </a:r>
            <a:r>
              <a:rPr lang="en-US" dirty="0">
                <a:latin typeface="Bell MT" panose="02020503060305020303" pitchFamily="18" charset="0"/>
              </a:rPr>
              <a:t>, </a:t>
            </a:r>
            <a:r>
              <a:rPr lang="en-US" b="1" dirty="0">
                <a:latin typeface="Bell MT" panose="02020503060305020303" pitchFamily="18" charset="0"/>
              </a:rPr>
              <a:t>Teddy Bear</a:t>
            </a:r>
            <a:r>
              <a:rPr lang="en-US" dirty="0">
                <a:latin typeface="Bell MT" panose="02020503060305020303" pitchFamily="18" charset="0"/>
              </a:rPr>
              <a:t>, and </a:t>
            </a:r>
            <a:r>
              <a:rPr lang="en-US" b="1" dirty="0">
                <a:latin typeface="Bell MT" panose="02020503060305020303" pitchFamily="18" charset="0"/>
              </a:rPr>
              <a:t>Monopoly</a:t>
            </a:r>
            <a:r>
              <a:rPr lang="en-US" dirty="0">
                <a:latin typeface="Bell MT" panose="02020503060305020303" pitchFamily="18" charset="0"/>
              </a:rPr>
              <a:t>.</a:t>
            </a:r>
          </a:p>
          <a:p>
            <a:pPr lvl="0"/>
            <a:r>
              <a:rPr lang="en-US" b="1" dirty="0">
                <a:latin typeface="Bell MT" panose="02020503060305020303" pitchFamily="18" charset="0"/>
              </a:rPr>
              <a:t>•  </a:t>
            </a:r>
            <a:r>
              <a:rPr lang="en-US" dirty="0">
                <a:latin typeface="Bell MT" panose="02020503060305020303" pitchFamily="18" charset="0"/>
              </a:rPr>
              <a:t>Even popular games and toys like </a:t>
            </a:r>
            <a:r>
              <a:rPr lang="en-US" b="1" dirty="0">
                <a:latin typeface="Bell MT" panose="02020503060305020303" pitchFamily="18" charset="0"/>
              </a:rPr>
              <a:t>PlayDoh Playset</a:t>
            </a:r>
            <a:r>
              <a:rPr lang="en-US" dirty="0">
                <a:latin typeface="Bell MT" panose="02020503060305020303" pitchFamily="18" charset="0"/>
              </a:rPr>
              <a:t>, </a:t>
            </a:r>
            <a:r>
              <a:rPr lang="en-US" b="1" dirty="0">
                <a:latin typeface="Bell MT" panose="02020503060305020303" pitchFamily="18" charset="0"/>
              </a:rPr>
              <a:t>Foam Disk Launcher</a:t>
            </a:r>
            <a:r>
              <a:rPr lang="en-US" dirty="0">
                <a:latin typeface="Bell MT" panose="02020503060305020303" pitchFamily="18" charset="0"/>
              </a:rPr>
              <a:t>, and </a:t>
            </a:r>
            <a:r>
              <a:rPr lang="en-US" b="1" dirty="0">
                <a:latin typeface="Bell MT" panose="02020503060305020303" pitchFamily="18" charset="0"/>
              </a:rPr>
              <a:t>Playfoam</a:t>
            </a:r>
            <a:r>
              <a:rPr lang="en-US" dirty="0">
                <a:latin typeface="Bell MT" panose="02020503060305020303" pitchFamily="18" charset="0"/>
              </a:rPr>
              <a:t> fall in the least profits list.</a:t>
            </a:r>
          </a:p>
          <a:p>
            <a:pPr lvl="0"/>
            <a:endParaRPr lang="en-US" b="1" dirty="0">
              <a:latin typeface="Bell MT" panose="02020503060305020303" pitchFamily="18" charset="0"/>
            </a:endParaRPr>
          </a:p>
          <a:p>
            <a:r>
              <a:rPr lang="en-US" b="1" dirty="0">
                <a:latin typeface="Bell MT" panose="02020503060305020303" pitchFamily="18" charset="0"/>
              </a:rPr>
              <a:t>Insight:</a:t>
            </a:r>
          </a:p>
          <a:p>
            <a:pPr lvl="0"/>
            <a:r>
              <a:rPr lang="en-US" b="1" dirty="0">
                <a:latin typeface="Bell MT" panose="02020503060305020303" pitchFamily="18" charset="0"/>
              </a:rPr>
              <a:t>•  </a:t>
            </a:r>
            <a:r>
              <a:rPr lang="en-US" dirty="0">
                <a:latin typeface="Bell MT" panose="02020503060305020303" pitchFamily="18" charset="0"/>
              </a:rPr>
              <a:t>Many low-profit products are </a:t>
            </a:r>
            <a:r>
              <a:rPr lang="en-US" b="1" dirty="0">
                <a:latin typeface="Bell MT" panose="02020503060305020303" pitchFamily="18" charset="0"/>
              </a:rPr>
              <a:t>board games or simple toys</a:t>
            </a:r>
            <a:r>
              <a:rPr lang="en-US" dirty="0">
                <a:latin typeface="Bell MT" panose="02020503060305020303" pitchFamily="18" charset="0"/>
              </a:rPr>
              <a:t>, suggesting </a:t>
            </a:r>
            <a:r>
              <a:rPr lang="en-US" b="1" dirty="0">
                <a:latin typeface="Bell MT" panose="02020503060305020303" pitchFamily="18" charset="0"/>
              </a:rPr>
              <a:t>low margins or limited demand</a:t>
            </a:r>
            <a:r>
              <a:rPr lang="en-US" dirty="0">
                <a:latin typeface="Bell MT" panose="02020503060305020303" pitchFamily="18" charset="0"/>
              </a:rPr>
              <a:t>.</a:t>
            </a:r>
          </a:p>
          <a:p>
            <a:pPr lvl="0"/>
            <a:r>
              <a:rPr lang="en-US" b="1" dirty="0">
                <a:latin typeface="Bell MT" panose="02020503060305020303" pitchFamily="18" charset="0"/>
              </a:rPr>
              <a:t>•  PlayDoh variants</a:t>
            </a:r>
            <a:r>
              <a:rPr lang="en-US" dirty="0">
                <a:latin typeface="Bell MT" panose="02020503060305020303" pitchFamily="18" charset="0"/>
              </a:rPr>
              <a:t> show up frequently — may indicate </a:t>
            </a:r>
            <a:r>
              <a:rPr lang="en-US" b="1" dirty="0">
                <a:latin typeface="Bell MT" panose="02020503060305020303" pitchFamily="18" charset="0"/>
              </a:rPr>
              <a:t>over-saturation or weak pricing power</a:t>
            </a:r>
            <a:r>
              <a:rPr lang="en-US" dirty="0">
                <a:latin typeface="Bell MT" panose="02020503060305020303" pitchFamily="18" charset="0"/>
              </a:rPr>
              <a:t> in that line.</a:t>
            </a:r>
          </a:p>
          <a:p>
            <a:pPr lvl="0"/>
            <a:r>
              <a:rPr lang="en-US" b="1" dirty="0">
                <a:latin typeface="Bell MT" panose="02020503060305020303" pitchFamily="18" charset="0"/>
              </a:rPr>
              <a:t>•  </a:t>
            </a:r>
            <a:r>
              <a:rPr lang="en-US" dirty="0">
                <a:latin typeface="Bell MT" panose="02020503060305020303" pitchFamily="18" charset="0"/>
              </a:rPr>
              <a:t>Products with </a:t>
            </a:r>
            <a:r>
              <a:rPr lang="en-US" b="1" dirty="0">
                <a:latin typeface="Bell MT" panose="02020503060305020303" pitchFamily="18" charset="0"/>
              </a:rPr>
              <a:t>low unit price</a:t>
            </a:r>
            <a:r>
              <a:rPr lang="en-US" dirty="0">
                <a:latin typeface="Bell MT" panose="02020503060305020303" pitchFamily="18" charset="0"/>
              </a:rPr>
              <a:t> or </a:t>
            </a:r>
            <a:r>
              <a:rPr lang="en-US" b="1" dirty="0">
                <a:latin typeface="Bell MT" panose="02020503060305020303" pitchFamily="18" charset="0"/>
              </a:rPr>
              <a:t>niche appeal</a:t>
            </a:r>
            <a:r>
              <a:rPr lang="en-US" dirty="0">
                <a:latin typeface="Bell MT" panose="02020503060305020303" pitchFamily="18" charset="0"/>
              </a:rPr>
              <a:t> may struggle to generate significant profits despite presence.</a:t>
            </a:r>
          </a:p>
        </p:txBody>
      </p:sp>
      <p:sp>
        <p:nvSpPr>
          <p:cNvPr id="9" name="TextBox 8">
            <a:extLst>
              <a:ext uri="{FF2B5EF4-FFF2-40B4-BE49-F238E27FC236}">
                <a16:creationId xmlns:a16="http://schemas.microsoft.com/office/drawing/2014/main" id="{39FB9DF1-E124-C1F3-4DE2-C2FFD7F41654}"/>
              </a:ext>
            </a:extLst>
          </p:cNvPr>
          <p:cNvSpPr txBox="1"/>
          <p:nvPr/>
        </p:nvSpPr>
        <p:spPr>
          <a:xfrm>
            <a:off x="416745" y="1699545"/>
            <a:ext cx="4900602" cy="3943546"/>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AAEE7C2F-DCB1-08B2-0645-05FB5B4FD6E9}"/>
              </a:ext>
            </a:extLst>
          </p:cNvPr>
          <p:cNvPicPr>
            <a:picLocks noChangeAspect="1"/>
          </p:cNvPicPr>
          <p:nvPr/>
        </p:nvPicPr>
        <p:blipFill>
          <a:blip r:embed="rId3"/>
          <a:stretch>
            <a:fillRect/>
          </a:stretch>
        </p:blipFill>
        <p:spPr>
          <a:xfrm>
            <a:off x="525502" y="1800029"/>
            <a:ext cx="4683088" cy="3756709"/>
          </a:xfrm>
          <a:prstGeom prst="rect">
            <a:avLst/>
          </a:prstGeom>
        </p:spPr>
      </p:pic>
    </p:spTree>
    <p:extLst>
      <p:ext uri="{BB962C8B-B14F-4D97-AF65-F5344CB8AC3E}">
        <p14:creationId xmlns:p14="http://schemas.microsoft.com/office/powerpoint/2010/main" val="740837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7D9A3B3-E42C-8485-5E04-8EC36F3D6CA1}"/>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54C9D091-DFC9-A1CB-C6F3-A6260A59C111}"/>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E1FEECA9-F3DC-FBD6-9E6E-051501ED81D5}"/>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FF9DE450-7F70-37FD-A846-7B54370E14B8}"/>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 Which products and categories drive the highest sales? </a:t>
            </a:r>
          </a:p>
          <a:p>
            <a:endParaRPr lang="en-US" dirty="0"/>
          </a:p>
        </p:txBody>
      </p:sp>
      <p:sp>
        <p:nvSpPr>
          <p:cNvPr id="5" name="TextBox 4">
            <a:extLst>
              <a:ext uri="{FF2B5EF4-FFF2-40B4-BE49-F238E27FC236}">
                <a16:creationId xmlns:a16="http://schemas.microsoft.com/office/drawing/2014/main" id="{788C8F25-31C4-88F7-BD7B-277F189F8D3B}"/>
              </a:ext>
            </a:extLst>
          </p:cNvPr>
          <p:cNvSpPr txBox="1"/>
          <p:nvPr/>
        </p:nvSpPr>
        <p:spPr>
          <a:xfrm>
            <a:off x="5699687" y="1800029"/>
            <a:ext cx="6175937" cy="4370427"/>
          </a:xfrm>
          <a:prstGeom prst="rect">
            <a:avLst/>
          </a:prstGeom>
          <a:noFill/>
        </p:spPr>
        <p:txBody>
          <a:bodyPr wrap="square" rtlCol="0">
            <a:spAutoFit/>
          </a:bodyPr>
          <a:lstStyle/>
          <a:p>
            <a:r>
              <a:rPr lang="en-US" b="1" dirty="0">
                <a:latin typeface="Bell MT" panose="02020503060305020303" pitchFamily="18" charset="0"/>
              </a:rPr>
              <a:t>Finding</a:t>
            </a:r>
            <a:r>
              <a:rPr lang="en-US" dirty="0">
                <a:latin typeface="Bell MT" panose="02020503060305020303" pitchFamily="18" charset="0"/>
              </a:rPr>
              <a:t>: </a:t>
            </a:r>
          </a:p>
          <a:p>
            <a:r>
              <a:rPr lang="en-US" dirty="0">
                <a:latin typeface="Bell MT" panose="02020503060305020303" pitchFamily="18" charset="0"/>
              </a:rPr>
              <a:t>• </a:t>
            </a:r>
            <a:r>
              <a:rPr lang="en-US" sz="1600" b="1" dirty="0">
                <a:latin typeface="Bell MT" panose="02020503060305020303" pitchFamily="18" charset="0"/>
              </a:rPr>
              <a:t>Colorbuds</a:t>
            </a:r>
            <a:r>
              <a:rPr lang="en-US" sz="1600" dirty="0">
                <a:latin typeface="Bell MT" panose="02020503060305020303" pitchFamily="18" charset="0"/>
              </a:rPr>
              <a:t> (Electronics) is the </a:t>
            </a:r>
            <a:r>
              <a:rPr lang="en-US" sz="1600" b="1" dirty="0">
                <a:latin typeface="Bell MT" panose="02020503060305020303" pitchFamily="18" charset="0"/>
              </a:rPr>
              <a:t>top-selling product.</a:t>
            </a:r>
          </a:p>
          <a:p>
            <a:r>
              <a:rPr lang="en-US" sz="1600" dirty="0">
                <a:latin typeface="Bell MT" panose="02020503060305020303" pitchFamily="18" charset="0"/>
              </a:rPr>
              <a:t>•  </a:t>
            </a:r>
            <a:r>
              <a:rPr lang="en-US" sz="1600" b="1" dirty="0">
                <a:latin typeface="Bell MT" panose="02020503060305020303" pitchFamily="18" charset="0"/>
              </a:rPr>
              <a:t>Art &amp; Crafts </a:t>
            </a:r>
            <a:r>
              <a:rPr lang="en-US" sz="1600" dirty="0">
                <a:latin typeface="Bell MT" panose="02020503060305020303" pitchFamily="18" charset="0"/>
              </a:rPr>
              <a:t>dominates with 3 products in the top 5.</a:t>
            </a:r>
          </a:p>
          <a:p>
            <a:r>
              <a:rPr lang="en-US" sz="1600" dirty="0">
                <a:latin typeface="Bell MT" panose="02020503060305020303" pitchFamily="18" charset="0"/>
              </a:rPr>
              <a:t>•  </a:t>
            </a:r>
            <a:r>
              <a:rPr lang="en-US" sz="1600" b="1" dirty="0">
                <a:latin typeface="Bell MT" panose="02020503060305020303" pitchFamily="18" charset="0"/>
              </a:rPr>
              <a:t>Toys</a:t>
            </a:r>
            <a:r>
              <a:rPr lang="en-US" sz="1600" dirty="0">
                <a:latin typeface="Bell MT" panose="02020503060305020303" pitchFamily="18" charset="0"/>
              </a:rPr>
              <a:t> appear frequently but don't lead in volume.</a:t>
            </a:r>
          </a:p>
          <a:p>
            <a:r>
              <a:rPr lang="en-US" sz="1600" dirty="0">
                <a:latin typeface="Bell MT" panose="02020503060305020303" pitchFamily="18" charset="0"/>
              </a:rPr>
              <a:t>•  </a:t>
            </a:r>
            <a:r>
              <a:rPr lang="en-US" sz="1600" b="1" dirty="0">
                <a:latin typeface="Bell MT" panose="02020503060305020303" pitchFamily="18" charset="0"/>
              </a:rPr>
              <a:t>Games</a:t>
            </a:r>
            <a:r>
              <a:rPr lang="en-US" sz="1600" dirty="0">
                <a:latin typeface="Bell MT" panose="02020503060305020303" pitchFamily="18" charset="0"/>
              </a:rPr>
              <a:t> and </a:t>
            </a:r>
            <a:r>
              <a:rPr lang="en-US" sz="1600" b="1" dirty="0">
                <a:latin typeface="Bell MT" panose="02020503060305020303" pitchFamily="18" charset="0"/>
              </a:rPr>
              <a:t>Sports</a:t>
            </a:r>
            <a:r>
              <a:rPr lang="en-US" sz="1600" dirty="0">
                <a:latin typeface="Bell MT" panose="02020503060305020303" pitchFamily="18" charset="0"/>
              </a:rPr>
              <a:t> </a:t>
            </a:r>
            <a:r>
              <a:rPr lang="en-US" sz="1600" b="1" dirty="0">
                <a:latin typeface="Bell MT" panose="02020503060305020303" pitchFamily="18" charset="0"/>
              </a:rPr>
              <a:t>&amp;</a:t>
            </a:r>
            <a:r>
              <a:rPr lang="en-US" sz="1600" dirty="0">
                <a:latin typeface="Bell MT" panose="02020503060305020303" pitchFamily="18" charset="0"/>
              </a:rPr>
              <a:t> </a:t>
            </a:r>
            <a:r>
              <a:rPr lang="en-US" sz="1600" b="1" dirty="0">
                <a:latin typeface="Bell MT" panose="02020503060305020303" pitchFamily="18" charset="0"/>
              </a:rPr>
              <a:t>Outdoors</a:t>
            </a:r>
            <a:r>
              <a:rPr lang="en-US" sz="1600" dirty="0">
                <a:latin typeface="Bell MT" panose="02020503060305020303" pitchFamily="18" charset="0"/>
              </a:rPr>
              <a:t> show solid but mid-range sales.</a:t>
            </a:r>
            <a:endParaRPr lang="en-US" dirty="0">
              <a:latin typeface="Bell MT" panose="02020503060305020303" pitchFamily="18" charset="0"/>
            </a:endParaRPr>
          </a:p>
          <a:p>
            <a:r>
              <a:rPr lang="en-US" b="1" dirty="0">
                <a:latin typeface="Bell MT" panose="02020503060305020303" pitchFamily="18" charset="0"/>
              </a:rPr>
              <a:t>Insight</a:t>
            </a:r>
            <a:r>
              <a:rPr lang="en-US" dirty="0">
                <a:latin typeface="Bell MT" panose="02020503060305020303" pitchFamily="18" charset="0"/>
              </a:rPr>
              <a:t>:</a:t>
            </a:r>
          </a:p>
          <a:p>
            <a:r>
              <a:rPr lang="en-US" sz="1600" dirty="0">
                <a:latin typeface="Bell MT" panose="02020503060305020303" pitchFamily="18" charset="0"/>
              </a:rPr>
              <a:t>• </a:t>
            </a:r>
            <a:r>
              <a:rPr lang="en-US" sz="1600" b="1" dirty="0">
                <a:latin typeface="Bell MT" panose="02020503060305020303" pitchFamily="18" charset="0"/>
              </a:rPr>
              <a:t>Art &amp; Crafts</a:t>
            </a:r>
            <a:r>
              <a:rPr lang="en-US" sz="1600" dirty="0">
                <a:latin typeface="Bell MT" panose="02020503060305020303" pitchFamily="18" charset="0"/>
              </a:rPr>
              <a:t> products (PlayDoh, Slime, Magic Sand) appear multiple times in the top 10, showing this category is very popular. Consider expanding this category with more products.</a:t>
            </a:r>
          </a:p>
          <a:p>
            <a:r>
              <a:rPr lang="en-US" sz="1600" dirty="0">
                <a:latin typeface="Bell MT" panose="02020503060305020303" pitchFamily="18" charset="0"/>
              </a:rPr>
              <a:t>• </a:t>
            </a:r>
            <a:r>
              <a:rPr lang="en-US" sz="1600" b="1" dirty="0">
                <a:latin typeface="Bell MT" panose="02020503060305020303" pitchFamily="18" charset="0"/>
              </a:rPr>
              <a:t>Electronics</a:t>
            </a:r>
            <a:r>
              <a:rPr lang="en-US" sz="1600" dirty="0">
                <a:latin typeface="Bell MT" panose="02020503060305020303" pitchFamily="18" charset="0"/>
              </a:rPr>
              <a:t> (Colorbuds) is the #1 best-selling product by units sold. Since it already sells well, you can increase profits by selling it together with other items or offering special deals.</a:t>
            </a:r>
          </a:p>
          <a:p>
            <a:r>
              <a:rPr lang="en-US" sz="1600" dirty="0">
                <a:latin typeface="Bell MT" panose="02020503060305020303" pitchFamily="18" charset="0"/>
              </a:rPr>
              <a:t>• </a:t>
            </a:r>
            <a:r>
              <a:rPr lang="en-US" sz="1600" b="1" dirty="0">
                <a:latin typeface="Bell MT" panose="02020503060305020303" pitchFamily="18" charset="0"/>
              </a:rPr>
              <a:t>Toys</a:t>
            </a:r>
            <a:r>
              <a:rPr lang="en-US" sz="1600" dirty="0">
                <a:latin typeface="Bell MT" panose="02020503060305020303" pitchFamily="18" charset="0"/>
              </a:rPr>
              <a:t> appear several times in the top 10, showing they are a strong category that drives high sales volume.</a:t>
            </a:r>
          </a:p>
          <a:p>
            <a:r>
              <a:rPr lang="en-US" sz="1600" dirty="0">
                <a:latin typeface="Bell MT" panose="02020503060305020303" pitchFamily="18" charset="0"/>
              </a:rPr>
              <a:t>• </a:t>
            </a:r>
            <a:r>
              <a:rPr lang="en-US" sz="1600" b="1" dirty="0">
                <a:latin typeface="Bell MT" panose="02020503060305020303" pitchFamily="18" charset="0"/>
              </a:rPr>
              <a:t>Games</a:t>
            </a:r>
            <a:r>
              <a:rPr lang="en-US" sz="1600" dirty="0">
                <a:latin typeface="Bell MT" panose="02020503060305020303" pitchFamily="18" charset="0"/>
              </a:rPr>
              <a:t> show mixed results - some perform well while others don't. Performance depends on which specific product it is. Focus marketing efforts on the games that sell best.</a:t>
            </a:r>
          </a:p>
        </p:txBody>
      </p:sp>
      <p:sp>
        <p:nvSpPr>
          <p:cNvPr id="9" name="TextBox 8">
            <a:extLst>
              <a:ext uri="{FF2B5EF4-FFF2-40B4-BE49-F238E27FC236}">
                <a16:creationId xmlns:a16="http://schemas.microsoft.com/office/drawing/2014/main" id="{7512DDF0-149F-1615-3AD1-557769149B91}"/>
              </a:ext>
            </a:extLst>
          </p:cNvPr>
          <p:cNvSpPr txBox="1"/>
          <p:nvPr/>
        </p:nvSpPr>
        <p:spPr>
          <a:xfrm>
            <a:off x="466830" y="1791619"/>
            <a:ext cx="4743450" cy="3886395"/>
          </a:xfrm>
          <a:prstGeom prst="rect">
            <a:avLst/>
          </a:prstGeom>
          <a:solidFill>
            <a:schemeClr val="bg1"/>
          </a:solidFill>
          <a:ln w="57150">
            <a:solidFill>
              <a:srgbClr val="454452"/>
            </a:solidFill>
          </a:ln>
        </p:spPr>
        <p:txBody>
          <a:bodyPr wrap="square" rtlCol="0">
            <a:spAutoFit/>
          </a:bodyPr>
          <a:lstStyle/>
          <a:p>
            <a:endParaRPr lang="en-US" dirty="0"/>
          </a:p>
        </p:txBody>
      </p:sp>
      <p:pic>
        <p:nvPicPr>
          <p:cNvPr id="7" name="Picture 6">
            <a:extLst>
              <a:ext uri="{FF2B5EF4-FFF2-40B4-BE49-F238E27FC236}">
                <a16:creationId xmlns:a16="http://schemas.microsoft.com/office/drawing/2014/main" id="{088A3D60-C0D7-3D26-3015-0618E97BF31F}"/>
              </a:ext>
            </a:extLst>
          </p:cNvPr>
          <p:cNvPicPr>
            <a:picLocks noChangeAspect="1"/>
          </p:cNvPicPr>
          <p:nvPr/>
        </p:nvPicPr>
        <p:blipFill>
          <a:blip r:embed="rId3"/>
          <a:stretch>
            <a:fillRect/>
          </a:stretch>
        </p:blipFill>
        <p:spPr>
          <a:xfrm>
            <a:off x="577675" y="1864893"/>
            <a:ext cx="4521759" cy="3677697"/>
          </a:xfrm>
          <a:prstGeom prst="rect">
            <a:avLst/>
          </a:prstGeom>
        </p:spPr>
      </p:pic>
    </p:spTree>
    <p:extLst>
      <p:ext uri="{BB962C8B-B14F-4D97-AF65-F5344CB8AC3E}">
        <p14:creationId xmlns:p14="http://schemas.microsoft.com/office/powerpoint/2010/main" val="1916023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6B41A9F-6E99-2F95-8DC3-5EC18790937C}"/>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E7541961-702C-A0C7-4871-417AA25D997B}"/>
              </a:ext>
            </a:extLst>
          </p:cNvPr>
          <p:cNvPicPr>
            <a:picLocks noChangeAspect="1"/>
          </p:cNvPicPr>
          <p:nvPr/>
        </p:nvPicPr>
        <p:blipFill>
          <a:blip r:embed="rId2"/>
          <a:srcRect t="7865" b="7865"/>
          <a:stretch>
            <a:fillRect/>
          </a:stretch>
        </p:blipFill>
        <p:spPr>
          <a:xfrm>
            <a:off x="20" y="-23152"/>
            <a:ext cx="12191980" cy="6858002"/>
          </a:xfrm>
          <a:prstGeom prst="rect">
            <a:avLst/>
          </a:prstGeom>
        </p:spPr>
      </p:pic>
      <p:sp>
        <p:nvSpPr>
          <p:cNvPr id="11" name="Title 10">
            <a:extLst>
              <a:ext uri="{FF2B5EF4-FFF2-40B4-BE49-F238E27FC236}">
                <a16:creationId xmlns:a16="http://schemas.microsoft.com/office/drawing/2014/main" id="{659EAF4A-8A2B-21EB-3D26-FEC44B120705}"/>
              </a:ext>
            </a:extLst>
          </p:cNvPr>
          <p:cNvSpPr>
            <a:spLocks noGrp="1"/>
          </p:cNvSpPr>
          <p:nvPr>
            <p:ph type="title"/>
          </p:nvPr>
        </p:nvSpPr>
        <p:spPr>
          <a:xfrm>
            <a:off x="2996275" y="71834"/>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C9BE63B3-6A61-3AB1-4F2A-7EFE736C234E}"/>
              </a:ext>
            </a:extLst>
          </p:cNvPr>
          <p:cNvSpPr>
            <a:spLocks noGrp="1"/>
          </p:cNvSpPr>
          <p:nvPr>
            <p:ph type="body" idx="1"/>
          </p:nvPr>
        </p:nvSpPr>
        <p:spPr>
          <a:xfrm>
            <a:off x="208512" y="871908"/>
            <a:ext cx="11694649" cy="5805706"/>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products and categories drive the lowest sales? </a:t>
            </a:r>
          </a:p>
          <a:p>
            <a:endParaRPr lang="en-US" dirty="0"/>
          </a:p>
        </p:txBody>
      </p:sp>
      <p:sp>
        <p:nvSpPr>
          <p:cNvPr id="5" name="TextBox 4">
            <a:extLst>
              <a:ext uri="{FF2B5EF4-FFF2-40B4-BE49-F238E27FC236}">
                <a16:creationId xmlns:a16="http://schemas.microsoft.com/office/drawing/2014/main" id="{5FAF3021-6725-7527-CFC6-CC0CF644E221}"/>
              </a:ext>
            </a:extLst>
          </p:cNvPr>
          <p:cNvSpPr txBox="1"/>
          <p:nvPr/>
        </p:nvSpPr>
        <p:spPr>
          <a:xfrm>
            <a:off x="5673548" y="1385358"/>
            <a:ext cx="6309940" cy="5139869"/>
          </a:xfrm>
          <a:prstGeom prst="rect">
            <a:avLst/>
          </a:prstGeom>
          <a:noFill/>
        </p:spPr>
        <p:txBody>
          <a:bodyPr wrap="square" rtlCol="0">
            <a:spAutoFit/>
          </a:bodyPr>
          <a:lstStyle/>
          <a:p>
            <a:r>
              <a:rPr lang="en-US" sz="1600" b="1" dirty="0">
                <a:latin typeface="Bell MT" panose="02020503060305020303" pitchFamily="18" charset="0"/>
              </a:rPr>
              <a:t>Finding</a:t>
            </a:r>
            <a:r>
              <a:rPr lang="en-US" sz="1600" dirty="0">
                <a:latin typeface="Bell MT" panose="02020503060305020303" pitchFamily="18" charset="0"/>
              </a:rPr>
              <a:t>: </a:t>
            </a:r>
          </a:p>
          <a:p>
            <a:r>
              <a:rPr lang="en-US" sz="1600" dirty="0">
                <a:latin typeface="Bell MT" panose="02020503060305020303" pitchFamily="18" charset="0"/>
              </a:rPr>
              <a:t>• </a:t>
            </a:r>
            <a:r>
              <a:rPr lang="en-US" sz="1600" b="1" dirty="0">
                <a:latin typeface="Bell MT" panose="02020503060305020303" pitchFamily="18" charset="0"/>
              </a:rPr>
              <a:t>Mini Basketball Hoop </a:t>
            </a:r>
            <a:r>
              <a:rPr lang="en-US" sz="1600" dirty="0">
                <a:latin typeface="Bell MT" panose="02020503060305020303" pitchFamily="18" charset="0"/>
              </a:rPr>
              <a:t>(Sports &amp; Outdoors) is the </a:t>
            </a:r>
            <a:r>
              <a:rPr lang="en-US" sz="1600" b="1" dirty="0">
                <a:latin typeface="Bell MT" panose="02020503060305020303" pitchFamily="18" charset="0"/>
              </a:rPr>
              <a:t>worst-selling product.</a:t>
            </a:r>
          </a:p>
          <a:p>
            <a:r>
              <a:rPr lang="en-US" sz="1600" dirty="0">
                <a:latin typeface="Bell MT" panose="02020503060305020303" pitchFamily="18" charset="0"/>
              </a:rPr>
              <a:t>• </a:t>
            </a:r>
            <a:r>
              <a:rPr lang="en-US" sz="1600" b="1" dirty="0">
                <a:latin typeface="Bell MT" panose="02020503060305020303" pitchFamily="18" charset="0"/>
              </a:rPr>
              <a:t>Games </a:t>
            </a:r>
            <a:r>
              <a:rPr lang="en-US" sz="1600" dirty="0">
                <a:latin typeface="Bell MT" panose="02020503060305020303" pitchFamily="18" charset="0"/>
              </a:rPr>
              <a:t>make up most of the bottom 10, with 4 entries (Uno, Monopoly, Chutes &amp; Ladders, Dominoes).</a:t>
            </a:r>
          </a:p>
          <a:p>
            <a:r>
              <a:rPr lang="en-US" sz="1600" dirty="0">
                <a:latin typeface="Bell MT" panose="02020503060305020303" pitchFamily="18" charset="0"/>
              </a:rPr>
              <a:t>• </a:t>
            </a:r>
            <a:r>
              <a:rPr lang="en-US" sz="1600" b="1" dirty="0">
                <a:latin typeface="Bell MT" panose="02020503060305020303" pitchFamily="18" charset="0"/>
              </a:rPr>
              <a:t>Toys </a:t>
            </a:r>
            <a:r>
              <a:rPr lang="en-US" sz="1600" dirty="0">
                <a:latin typeface="Bell MT" panose="02020503060305020303" pitchFamily="18" charset="0"/>
              </a:rPr>
              <a:t>(Plush Pony, Teddy Bear) </a:t>
            </a:r>
            <a:r>
              <a:rPr lang="en-US" sz="1600" b="1" dirty="0">
                <a:latin typeface="Bell MT" panose="02020503060305020303" pitchFamily="18" charset="0"/>
              </a:rPr>
              <a:t>and Art &amp; Crafts </a:t>
            </a:r>
            <a:r>
              <a:rPr lang="en-US" sz="1600" dirty="0">
                <a:latin typeface="Bell MT" panose="02020503060305020303" pitchFamily="18" charset="0"/>
              </a:rPr>
              <a:t>(Playfoam, PlayDoh Playset) also appear but less often.</a:t>
            </a:r>
          </a:p>
          <a:p>
            <a:r>
              <a:rPr lang="en-US" sz="1600" b="1" dirty="0">
                <a:latin typeface="Bell MT" panose="02020503060305020303" pitchFamily="18" charset="0"/>
              </a:rPr>
              <a:t>Insights:</a:t>
            </a:r>
          </a:p>
          <a:p>
            <a:r>
              <a:rPr lang="en-US" dirty="0">
                <a:latin typeface="Bell MT" panose="02020503060305020303" pitchFamily="18" charset="0"/>
              </a:rPr>
              <a:t>• </a:t>
            </a:r>
            <a:r>
              <a:rPr lang="en-US" sz="1600" b="1" dirty="0">
                <a:latin typeface="Bell MT" panose="02020503060305020303" pitchFamily="18" charset="0"/>
              </a:rPr>
              <a:t>Games </a:t>
            </a:r>
            <a:r>
              <a:rPr lang="en-US" sz="1600" dirty="0">
                <a:latin typeface="Bell MT" panose="02020503060305020303" pitchFamily="18" charset="0"/>
              </a:rPr>
              <a:t>category struggles overall, with many titles in the bottom 10. This suggests customers aren't interested in these specific games, or there's too much stock. Review which games to keep and consider bringing in new ones.</a:t>
            </a:r>
          </a:p>
          <a:p>
            <a:r>
              <a:rPr lang="en-US" b="1" dirty="0">
                <a:latin typeface="Bell MT" panose="02020503060305020303" pitchFamily="18" charset="0"/>
              </a:rPr>
              <a:t>• </a:t>
            </a:r>
            <a:r>
              <a:rPr lang="en-US" sz="1600" dirty="0">
                <a:latin typeface="Bell MT" panose="02020503060305020303" pitchFamily="18" charset="0"/>
              </a:rPr>
              <a:t>Some products like </a:t>
            </a:r>
            <a:r>
              <a:rPr lang="en-US" sz="1600" b="1" dirty="0">
                <a:latin typeface="Bell MT" panose="02020503060305020303" pitchFamily="18" charset="0"/>
              </a:rPr>
              <a:t>Mini Basketball Hoop and Uno Card Game </a:t>
            </a:r>
            <a:r>
              <a:rPr lang="en-US" sz="1600" dirty="0">
                <a:latin typeface="Bell MT" panose="02020503060305020303" pitchFamily="18" charset="0"/>
              </a:rPr>
              <a:t>don't attract customers. Consider removing them or change their marketing.</a:t>
            </a:r>
          </a:p>
          <a:p>
            <a:r>
              <a:rPr lang="en-US" dirty="0">
                <a:latin typeface="Bell MT" panose="02020503060305020303" pitchFamily="18" charset="0"/>
              </a:rPr>
              <a:t>• </a:t>
            </a:r>
            <a:r>
              <a:rPr lang="en-US" sz="1600" b="1" dirty="0">
                <a:latin typeface="Bell MT" panose="02020503060305020303" pitchFamily="18" charset="0"/>
              </a:rPr>
              <a:t>Toys and Art &amp; Crafts </a:t>
            </a:r>
            <a:r>
              <a:rPr lang="en-US" sz="1600" dirty="0">
                <a:latin typeface="Bell MT" panose="02020503060305020303" pitchFamily="18" charset="0"/>
              </a:rPr>
              <a:t>each have both top sellers and poor sellers. Focus on understanding why some items in these categories succeed while others fail, then apply those lessons.</a:t>
            </a:r>
          </a:p>
          <a:p>
            <a:r>
              <a:rPr lang="en-US" dirty="0">
                <a:latin typeface="Bell MT" panose="02020503060305020303" pitchFamily="18" charset="0"/>
              </a:rPr>
              <a:t>• </a:t>
            </a:r>
            <a:r>
              <a:rPr lang="en-US" sz="1600" dirty="0">
                <a:latin typeface="Bell MT" panose="02020503060305020303" pitchFamily="18" charset="0"/>
              </a:rPr>
              <a:t>Low sales might be caused by poor shelf placement, wrong pricing, or stock problems - not just lack of interest. Investigate these factors before deciding to remove products.</a:t>
            </a:r>
          </a:p>
        </p:txBody>
      </p:sp>
      <p:sp>
        <p:nvSpPr>
          <p:cNvPr id="9" name="TextBox 8">
            <a:extLst>
              <a:ext uri="{FF2B5EF4-FFF2-40B4-BE49-F238E27FC236}">
                <a16:creationId xmlns:a16="http://schemas.microsoft.com/office/drawing/2014/main" id="{520D3298-662A-98EB-3882-D4631DCA5BA6}"/>
              </a:ext>
            </a:extLst>
          </p:cNvPr>
          <p:cNvSpPr txBox="1"/>
          <p:nvPr/>
        </p:nvSpPr>
        <p:spPr>
          <a:xfrm>
            <a:off x="449353" y="1781286"/>
            <a:ext cx="4900602" cy="3943546"/>
          </a:xfrm>
          <a:prstGeom prst="rect">
            <a:avLst/>
          </a:prstGeom>
          <a:solidFill>
            <a:schemeClr val="bg1"/>
          </a:solidFill>
          <a:ln w="76200">
            <a:solidFill>
              <a:srgbClr val="454452"/>
            </a:solidFill>
          </a:ln>
        </p:spPr>
        <p:txBody>
          <a:bodyPr wrap="square" rtlCol="0">
            <a:spAutoFit/>
          </a:bodyPr>
          <a:lstStyle/>
          <a:p>
            <a:endParaRPr lang="en-US" dirty="0"/>
          </a:p>
        </p:txBody>
      </p:sp>
      <p:pic>
        <p:nvPicPr>
          <p:cNvPr id="2" name="Picture 1">
            <a:extLst>
              <a:ext uri="{FF2B5EF4-FFF2-40B4-BE49-F238E27FC236}">
                <a16:creationId xmlns:a16="http://schemas.microsoft.com/office/drawing/2014/main" id="{CC26A982-88EC-8D95-56EF-C2ECDF0118D3}"/>
              </a:ext>
            </a:extLst>
          </p:cNvPr>
          <p:cNvPicPr>
            <a:picLocks noChangeAspect="1"/>
          </p:cNvPicPr>
          <p:nvPr/>
        </p:nvPicPr>
        <p:blipFill>
          <a:blip r:embed="rId3"/>
          <a:stretch>
            <a:fillRect/>
          </a:stretch>
        </p:blipFill>
        <p:spPr>
          <a:xfrm>
            <a:off x="562609" y="1929283"/>
            <a:ext cx="4674089" cy="3647551"/>
          </a:xfrm>
          <a:prstGeom prst="rect">
            <a:avLst/>
          </a:prstGeom>
        </p:spPr>
      </p:pic>
    </p:spTree>
    <p:extLst>
      <p:ext uri="{BB962C8B-B14F-4D97-AF65-F5344CB8AC3E}">
        <p14:creationId xmlns:p14="http://schemas.microsoft.com/office/powerpoint/2010/main" val="1727270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34DCBD7-4958-6EBE-5FDA-7CCE2024ABA3}"/>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F7634122-9BD3-A79F-4B5E-9DFF73DF5301}"/>
              </a:ext>
            </a:extLst>
          </p:cNvPr>
          <p:cNvPicPr>
            <a:picLocks noChangeAspect="1"/>
          </p:cNvPicPr>
          <p:nvPr/>
        </p:nvPicPr>
        <p:blipFill>
          <a:blip r:embed="rId3"/>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B6952FD0-281D-A341-81F5-F9DE8C863662}"/>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9D55ACAC-B8D1-AB85-1CBF-BFDC7AAD8B0D}"/>
              </a:ext>
            </a:extLst>
          </p:cNvPr>
          <p:cNvSpPr>
            <a:spLocks noGrp="1"/>
          </p:cNvSpPr>
          <p:nvPr>
            <p:ph type="body" idx="1"/>
          </p:nvPr>
        </p:nvSpPr>
        <p:spPr>
          <a:xfrm>
            <a:off x="132928"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Product Categories drive the Most and Least sales? </a:t>
            </a:r>
          </a:p>
          <a:p>
            <a:endParaRPr lang="en-US" dirty="0"/>
          </a:p>
        </p:txBody>
      </p:sp>
      <p:sp>
        <p:nvSpPr>
          <p:cNvPr id="5" name="TextBox 4">
            <a:extLst>
              <a:ext uri="{FF2B5EF4-FFF2-40B4-BE49-F238E27FC236}">
                <a16:creationId xmlns:a16="http://schemas.microsoft.com/office/drawing/2014/main" id="{CB820349-63B2-37F5-A98F-8E9B2A73412D}"/>
              </a:ext>
            </a:extLst>
          </p:cNvPr>
          <p:cNvSpPr txBox="1"/>
          <p:nvPr/>
        </p:nvSpPr>
        <p:spPr>
          <a:xfrm>
            <a:off x="5543746" y="1696746"/>
            <a:ext cx="6376223" cy="4524315"/>
          </a:xfrm>
          <a:prstGeom prst="rect">
            <a:avLst/>
          </a:prstGeom>
          <a:noFill/>
        </p:spPr>
        <p:txBody>
          <a:bodyPr wrap="square" rtlCol="0">
            <a:spAutoFit/>
          </a:bodyPr>
          <a:lstStyle/>
          <a:p>
            <a:r>
              <a:rPr lang="en-US" b="1" dirty="0">
                <a:latin typeface="Bell MT" panose="02020503060305020303" pitchFamily="18" charset="0"/>
              </a:rPr>
              <a:t>Finding</a:t>
            </a:r>
            <a:r>
              <a:rPr lang="en-US" dirty="0">
                <a:latin typeface="Bell MT" panose="02020503060305020303" pitchFamily="18" charset="0"/>
              </a:rPr>
              <a:t>:  </a:t>
            </a:r>
          </a:p>
          <a:p>
            <a:pPr lvl="0"/>
            <a:r>
              <a:rPr lang="en-US" b="1" dirty="0">
                <a:latin typeface="Bell MT" panose="02020503060305020303" pitchFamily="18" charset="0"/>
              </a:rPr>
              <a:t>Art &amp; Crafts</a:t>
            </a:r>
            <a:r>
              <a:rPr lang="en-US" dirty="0">
                <a:latin typeface="Bell MT" panose="02020503060305020303" pitchFamily="18" charset="0"/>
              </a:rPr>
              <a:t> leads with the highest total sales: </a:t>
            </a:r>
            <a:r>
              <a:rPr lang="en-US" b="1" dirty="0">
                <a:latin typeface="Bell MT" panose="02020503060305020303" pitchFamily="18" charset="0"/>
              </a:rPr>
              <a:t>325,574 units</a:t>
            </a:r>
            <a:r>
              <a:rPr lang="en-US" dirty="0">
                <a:latin typeface="Bell MT" panose="02020503060305020303" pitchFamily="18" charset="0"/>
              </a:rPr>
              <a:t>.</a:t>
            </a:r>
          </a:p>
          <a:p>
            <a:pPr lvl="0"/>
            <a:r>
              <a:rPr lang="en-US" dirty="0">
                <a:latin typeface="Bell MT" panose="02020503060305020303" pitchFamily="18" charset="0"/>
              </a:rPr>
              <a:t>Followed by </a:t>
            </a:r>
            <a:r>
              <a:rPr lang="en-US" b="1" dirty="0">
                <a:latin typeface="Bell MT" panose="02020503060305020303" pitchFamily="18" charset="0"/>
              </a:rPr>
              <a:t>Toys</a:t>
            </a:r>
            <a:r>
              <a:rPr lang="en-US" dirty="0">
                <a:latin typeface="Bell MT" panose="02020503060305020303" pitchFamily="18" charset="0"/>
              </a:rPr>
              <a:t>: </a:t>
            </a:r>
            <a:r>
              <a:rPr lang="en-US" b="1" dirty="0">
                <a:latin typeface="Bell MT" panose="02020503060305020303" pitchFamily="18" charset="0"/>
              </a:rPr>
              <a:t>267,200 units</a:t>
            </a:r>
            <a:r>
              <a:rPr lang="en-US" dirty="0">
                <a:latin typeface="Bell MT" panose="02020503060305020303" pitchFamily="18" charset="0"/>
              </a:rPr>
              <a:t>.</a:t>
            </a:r>
          </a:p>
          <a:p>
            <a:pPr lvl="0"/>
            <a:r>
              <a:rPr lang="en-US" b="1" dirty="0">
                <a:latin typeface="Bell MT" panose="02020503060305020303" pitchFamily="18" charset="0"/>
              </a:rPr>
              <a:t>Games</a:t>
            </a:r>
            <a:r>
              <a:rPr lang="en-US" dirty="0">
                <a:latin typeface="Bell MT" panose="02020503060305020303" pitchFamily="18" charset="0"/>
              </a:rPr>
              <a:t>: </a:t>
            </a:r>
            <a:r>
              <a:rPr lang="en-US" b="1" dirty="0">
                <a:latin typeface="Bell MT" panose="02020503060305020303" pitchFamily="18" charset="0"/>
              </a:rPr>
              <a:t>194,673 units</a:t>
            </a:r>
            <a:r>
              <a:rPr lang="en-US" dirty="0">
                <a:latin typeface="Bell MT" panose="02020503060305020303" pitchFamily="18" charset="0"/>
              </a:rPr>
              <a:t>.</a:t>
            </a:r>
          </a:p>
          <a:p>
            <a:pPr lvl="0"/>
            <a:r>
              <a:rPr lang="en-US" b="1" dirty="0">
                <a:latin typeface="Bell MT" panose="02020503060305020303" pitchFamily="18" charset="0"/>
              </a:rPr>
              <a:t>Sports &amp; Outdoors</a:t>
            </a:r>
            <a:r>
              <a:rPr lang="en-US" dirty="0">
                <a:latin typeface="Bell MT" panose="02020503060305020303" pitchFamily="18" charset="0"/>
              </a:rPr>
              <a:t>: </a:t>
            </a:r>
            <a:r>
              <a:rPr lang="en-US" b="1" dirty="0">
                <a:latin typeface="Bell MT" panose="02020503060305020303" pitchFamily="18" charset="0"/>
              </a:rPr>
              <a:t>169,043 units</a:t>
            </a:r>
            <a:r>
              <a:rPr lang="en-US" dirty="0">
                <a:latin typeface="Bell MT" panose="02020503060305020303" pitchFamily="18" charset="0"/>
              </a:rPr>
              <a:t>.</a:t>
            </a:r>
          </a:p>
          <a:p>
            <a:pPr lvl="0"/>
            <a:r>
              <a:rPr lang="en-US" b="1" dirty="0">
                <a:latin typeface="Bell MT" panose="02020503060305020303" pitchFamily="18" charset="0"/>
              </a:rPr>
              <a:t>Electronics</a:t>
            </a:r>
            <a:r>
              <a:rPr lang="en-US" dirty="0">
                <a:latin typeface="Bell MT" panose="02020503060305020303" pitchFamily="18" charset="0"/>
              </a:rPr>
              <a:t> records the lowest: </a:t>
            </a:r>
            <a:r>
              <a:rPr lang="en-US" b="1" dirty="0">
                <a:latin typeface="Bell MT" panose="02020503060305020303" pitchFamily="18" charset="0"/>
              </a:rPr>
              <a:t>134,075 units</a:t>
            </a:r>
            <a:r>
              <a:rPr lang="en-US" dirty="0">
                <a:latin typeface="Bell MT" panose="02020503060305020303" pitchFamily="18" charset="0"/>
              </a:rPr>
              <a:t>.</a:t>
            </a:r>
          </a:p>
          <a:p>
            <a:endParaRPr lang="en-US" dirty="0">
              <a:latin typeface="Bell MT" panose="02020503060305020303" pitchFamily="18" charset="0"/>
            </a:endParaRPr>
          </a:p>
          <a:p>
            <a:r>
              <a:rPr lang="en-US" b="1" dirty="0">
                <a:latin typeface="Bell MT" panose="02020503060305020303" pitchFamily="18" charset="0"/>
              </a:rPr>
              <a:t>Insight:</a:t>
            </a:r>
          </a:p>
          <a:p>
            <a:pPr lvl="0"/>
            <a:r>
              <a:rPr lang="en-US" dirty="0"/>
              <a:t>• </a:t>
            </a:r>
            <a:r>
              <a:rPr lang="en-US" b="1" dirty="0">
                <a:latin typeface="Bell MT" panose="02020503060305020303" pitchFamily="18" charset="0"/>
              </a:rPr>
              <a:t>Art &amp; Crafts</a:t>
            </a:r>
            <a:r>
              <a:rPr lang="en-US" dirty="0">
                <a:latin typeface="Bell MT" panose="02020503060305020303" pitchFamily="18" charset="0"/>
              </a:rPr>
              <a:t> is the top-performing category; likely due to multiple popular items driving sustained sales.</a:t>
            </a:r>
          </a:p>
          <a:p>
            <a:pPr lvl="0"/>
            <a:r>
              <a:rPr lang="en-US" dirty="0"/>
              <a:t>• </a:t>
            </a:r>
            <a:r>
              <a:rPr lang="en-US" b="1" dirty="0">
                <a:latin typeface="Bell MT" panose="02020503060305020303" pitchFamily="18" charset="0"/>
              </a:rPr>
              <a:t>Toys</a:t>
            </a:r>
            <a:r>
              <a:rPr lang="en-US" dirty="0">
                <a:latin typeface="Bell MT" panose="02020503060305020303" pitchFamily="18" charset="0"/>
              </a:rPr>
              <a:t> remain a strong core category with broad appeal.</a:t>
            </a:r>
          </a:p>
          <a:p>
            <a:pPr lvl="0"/>
            <a:r>
              <a:rPr lang="en-US" dirty="0"/>
              <a:t>• </a:t>
            </a:r>
            <a:r>
              <a:rPr lang="en-US" b="1" dirty="0">
                <a:latin typeface="Bell MT" panose="02020503060305020303" pitchFamily="18" charset="0"/>
              </a:rPr>
              <a:t>Electronics</a:t>
            </a:r>
            <a:r>
              <a:rPr lang="en-US" dirty="0">
                <a:latin typeface="Bell MT" panose="02020503060305020303" pitchFamily="18" charset="0"/>
              </a:rPr>
              <a:t>, despite Colorbuds' individual success, underperforms as a category ; suggesting limited product range.</a:t>
            </a:r>
          </a:p>
          <a:p>
            <a:pPr lvl="0"/>
            <a:r>
              <a:rPr lang="en-US" dirty="0"/>
              <a:t>• </a:t>
            </a:r>
            <a:r>
              <a:rPr lang="en-US" b="1" dirty="0">
                <a:latin typeface="Bell MT" panose="02020503060305020303" pitchFamily="18" charset="0"/>
              </a:rPr>
              <a:t>Sports &amp; Outdoors</a:t>
            </a:r>
            <a:r>
              <a:rPr lang="en-US" dirty="0">
                <a:latin typeface="Bell MT" panose="02020503060305020303" pitchFamily="18" charset="0"/>
              </a:rPr>
              <a:t> also trails ; may need product diversification or better marketing.</a:t>
            </a:r>
          </a:p>
          <a:p>
            <a:endParaRPr lang="en-US" b="1" dirty="0">
              <a:latin typeface="Bell MT" panose="02020503060305020303" pitchFamily="18" charset="0"/>
            </a:endParaRPr>
          </a:p>
        </p:txBody>
      </p:sp>
      <p:grpSp>
        <p:nvGrpSpPr>
          <p:cNvPr id="3" name="Group 2">
            <a:extLst>
              <a:ext uri="{FF2B5EF4-FFF2-40B4-BE49-F238E27FC236}">
                <a16:creationId xmlns:a16="http://schemas.microsoft.com/office/drawing/2014/main" id="{97F4C3C0-14B2-E586-5608-CF0FC7877BB6}"/>
              </a:ext>
            </a:extLst>
          </p:cNvPr>
          <p:cNvGrpSpPr/>
          <p:nvPr/>
        </p:nvGrpSpPr>
        <p:grpSpPr>
          <a:xfrm>
            <a:off x="449032" y="1696746"/>
            <a:ext cx="4753645" cy="3806951"/>
            <a:chOff x="448480" y="1870367"/>
            <a:chExt cx="4753645" cy="3806951"/>
          </a:xfrm>
        </p:grpSpPr>
        <p:sp>
          <p:nvSpPr>
            <p:cNvPr id="9" name="TextBox 8">
              <a:extLst>
                <a:ext uri="{FF2B5EF4-FFF2-40B4-BE49-F238E27FC236}">
                  <a16:creationId xmlns:a16="http://schemas.microsoft.com/office/drawing/2014/main" id="{C5D8E6CA-74EA-0CE3-79F3-8EE0D79DE9D5}"/>
                </a:ext>
              </a:extLst>
            </p:cNvPr>
            <p:cNvSpPr txBox="1"/>
            <p:nvPr/>
          </p:nvSpPr>
          <p:spPr>
            <a:xfrm>
              <a:off x="448480" y="1870367"/>
              <a:ext cx="4753645" cy="3806951"/>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861D0D97-92C0-A791-4FFB-7D2B29F667A8}"/>
                </a:ext>
              </a:extLst>
            </p:cNvPr>
            <p:cNvPicPr>
              <a:picLocks noChangeAspect="1"/>
            </p:cNvPicPr>
            <p:nvPr/>
          </p:nvPicPr>
          <p:blipFill>
            <a:blip r:embed="rId4"/>
            <a:stretch>
              <a:fillRect/>
            </a:stretch>
          </p:blipFill>
          <p:spPr>
            <a:xfrm>
              <a:off x="540872" y="1988403"/>
              <a:ext cx="4568860" cy="3570877"/>
            </a:xfrm>
            <a:prstGeom prst="rect">
              <a:avLst/>
            </a:prstGeom>
          </p:spPr>
        </p:pic>
      </p:grpSp>
    </p:spTree>
    <p:extLst>
      <p:ext uri="{BB962C8B-B14F-4D97-AF65-F5344CB8AC3E}">
        <p14:creationId xmlns:p14="http://schemas.microsoft.com/office/powerpoint/2010/main" val="816541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3E4F7A8-8082-5E96-33E3-BB131BDD31C2}"/>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4A8F6811-21CB-EBD4-D9C4-CFF9E5FE7861}"/>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345A7FE9-BF5F-0532-A236-6E7A05F30E2D}"/>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9861E6DE-313B-B993-A769-CE5E3FFEAABD}"/>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products generate the least profit? </a:t>
            </a:r>
          </a:p>
          <a:p>
            <a:endParaRPr lang="en-US" dirty="0"/>
          </a:p>
        </p:txBody>
      </p:sp>
      <p:sp>
        <p:nvSpPr>
          <p:cNvPr id="5" name="TextBox 4">
            <a:extLst>
              <a:ext uri="{FF2B5EF4-FFF2-40B4-BE49-F238E27FC236}">
                <a16:creationId xmlns:a16="http://schemas.microsoft.com/office/drawing/2014/main" id="{F7CD3F01-0DCA-9C6C-959A-E0B48BB6378C}"/>
              </a:ext>
            </a:extLst>
          </p:cNvPr>
          <p:cNvSpPr txBox="1"/>
          <p:nvPr/>
        </p:nvSpPr>
        <p:spPr>
          <a:xfrm>
            <a:off x="5139366" y="1699545"/>
            <a:ext cx="7052614" cy="5078313"/>
          </a:xfrm>
          <a:prstGeom prst="rect">
            <a:avLst/>
          </a:prstGeom>
          <a:noFill/>
        </p:spPr>
        <p:txBody>
          <a:bodyPr wrap="square" rtlCol="0">
            <a:spAutoFit/>
          </a:bodyPr>
          <a:lstStyle/>
          <a:p>
            <a:r>
              <a:rPr lang="en-US" b="1" dirty="0">
                <a:latin typeface="Bell MT" panose="02020503060305020303" pitchFamily="18" charset="0"/>
              </a:rPr>
              <a:t>Finding: </a:t>
            </a:r>
          </a:p>
          <a:p>
            <a:pPr lvl="0"/>
            <a:r>
              <a:rPr lang="en-US" b="1" dirty="0">
                <a:latin typeface="Bell MT" panose="02020503060305020303" pitchFamily="18" charset="0"/>
              </a:rPr>
              <a:t>• Toys</a:t>
            </a:r>
            <a:r>
              <a:rPr lang="en-US" dirty="0">
                <a:latin typeface="Bell MT" panose="02020503060305020303" pitchFamily="18" charset="0"/>
              </a:rPr>
              <a:t> led with the highest total profit at </a:t>
            </a:r>
            <a:r>
              <a:rPr lang="en-US" b="1" dirty="0">
                <a:latin typeface="Bell MT" panose="02020503060305020303" pitchFamily="18" charset="0"/>
              </a:rPr>
              <a:t>$1.08M</a:t>
            </a:r>
            <a:r>
              <a:rPr lang="en-US" dirty="0">
                <a:latin typeface="Bell MT" panose="02020503060305020303" pitchFamily="18" charset="0"/>
              </a:rPr>
              <a:t>.</a:t>
            </a:r>
          </a:p>
          <a:p>
            <a:pPr lvl="0"/>
            <a:r>
              <a:rPr lang="en-US" dirty="0">
                <a:latin typeface="Bell MT" panose="02020503060305020303" pitchFamily="18" charset="0"/>
              </a:rPr>
              <a:t>• </a:t>
            </a:r>
            <a:r>
              <a:rPr lang="en-US" b="1" dirty="0">
                <a:latin typeface="Bell MT" panose="02020503060305020303" pitchFamily="18" charset="0"/>
              </a:rPr>
              <a:t>Electronics</a:t>
            </a:r>
            <a:r>
              <a:rPr lang="en-US" dirty="0">
                <a:latin typeface="Bell MT" panose="02020503060305020303" pitchFamily="18" charset="0"/>
              </a:rPr>
              <a:t> follow closely with </a:t>
            </a:r>
            <a:r>
              <a:rPr lang="en-US" b="1" dirty="0">
                <a:latin typeface="Bell MT" panose="02020503060305020303" pitchFamily="18" charset="0"/>
              </a:rPr>
              <a:t>$1.00M</a:t>
            </a:r>
            <a:r>
              <a:rPr lang="en-US" dirty="0">
                <a:latin typeface="Bell MT" panose="02020503060305020303" pitchFamily="18" charset="0"/>
              </a:rPr>
              <a:t>, driven largely by top-performing products like Colorbuds.</a:t>
            </a:r>
          </a:p>
          <a:p>
            <a:pPr lvl="0"/>
            <a:r>
              <a:rPr lang="en-US" dirty="0">
                <a:latin typeface="Bell MT" panose="02020503060305020303" pitchFamily="18" charset="0"/>
              </a:rPr>
              <a:t>• </a:t>
            </a:r>
            <a:r>
              <a:rPr lang="en-US" b="1" dirty="0">
                <a:latin typeface="Bell MT" panose="02020503060305020303" pitchFamily="18" charset="0"/>
              </a:rPr>
              <a:t>Art &amp; Crafts </a:t>
            </a:r>
            <a:r>
              <a:rPr lang="en-US" dirty="0">
                <a:latin typeface="Bell MT" panose="02020503060305020303" pitchFamily="18" charset="0"/>
              </a:rPr>
              <a:t>and </a:t>
            </a:r>
            <a:r>
              <a:rPr lang="en-US" b="1" dirty="0">
                <a:latin typeface="Bell MT" panose="02020503060305020303" pitchFamily="18" charset="0"/>
              </a:rPr>
              <a:t>Games</a:t>
            </a:r>
            <a:r>
              <a:rPr lang="en-US" dirty="0">
                <a:latin typeface="Bell MT" panose="02020503060305020303" pitchFamily="18" charset="0"/>
              </a:rPr>
              <a:t> generate moderate profits at </a:t>
            </a:r>
            <a:r>
              <a:rPr lang="en-US" b="1" dirty="0">
                <a:latin typeface="Bell MT" panose="02020503060305020303" pitchFamily="18" charset="0"/>
              </a:rPr>
              <a:t>$0.75M</a:t>
            </a:r>
            <a:r>
              <a:rPr lang="en-US" dirty="0">
                <a:latin typeface="Bell MT" panose="02020503060305020303" pitchFamily="18" charset="0"/>
              </a:rPr>
              <a:t> and </a:t>
            </a:r>
            <a:r>
              <a:rPr lang="en-US" b="1" dirty="0">
                <a:latin typeface="Bell MT" panose="02020503060305020303" pitchFamily="18" charset="0"/>
              </a:rPr>
              <a:t>$0.67M</a:t>
            </a:r>
            <a:r>
              <a:rPr lang="en-US" dirty="0">
                <a:latin typeface="Bell MT" panose="02020503060305020303" pitchFamily="18" charset="0"/>
              </a:rPr>
              <a:t>, respectively.</a:t>
            </a:r>
          </a:p>
          <a:p>
            <a:pPr lvl="0"/>
            <a:r>
              <a:rPr lang="en-US" dirty="0">
                <a:latin typeface="Bell MT" panose="02020503060305020303" pitchFamily="18" charset="0"/>
              </a:rPr>
              <a:t>• </a:t>
            </a:r>
            <a:r>
              <a:rPr lang="en-US" b="1" dirty="0">
                <a:latin typeface="Bell MT" panose="02020503060305020303" pitchFamily="18" charset="0"/>
              </a:rPr>
              <a:t>Sports &amp; Outdoors </a:t>
            </a:r>
            <a:r>
              <a:rPr lang="en-US" dirty="0">
                <a:latin typeface="Bell MT" panose="02020503060305020303" pitchFamily="18" charset="0"/>
              </a:rPr>
              <a:t>has the lowest profit at </a:t>
            </a:r>
            <a:r>
              <a:rPr lang="en-US" b="1" dirty="0">
                <a:latin typeface="Bell MT" panose="02020503060305020303" pitchFamily="18" charset="0"/>
              </a:rPr>
              <a:t>$0.51M</a:t>
            </a:r>
            <a:r>
              <a:rPr lang="en-US" dirty="0">
                <a:latin typeface="Bell MT" panose="02020503060305020303" pitchFamily="18" charset="0"/>
              </a:rPr>
              <a:t>.</a:t>
            </a:r>
          </a:p>
          <a:p>
            <a:pPr lvl="0"/>
            <a:endParaRPr lang="en-US" b="1" dirty="0">
              <a:latin typeface="Bell MT" panose="02020503060305020303" pitchFamily="18" charset="0"/>
            </a:endParaRPr>
          </a:p>
          <a:p>
            <a:r>
              <a:rPr lang="en-US" b="1" dirty="0">
                <a:latin typeface="Bell MT" panose="02020503060305020303" pitchFamily="18" charset="0"/>
              </a:rPr>
              <a:t>Insight:</a:t>
            </a:r>
          </a:p>
          <a:p>
            <a:pPr lvl="0"/>
            <a:r>
              <a:rPr lang="en-US" b="1" dirty="0">
                <a:latin typeface="Bell MT" panose="02020503060305020303" pitchFamily="18" charset="0"/>
              </a:rPr>
              <a:t>• Toys</a:t>
            </a:r>
            <a:r>
              <a:rPr lang="en-US" dirty="0">
                <a:latin typeface="Bell MT" panose="02020503060305020303" pitchFamily="18" charset="0"/>
              </a:rPr>
              <a:t> are consistently strong performers in both sales and profitability, a dependable revenue driver.</a:t>
            </a:r>
          </a:p>
          <a:p>
            <a:pPr lvl="0"/>
            <a:r>
              <a:rPr lang="en-US" b="1" dirty="0">
                <a:latin typeface="Bell MT" panose="02020503060305020303" pitchFamily="18" charset="0"/>
              </a:rPr>
              <a:t>• Electronics</a:t>
            </a:r>
            <a:r>
              <a:rPr lang="en-US" dirty="0">
                <a:latin typeface="Bell MT" panose="02020503060305020303" pitchFamily="18" charset="0"/>
              </a:rPr>
              <a:t>, though least in number of sales, deliver high margins, suggesting strong potential if more products are added.</a:t>
            </a:r>
          </a:p>
          <a:p>
            <a:pPr lvl="0"/>
            <a:r>
              <a:rPr lang="en-US" b="1" dirty="0">
                <a:latin typeface="Bell MT" panose="02020503060305020303" pitchFamily="18" charset="0"/>
              </a:rPr>
              <a:t>• Art &amp; Crafts</a:t>
            </a:r>
            <a:r>
              <a:rPr lang="en-US" dirty="0">
                <a:latin typeface="Bell MT" panose="02020503060305020303" pitchFamily="18" charset="0"/>
              </a:rPr>
              <a:t> and </a:t>
            </a:r>
            <a:r>
              <a:rPr lang="en-US" b="1" dirty="0">
                <a:latin typeface="Bell MT" panose="02020503060305020303" pitchFamily="18" charset="0"/>
              </a:rPr>
              <a:t>Games</a:t>
            </a:r>
            <a:r>
              <a:rPr lang="en-US" dirty="0">
                <a:latin typeface="Bell MT" panose="02020503060305020303" pitchFamily="18" charset="0"/>
              </a:rPr>
              <a:t> contribute reliably but may benefit from strategic product selection.</a:t>
            </a:r>
          </a:p>
          <a:p>
            <a:pPr lvl="0"/>
            <a:r>
              <a:rPr lang="en-US" b="1" dirty="0">
                <a:latin typeface="Bell MT" panose="02020503060305020303" pitchFamily="18" charset="0"/>
              </a:rPr>
              <a:t>• Sports &amp; Outdoors</a:t>
            </a:r>
            <a:r>
              <a:rPr lang="en-US" dirty="0">
                <a:latin typeface="Bell MT" panose="02020503060305020303" pitchFamily="18" charset="0"/>
              </a:rPr>
              <a:t> may need attention, either through marketing, pricing adjustments, or product refresh.</a:t>
            </a:r>
          </a:p>
          <a:p>
            <a:pPr lvl="0"/>
            <a:r>
              <a:rPr lang="en-US" dirty="0">
                <a:latin typeface="Bell MT" panose="02020503060305020303" pitchFamily="18" charset="0"/>
              </a:rPr>
              <a:t>.</a:t>
            </a:r>
          </a:p>
        </p:txBody>
      </p:sp>
      <p:sp>
        <p:nvSpPr>
          <p:cNvPr id="9" name="TextBox 8">
            <a:extLst>
              <a:ext uri="{FF2B5EF4-FFF2-40B4-BE49-F238E27FC236}">
                <a16:creationId xmlns:a16="http://schemas.microsoft.com/office/drawing/2014/main" id="{E391C8D3-D29E-778B-E52C-243427733E76}"/>
              </a:ext>
            </a:extLst>
          </p:cNvPr>
          <p:cNvSpPr txBox="1"/>
          <p:nvPr/>
        </p:nvSpPr>
        <p:spPr>
          <a:xfrm>
            <a:off x="416745" y="1800029"/>
            <a:ext cx="4486851" cy="3843062"/>
          </a:xfrm>
          <a:prstGeom prst="rect">
            <a:avLst/>
          </a:prstGeom>
          <a:solidFill>
            <a:srgbClr val="454452"/>
          </a:solidFill>
        </p:spPr>
        <p:txBody>
          <a:bodyPr wrap="square" rtlCol="0">
            <a:spAutoFit/>
          </a:bodyPr>
          <a:lstStyle/>
          <a:p>
            <a:endParaRPr lang="en-US" dirty="0"/>
          </a:p>
        </p:txBody>
      </p:sp>
      <p:pic>
        <p:nvPicPr>
          <p:cNvPr id="3" name="Picture 2">
            <a:extLst>
              <a:ext uri="{FF2B5EF4-FFF2-40B4-BE49-F238E27FC236}">
                <a16:creationId xmlns:a16="http://schemas.microsoft.com/office/drawing/2014/main" id="{9B942BEC-21E8-F3BC-AC1B-F9CBB2CADDB2}"/>
              </a:ext>
            </a:extLst>
          </p:cNvPr>
          <p:cNvPicPr>
            <a:picLocks noChangeAspect="1"/>
          </p:cNvPicPr>
          <p:nvPr/>
        </p:nvPicPr>
        <p:blipFill>
          <a:blip r:embed="rId3"/>
          <a:stretch>
            <a:fillRect/>
          </a:stretch>
        </p:blipFill>
        <p:spPr>
          <a:xfrm>
            <a:off x="485590" y="1899138"/>
            <a:ext cx="4347668" cy="3587262"/>
          </a:xfrm>
          <a:prstGeom prst="rect">
            <a:avLst/>
          </a:prstGeom>
        </p:spPr>
      </p:pic>
    </p:spTree>
    <p:extLst>
      <p:ext uri="{BB962C8B-B14F-4D97-AF65-F5344CB8AC3E}">
        <p14:creationId xmlns:p14="http://schemas.microsoft.com/office/powerpoint/2010/main" val="325199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6B9F16-429A-17C4-865F-2CADFEEE2F44}"/>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5C30B9CB-F9AB-BE04-79AE-B460C6957AA8}"/>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B70F613B-EE86-9B41-63B1-BEE07F378683}"/>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501E6E8B-5F85-E0CF-DF04-F9E55D7EB248}"/>
              </a:ext>
            </a:extLst>
          </p:cNvPr>
          <p:cNvSpPr>
            <a:spLocks noGrp="1"/>
          </p:cNvSpPr>
          <p:nvPr>
            <p:ph type="body" idx="1"/>
          </p:nvPr>
        </p:nvSpPr>
        <p:spPr>
          <a:xfrm>
            <a:off x="25477" y="985739"/>
            <a:ext cx="11850147"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products remain in inventory the longest?</a:t>
            </a:r>
          </a:p>
          <a:p>
            <a:endParaRPr lang="en-US" dirty="0"/>
          </a:p>
        </p:txBody>
      </p:sp>
      <p:sp>
        <p:nvSpPr>
          <p:cNvPr id="5" name="TextBox 4">
            <a:extLst>
              <a:ext uri="{FF2B5EF4-FFF2-40B4-BE49-F238E27FC236}">
                <a16:creationId xmlns:a16="http://schemas.microsoft.com/office/drawing/2014/main" id="{F28982FB-0D2B-44CB-4A54-6AC547A19B04}"/>
              </a:ext>
            </a:extLst>
          </p:cNvPr>
          <p:cNvSpPr txBox="1"/>
          <p:nvPr/>
        </p:nvSpPr>
        <p:spPr>
          <a:xfrm>
            <a:off x="5477842" y="1727961"/>
            <a:ext cx="6246623" cy="4436086"/>
          </a:xfrm>
          <a:prstGeom prst="rect">
            <a:avLst/>
          </a:prstGeom>
          <a:noFill/>
        </p:spPr>
        <p:txBody>
          <a:bodyPr wrap="square" rtlCol="0">
            <a:spAutoFit/>
          </a:bodyPr>
          <a:lstStyle/>
          <a:p>
            <a:r>
              <a:rPr lang="en-US" sz="1600" b="1" dirty="0">
                <a:latin typeface="Bell MT" panose="02020503060305020303" pitchFamily="18" charset="0"/>
              </a:rPr>
              <a:t>Finding: </a:t>
            </a:r>
          </a:p>
          <a:p>
            <a:pPr marL="342900" lvl="0" indent="-342900">
              <a:lnSpc>
                <a:spcPct val="115000"/>
              </a:lnSpc>
              <a:spcAft>
                <a:spcPts val="1000"/>
              </a:spcAft>
              <a:buSzPts val="1000"/>
              <a:buFont typeface="Symbol" panose="05050102010706020507" pitchFamily="18" charset="2"/>
              <a:buChar char=""/>
              <a:tabLst>
                <a:tab pos="457200" algn="l"/>
              </a:tabLst>
            </a:pPr>
            <a:r>
              <a:rPr lang="en-US" sz="1600" b="1" kern="0" dirty="0">
                <a:effectLst/>
                <a:latin typeface="Bell MT" panose="02020503060305020303" pitchFamily="18" charset="0"/>
                <a:ea typeface="Times New Roman" panose="02020603050405020304" pitchFamily="18" charset="0"/>
                <a:cs typeface="Bodoni MT" panose="02070603080606020203" pitchFamily="18" charset="0"/>
              </a:rPr>
              <a:t>Deck Of Cards</a:t>
            </a: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 has the highest stock on hand with </a:t>
            </a:r>
            <a:r>
              <a:rPr lang="en-US" sz="1600" b="1" kern="0" dirty="0">
                <a:effectLst/>
                <a:latin typeface="Bell MT" panose="02020503060305020303" pitchFamily="18" charset="0"/>
                <a:ea typeface="Times New Roman" panose="02020603050405020304" pitchFamily="18" charset="0"/>
                <a:cs typeface="Bodoni MT" panose="02070603080606020203" pitchFamily="18" charset="0"/>
              </a:rPr>
              <a:t>2,738 units</a:t>
            </a: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 followed by </a:t>
            </a:r>
            <a:r>
              <a:rPr lang="en-US" sz="1600" b="1" kern="0" dirty="0">
                <a:effectLst/>
                <a:latin typeface="Bell MT" panose="02020503060305020303" pitchFamily="18" charset="0"/>
                <a:ea typeface="Times New Roman" panose="02020603050405020304" pitchFamily="18" charset="0"/>
                <a:cs typeface="Bodoni MT" panose="02070603080606020203" pitchFamily="18" charset="0"/>
              </a:rPr>
              <a:t>Dinosaur Figures (2,272)</a:t>
            </a: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 and </a:t>
            </a:r>
            <a:r>
              <a:rPr lang="en-US" sz="1600" b="1" kern="0" dirty="0">
                <a:effectLst/>
                <a:latin typeface="Bell MT" panose="02020503060305020303" pitchFamily="18" charset="0"/>
                <a:ea typeface="Times New Roman" panose="02020603050405020304" pitchFamily="18" charset="0"/>
                <a:cs typeface="Bodoni MT" panose="02070603080606020203" pitchFamily="18" charset="0"/>
              </a:rPr>
              <a:t>PlayDoh Can (2,129)</a:t>
            </a: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a:t>
            </a:r>
            <a:endParaRPr lang="en-US" kern="100" dirty="0">
              <a:latin typeface="Bell MT" panose="02020503060305020303"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Other products with high inventory include </a:t>
            </a:r>
            <a:r>
              <a:rPr lang="en-US" sz="1600" b="1" kern="0" dirty="0">
                <a:effectLst/>
                <a:latin typeface="Bell MT" panose="02020503060305020303" pitchFamily="18" charset="0"/>
                <a:ea typeface="Times New Roman" panose="02020603050405020304" pitchFamily="18" charset="0"/>
                <a:cs typeface="Bodoni MT" panose="02070603080606020203" pitchFamily="18" charset="0"/>
              </a:rPr>
              <a:t>Magic Sand (1,922)</a:t>
            </a: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 and </a:t>
            </a:r>
            <a:r>
              <a:rPr lang="en-US" sz="1600" b="1" kern="0" dirty="0">
                <a:effectLst/>
                <a:latin typeface="Bell MT" panose="02020503060305020303" pitchFamily="18" charset="0"/>
                <a:ea typeface="Times New Roman" panose="02020603050405020304" pitchFamily="18" charset="0"/>
                <a:cs typeface="Bodoni MT" panose="02070603080606020203" pitchFamily="18" charset="0"/>
              </a:rPr>
              <a:t>Rubik's Cube (1,497)</a:t>
            </a:r>
            <a:r>
              <a:rPr lang="en-US" sz="1600" kern="0" dirty="0">
                <a:effectLst/>
                <a:latin typeface="Bell MT" panose="02020503060305020303" pitchFamily="18" charset="0"/>
                <a:ea typeface="Times New Roman" panose="02020603050405020304" pitchFamily="18" charset="0"/>
                <a:cs typeface="Bodoni MT" panose="02070603080606020203" pitchFamily="18" charset="0"/>
              </a:rPr>
              <a:t>.</a:t>
            </a:r>
            <a:endParaRPr lang="en-US" sz="1600" dirty="0">
              <a:latin typeface="Bell MT" panose="02020503060305020303" pitchFamily="18" charset="0"/>
            </a:endParaRPr>
          </a:p>
          <a:p>
            <a:r>
              <a:rPr lang="en-US" sz="1600" b="1" dirty="0">
                <a:latin typeface="Bell MT" panose="02020503060305020303" pitchFamily="18" charset="0"/>
              </a:rPr>
              <a:t>Insight:</a:t>
            </a:r>
          </a:p>
          <a:p>
            <a:pPr>
              <a:buNone/>
            </a:pPr>
            <a:r>
              <a:rPr lang="en-US" sz="1600" b="1" dirty="0">
                <a:latin typeface="Bell MT" panose="02020503060305020303" pitchFamily="18" charset="0"/>
              </a:rPr>
              <a:t>Insights:</a:t>
            </a:r>
            <a:endParaRPr lang="en-US" sz="1600" dirty="0">
              <a:latin typeface="Bell MT" panose="02020503060305020303" pitchFamily="18" charset="0"/>
            </a:endParaRPr>
          </a:p>
          <a:p>
            <a:pPr>
              <a:buFont typeface="Arial" panose="020B0604020202020204" pitchFamily="34" charset="0"/>
              <a:buChar char="•"/>
            </a:pPr>
            <a:r>
              <a:rPr lang="en-US" sz="1600" dirty="0">
                <a:latin typeface="Bell MT" panose="02020503060305020303" pitchFamily="18" charset="0"/>
              </a:rPr>
              <a:t> High stock levels suggest these products aren't selling as fast as expected, inventory isn't rotating properly, or the data was recorded at a specific time.</a:t>
            </a:r>
          </a:p>
          <a:p>
            <a:pPr>
              <a:buFont typeface="Arial" panose="020B0604020202020204" pitchFamily="34" charset="0"/>
              <a:buChar char="•"/>
            </a:pPr>
            <a:r>
              <a:rPr lang="en-US" sz="1600" dirty="0">
                <a:latin typeface="Bell MT" panose="02020503060305020303" pitchFamily="18" charset="0"/>
              </a:rPr>
              <a:t> Even popular products like Deck Of Cards and PlayDoh Can show high inventory. This could mean demand changes by season, or too much stock was ordered at the wrong time.</a:t>
            </a:r>
          </a:p>
          <a:p>
            <a:pPr>
              <a:buFont typeface="Arial" panose="020B0604020202020204" pitchFamily="34" charset="0"/>
              <a:buChar char="•"/>
            </a:pPr>
            <a:r>
              <a:rPr lang="en-US" sz="1600" dirty="0">
                <a:latin typeface="Bell MT" panose="02020503060305020303" pitchFamily="18" charset="0"/>
              </a:rPr>
              <a:t> The company should review stock levels and study when customers actually buy these products. This will help order the right amounts and avoid having too much inventory sitting unsold.</a:t>
            </a:r>
          </a:p>
        </p:txBody>
      </p:sp>
      <p:sp>
        <p:nvSpPr>
          <p:cNvPr id="9" name="TextBox 8">
            <a:extLst>
              <a:ext uri="{FF2B5EF4-FFF2-40B4-BE49-F238E27FC236}">
                <a16:creationId xmlns:a16="http://schemas.microsoft.com/office/drawing/2014/main" id="{AC6FBCEA-DD86-173C-CA2E-77E23F5E8C77}"/>
              </a:ext>
            </a:extLst>
          </p:cNvPr>
          <p:cNvSpPr txBox="1"/>
          <p:nvPr/>
        </p:nvSpPr>
        <p:spPr>
          <a:xfrm>
            <a:off x="300948" y="1799660"/>
            <a:ext cx="5010306" cy="3943546"/>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56B088DC-9B5D-7C58-B05A-4C4CEFE03E5A}"/>
              </a:ext>
            </a:extLst>
          </p:cNvPr>
          <p:cNvPicPr>
            <a:picLocks noChangeAspect="1"/>
          </p:cNvPicPr>
          <p:nvPr/>
        </p:nvPicPr>
        <p:blipFill>
          <a:blip r:embed="rId3"/>
          <a:stretch>
            <a:fillRect/>
          </a:stretch>
        </p:blipFill>
        <p:spPr>
          <a:xfrm>
            <a:off x="467535" y="1905741"/>
            <a:ext cx="4692581" cy="3731384"/>
          </a:xfrm>
          <a:prstGeom prst="rect">
            <a:avLst/>
          </a:prstGeom>
        </p:spPr>
      </p:pic>
    </p:spTree>
    <p:extLst>
      <p:ext uri="{BB962C8B-B14F-4D97-AF65-F5344CB8AC3E}">
        <p14:creationId xmlns:p14="http://schemas.microsoft.com/office/powerpoint/2010/main" val="4115669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B0D2538-B419-4D08-BDD7-EB3A77924A3C}"/>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BF01E5EF-8832-D422-3D7F-90EC929C7A81}"/>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56B83296-DAAB-AA15-8269-950743579BE9}"/>
              </a:ext>
            </a:extLst>
          </p:cNvPr>
          <p:cNvSpPr>
            <a:spLocks noGrp="1"/>
          </p:cNvSpPr>
          <p:nvPr>
            <p:ph type="title"/>
          </p:nvPr>
        </p:nvSpPr>
        <p:spPr>
          <a:xfrm>
            <a:off x="3100448" y="45287"/>
            <a:ext cx="5629275" cy="663817"/>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0D16EA5F-08ED-8518-92EA-AAF3BFB53F43}"/>
              </a:ext>
            </a:extLst>
          </p:cNvPr>
          <p:cNvSpPr>
            <a:spLocks noGrp="1"/>
          </p:cNvSpPr>
          <p:nvPr>
            <p:ph type="body" idx="1"/>
          </p:nvPr>
        </p:nvSpPr>
        <p:spPr>
          <a:xfrm>
            <a:off x="21" y="847421"/>
            <a:ext cx="12191979" cy="6055868"/>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months have the highest and lowest product sales?</a:t>
            </a:r>
          </a:p>
        </p:txBody>
      </p:sp>
      <p:sp>
        <p:nvSpPr>
          <p:cNvPr id="5" name="TextBox 4">
            <a:extLst>
              <a:ext uri="{FF2B5EF4-FFF2-40B4-BE49-F238E27FC236}">
                <a16:creationId xmlns:a16="http://schemas.microsoft.com/office/drawing/2014/main" id="{9ADAAB0C-F633-37C4-5FA4-B999EA7C8DBB}"/>
              </a:ext>
            </a:extLst>
          </p:cNvPr>
          <p:cNvSpPr txBox="1"/>
          <p:nvPr/>
        </p:nvSpPr>
        <p:spPr>
          <a:xfrm>
            <a:off x="5151107" y="1375445"/>
            <a:ext cx="6879222" cy="5551713"/>
          </a:xfrm>
          <a:prstGeom prst="rect">
            <a:avLst/>
          </a:prstGeom>
          <a:noFill/>
        </p:spPr>
        <p:txBody>
          <a:bodyPr wrap="square" rtlCol="0">
            <a:spAutoFit/>
          </a:bodyPr>
          <a:lstStyle/>
          <a:p>
            <a:r>
              <a:rPr lang="en-US" b="1" spc="-150" dirty="0">
                <a:latin typeface="Bell MT" panose="02020503060305020303" pitchFamily="18" charset="0"/>
              </a:rPr>
              <a:t>Finding: </a:t>
            </a:r>
          </a:p>
          <a:p>
            <a:pPr lvl="0">
              <a:lnSpc>
                <a:spcPct val="115000"/>
              </a:lnSpc>
              <a:spcAft>
                <a:spcPts val="1000"/>
              </a:spcAft>
              <a:buSzPts val="1000"/>
              <a:tabLst>
                <a:tab pos="457200" algn="l"/>
              </a:tabLst>
            </a:pPr>
            <a:r>
              <a:rPr lang="en-US" spc="-150" dirty="0">
                <a:latin typeface="Bell MT" panose="02020503060305020303" pitchFamily="18" charset="0"/>
              </a:rPr>
              <a:t>• </a:t>
            </a:r>
            <a:r>
              <a:rPr lang="en-US" b="1" kern="0" spc="-150" dirty="0">
                <a:effectLst/>
                <a:latin typeface="Bell MT" panose="02020503060305020303" pitchFamily="18" charset="0"/>
                <a:ea typeface="Times New Roman" panose="02020603050405020304" pitchFamily="18" charset="0"/>
                <a:cs typeface="Bodoni MT" panose="02070603080606020203" pitchFamily="18" charset="0"/>
              </a:rPr>
              <a:t>April (112,695)</a:t>
            </a:r>
            <a:r>
              <a:rPr lang="en-US" kern="0" spc="-150" dirty="0">
                <a:effectLst/>
                <a:latin typeface="Bell MT" panose="02020503060305020303" pitchFamily="18" charset="0"/>
                <a:ea typeface="Times New Roman" panose="02020603050405020304" pitchFamily="18" charset="0"/>
                <a:cs typeface="Bodoni MT" panose="02070603080606020203" pitchFamily="18" charset="0"/>
              </a:rPr>
              <a:t>, </a:t>
            </a:r>
            <a:r>
              <a:rPr lang="en-US" b="1" kern="0" spc="-150" dirty="0">
                <a:effectLst/>
                <a:latin typeface="Bell MT" panose="02020503060305020303" pitchFamily="18" charset="0"/>
                <a:ea typeface="Times New Roman" panose="02020603050405020304" pitchFamily="18" charset="0"/>
                <a:cs typeface="Bodoni MT" panose="02070603080606020203" pitchFamily="18" charset="0"/>
              </a:rPr>
              <a:t>June (111,453)</a:t>
            </a:r>
            <a:r>
              <a:rPr lang="en-US" kern="0" spc="-150" dirty="0">
                <a:effectLst/>
                <a:latin typeface="Bell MT" panose="02020503060305020303" pitchFamily="18" charset="0"/>
                <a:ea typeface="Times New Roman" panose="02020603050405020304" pitchFamily="18" charset="0"/>
                <a:cs typeface="Bodoni MT" panose="02070603080606020203" pitchFamily="18" charset="0"/>
              </a:rPr>
              <a:t>, and </a:t>
            </a:r>
            <a:r>
              <a:rPr lang="en-US" b="1" kern="0" spc="-150" dirty="0">
                <a:effectLst/>
                <a:latin typeface="Bell MT" panose="02020503060305020303" pitchFamily="18" charset="0"/>
                <a:ea typeface="Times New Roman" panose="02020603050405020304" pitchFamily="18" charset="0"/>
                <a:cs typeface="Bodoni MT" panose="02070603080606020203" pitchFamily="18" charset="0"/>
              </a:rPr>
              <a:t>May (110,761)</a:t>
            </a:r>
            <a:r>
              <a:rPr lang="en-US" kern="0" spc="-150" dirty="0">
                <a:effectLst/>
                <a:latin typeface="Bell MT" panose="02020503060305020303" pitchFamily="18" charset="0"/>
                <a:ea typeface="Times New Roman" panose="02020603050405020304" pitchFamily="18" charset="0"/>
                <a:cs typeface="Bodoni MT" panose="02070603080606020203" pitchFamily="18" charset="0"/>
              </a:rPr>
              <a:t> are the top three months for product sales.</a:t>
            </a:r>
            <a:endParaRPr lang="en-US" kern="100" spc="-150" dirty="0">
              <a:effectLst/>
              <a:latin typeface="Bell MT" panose="02020503060305020303" pitchFamily="18" charset="0"/>
              <a:ea typeface="Times New Roman" panose="02020603050405020304" pitchFamily="18" charset="0"/>
              <a:cs typeface="Times New Roman" panose="02020603050405020304" pitchFamily="18" charset="0"/>
            </a:endParaRPr>
          </a:p>
          <a:p>
            <a:pPr lvl="0">
              <a:lnSpc>
                <a:spcPct val="115000"/>
              </a:lnSpc>
              <a:spcAft>
                <a:spcPts val="1000"/>
              </a:spcAft>
              <a:buSzPts val="1000"/>
              <a:tabLst>
                <a:tab pos="457200" algn="l"/>
              </a:tabLst>
            </a:pPr>
            <a:r>
              <a:rPr lang="en-US" spc="-150" dirty="0">
                <a:latin typeface="Bell MT" panose="02020503060305020303" pitchFamily="18" charset="0"/>
              </a:rPr>
              <a:t>• </a:t>
            </a:r>
            <a:r>
              <a:rPr lang="en-US" b="1" kern="0" spc="-150" dirty="0">
                <a:effectLst/>
                <a:latin typeface="Bell MT" panose="02020503060305020303" pitchFamily="18" charset="0"/>
                <a:ea typeface="Times New Roman" panose="02020603050405020304" pitchFamily="18" charset="0"/>
                <a:cs typeface="Bodoni MT" panose="02070603080606020203" pitchFamily="18" charset="0"/>
              </a:rPr>
              <a:t>October (47,861)</a:t>
            </a:r>
            <a:r>
              <a:rPr lang="en-US" kern="0" spc="-150" dirty="0">
                <a:effectLst/>
                <a:latin typeface="Bell MT" panose="02020503060305020303" pitchFamily="18" charset="0"/>
                <a:ea typeface="Times New Roman" panose="02020603050405020304" pitchFamily="18" charset="0"/>
                <a:cs typeface="Bodoni MT" panose="02070603080606020203" pitchFamily="18" charset="0"/>
              </a:rPr>
              <a:t>, </a:t>
            </a:r>
            <a:r>
              <a:rPr lang="en-US" b="1" kern="0" spc="-150" dirty="0">
                <a:effectLst/>
                <a:latin typeface="Bell MT" panose="02020503060305020303" pitchFamily="18" charset="0"/>
                <a:ea typeface="Times New Roman" panose="02020603050405020304" pitchFamily="18" charset="0"/>
                <a:cs typeface="Bodoni MT" panose="02070603080606020203" pitchFamily="18" charset="0"/>
              </a:rPr>
              <a:t>November (51,185)</a:t>
            </a:r>
            <a:r>
              <a:rPr lang="en-US" kern="0" spc="-150" dirty="0">
                <a:effectLst/>
                <a:latin typeface="Bell MT" panose="02020503060305020303" pitchFamily="18" charset="0"/>
                <a:ea typeface="Times New Roman" panose="02020603050405020304" pitchFamily="18" charset="0"/>
                <a:cs typeface="Bodoni MT" panose="02070603080606020203" pitchFamily="18" charset="0"/>
              </a:rPr>
              <a:t>, and </a:t>
            </a:r>
            <a:r>
              <a:rPr lang="en-US" b="1" kern="0" spc="-150" dirty="0">
                <a:effectLst/>
                <a:latin typeface="Bell MT" panose="02020503060305020303" pitchFamily="18" charset="0"/>
                <a:ea typeface="Times New Roman" panose="02020603050405020304" pitchFamily="18" charset="0"/>
                <a:cs typeface="Bodoni MT" panose="02070603080606020203" pitchFamily="18" charset="0"/>
              </a:rPr>
              <a:t>December (66,031)</a:t>
            </a:r>
            <a:r>
              <a:rPr lang="en-US" kern="0" spc="-150" dirty="0">
                <a:effectLst/>
                <a:latin typeface="Bell MT" panose="02020503060305020303" pitchFamily="18" charset="0"/>
                <a:ea typeface="Times New Roman" panose="02020603050405020304" pitchFamily="18" charset="0"/>
                <a:cs typeface="Bodoni MT" panose="02070603080606020203" pitchFamily="18" charset="0"/>
              </a:rPr>
              <a:t> record the lowest monthly sales.</a:t>
            </a:r>
            <a:endParaRPr lang="en-US" b="1" kern="0" spc="-150" dirty="0">
              <a:effectLst/>
              <a:latin typeface="Bell MT" panose="02020503060305020303" pitchFamily="18" charset="0"/>
              <a:ea typeface="Times New Roman" panose="02020603050405020304" pitchFamily="18" charset="0"/>
              <a:cs typeface="Bodoni MT" panose="02070603080606020203" pitchFamily="18" charset="0"/>
            </a:endParaRPr>
          </a:p>
          <a:p>
            <a:pPr lvl="0">
              <a:lnSpc>
                <a:spcPct val="115000"/>
              </a:lnSpc>
              <a:spcAft>
                <a:spcPts val="1000"/>
              </a:spcAft>
              <a:buSzPts val="1000"/>
              <a:tabLst>
                <a:tab pos="457200" algn="l"/>
              </a:tabLst>
            </a:pPr>
            <a:r>
              <a:rPr lang="en-US" b="1" spc="-150" dirty="0">
                <a:latin typeface="Bell MT" panose="02020503060305020303" pitchFamily="18" charset="0"/>
              </a:rPr>
              <a:t>Insight: </a:t>
            </a:r>
          </a:p>
          <a:p>
            <a:pPr lvl="0">
              <a:lnSpc>
                <a:spcPct val="115000"/>
              </a:lnSpc>
              <a:spcAft>
                <a:spcPts val="1000"/>
              </a:spcAft>
              <a:buSzPts val="1000"/>
              <a:tabLst>
                <a:tab pos="457200" algn="l"/>
              </a:tabLst>
            </a:pPr>
            <a:r>
              <a:rPr lang="en-US" sz="1600" dirty="0">
                <a:latin typeface="Bell MT" panose="02020503060305020303" pitchFamily="18" charset="0"/>
              </a:rPr>
              <a:t>• </a:t>
            </a:r>
            <a:r>
              <a:rPr lang="en-US" sz="1600" b="1" dirty="0">
                <a:latin typeface="Bell MT" panose="02020503060305020303" pitchFamily="18" charset="0"/>
              </a:rPr>
              <a:t>Q2 (April-June) </a:t>
            </a:r>
            <a:r>
              <a:rPr lang="en-US" sz="1600" dirty="0">
                <a:latin typeface="Bell MT" panose="02020503060305020303" pitchFamily="18" charset="0"/>
              </a:rPr>
              <a:t>is peak sales season - Launch new products, run major campaigns, and stock heavily to maximize revenue.</a:t>
            </a:r>
          </a:p>
          <a:p>
            <a:pPr lvl="0">
              <a:lnSpc>
                <a:spcPct val="115000"/>
              </a:lnSpc>
              <a:spcAft>
                <a:spcPts val="1000"/>
              </a:spcAft>
              <a:buSzPts val="1000"/>
              <a:tabLst>
                <a:tab pos="457200" algn="l"/>
              </a:tabLst>
            </a:pPr>
            <a:r>
              <a:rPr lang="en-US" sz="1600" dirty="0">
                <a:latin typeface="Bell MT" panose="02020503060305020303" pitchFamily="18" charset="0"/>
              </a:rPr>
              <a:t>• </a:t>
            </a:r>
            <a:r>
              <a:rPr lang="en-US" sz="1600" b="1" dirty="0">
                <a:latin typeface="Bell MT" panose="02020503060305020303" pitchFamily="18" charset="0"/>
              </a:rPr>
              <a:t>October</a:t>
            </a:r>
            <a:r>
              <a:rPr lang="en-US" sz="1600" dirty="0">
                <a:latin typeface="Bell MT" panose="02020503060305020303" pitchFamily="18" charset="0"/>
              </a:rPr>
              <a:t> has the biggest sales drop - Families are saving after back-to-school spending and waiting for Christmas deals. Run mid-October promotions or bundle deals to boost sales.</a:t>
            </a:r>
          </a:p>
          <a:p>
            <a:pPr lvl="0">
              <a:lnSpc>
                <a:spcPct val="115000"/>
              </a:lnSpc>
              <a:spcAft>
                <a:spcPts val="1000"/>
              </a:spcAft>
              <a:buSzPts val="1000"/>
              <a:tabLst>
                <a:tab pos="457200" algn="l"/>
              </a:tabLst>
            </a:pPr>
            <a:r>
              <a:rPr lang="en-US" sz="1600" dirty="0">
                <a:latin typeface="Bell MT" panose="02020503060305020303" pitchFamily="18" charset="0"/>
              </a:rPr>
              <a:t>• </a:t>
            </a:r>
            <a:r>
              <a:rPr lang="en-US" sz="1600" b="1" dirty="0">
                <a:latin typeface="Bell MT" panose="02020503060305020303" pitchFamily="18" charset="0"/>
              </a:rPr>
              <a:t>November-December </a:t>
            </a:r>
            <a:r>
              <a:rPr lang="en-US" sz="1600" dirty="0">
                <a:latin typeface="Bell MT" panose="02020503060305020303" pitchFamily="18" charset="0"/>
              </a:rPr>
              <a:t>underperform despite being holiday months - May indicate incomplete data, stock shortages, or competition. Ensure heavy inventory and strong promotions for future holiday seasons.</a:t>
            </a:r>
          </a:p>
          <a:p>
            <a:pPr lvl="0">
              <a:lnSpc>
                <a:spcPct val="115000"/>
              </a:lnSpc>
              <a:spcAft>
                <a:spcPts val="1000"/>
              </a:spcAft>
              <a:buSzPts val="1000"/>
              <a:tabLst>
                <a:tab pos="457200" algn="l"/>
              </a:tabLst>
            </a:pPr>
            <a:r>
              <a:rPr lang="en-US" sz="1600" dirty="0">
                <a:latin typeface="Bell MT" panose="02020503060305020303" pitchFamily="18" charset="0"/>
              </a:rPr>
              <a:t>• </a:t>
            </a:r>
            <a:r>
              <a:rPr lang="en-US" sz="1600" b="1" dirty="0">
                <a:latin typeface="Bell MT" panose="02020503060305020303" pitchFamily="18" charset="0"/>
              </a:rPr>
              <a:t>February</a:t>
            </a:r>
            <a:r>
              <a:rPr lang="en-US" sz="1600" dirty="0">
                <a:latin typeface="Bell MT" panose="02020503060305020303" pitchFamily="18" charset="0"/>
              </a:rPr>
              <a:t> and </a:t>
            </a:r>
            <a:r>
              <a:rPr lang="en-US" sz="1600" b="1" dirty="0">
                <a:latin typeface="Bell MT" panose="02020503060305020303" pitchFamily="18" charset="0"/>
              </a:rPr>
              <a:t>August</a:t>
            </a:r>
            <a:r>
              <a:rPr lang="en-US" sz="1600" dirty="0">
                <a:latin typeface="Bell MT" panose="02020503060305020303" pitchFamily="18" charset="0"/>
              </a:rPr>
              <a:t> show weak sales - Use these slow months for clearance sales to clear old inventory.</a:t>
            </a:r>
          </a:p>
        </p:txBody>
      </p:sp>
      <p:sp>
        <p:nvSpPr>
          <p:cNvPr id="9" name="TextBox 8">
            <a:extLst>
              <a:ext uri="{FF2B5EF4-FFF2-40B4-BE49-F238E27FC236}">
                <a16:creationId xmlns:a16="http://schemas.microsoft.com/office/drawing/2014/main" id="{5049F18E-EC24-02A5-3D33-1D3885006E32}"/>
              </a:ext>
            </a:extLst>
          </p:cNvPr>
          <p:cNvSpPr txBox="1"/>
          <p:nvPr/>
        </p:nvSpPr>
        <p:spPr>
          <a:xfrm>
            <a:off x="97105" y="1659533"/>
            <a:ext cx="4771470" cy="3916129"/>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9D0C6F01-345F-5E33-ED47-32417482299D}"/>
              </a:ext>
            </a:extLst>
          </p:cNvPr>
          <p:cNvPicPr>
            <a:picLocks noChangeAspect="1"/>
          </p:cNvPicPr>
          <p:nvPr/>
        </p:nvPicPr>
        <p:blipFill>
          <a:blip r:embed="rId3"/>
          <a:stretch>
            <a:fillRect/>
          </a:stretch>
        </p:blipFill>
        <p:spPr>
          <a:xfrm>
            <a:off x="161671" y="1737743"/>
            <a:ext cx="4642338" cy="3707842"/>
          </a:xfrm>
          <a:prstGeom prst="rect">
            <a:avLst/>
          </a:prstGeom>
        </p:spPr>
      </p:pic>
    </p:spTree>
    <p:extLst>
      <p:ext uri="{BB962C8B-B14F-4D97-AF65-F5344CB8AC3E}">
        <p14:creationId xmlns:p14="http://schemas.microsoft.com/office/powerpoint/2010/main" val="3830278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63F645F-E026-E1FF-BE4E-10EEF0A39C97}"/>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EA2B2D16-C130-B696-88AE-007F3CC88CB7}"/>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A1CDF230-D61D-CE50-8778-3239F1588BE6}"/>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B431F715-1A51-24CD-5E29-4C45F8850875}"/>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store locations perform best in terms of product sales? </a:t>
            </a:r>
          </a:p>
          <a:p>
            <a:endParaRPr lang="en-US" dirty="0"/>
          </a:p>
        </p:txBody>
      </p:sp>
      <p:sp>
        <p:nvSpPr>
          <p:cNvPr id="5" name="TextBox 4">
            <a:extLst>
              <a:ext uri="{FF2B5EF4-FFF2-40B4-BE49-F238E27FC236}">
                <a16:creationId xmlns:a16="http://schemas.microsoft.com/office/drawing/2014/main" id="{CD156C80-D980-E7BE-5FB8-F3BD11FC0D4F}"/>
              </a:ext>
            </a:extLst>
          </p:cNvPr>
          <p:cNvSpPr txBox="1"/>
          <p:nvPr/>
        </p:nvSpPr>
        <p:spPr>
          <a:xfrm>
            <a:off x="5553117" y="1800029"/>
            <a:ext cx="6222138" cy="4968733"/>
          </a:xfrm>
          <a:prstGeom prst="rect">
            <a:avLst/>
          </a:prstGeom>
          <a:noFill/>
        </p:spPr>
        <p:txBody>
          <a:bodyPr wrap="square" rtlCol="0">
            <a:spAutoFit/>
          </a:bodyPr>
          <a:lstStyle/>
          <a:p>
            <a:r>
              <a:rPr lang="en-US" b="1" dirty="0">
                <a:latin typeface="Bell MT" panose="02020503060305020303" pitchFamily="18" charset="0"/>
              </a:rPr>
              <a:t>Finding:</a:t>
            </a:r>
          </a:p>
          <a:p>
            <a:pPr marL="342900" lvl="0" indent="-342900">
              <a:lnSpc>
                <a:spcPct val="115000"/>
              </a:lnSpc>
              <a:spcAft>
                <a:spcPts val="1000"/>
              </a:spcAft>
              <a:buSzPts val="1000"/>
              <a:buFont typeface="Symbol" panose="05050102010706020507" pitchFamily="18" charset="2"/>
              <a:buChar char=""/>
              <a:tabLst>
                <a:tab pos="457200" algn="l"/>
              </a:tabLst>
            </a:pPr>
            <a:r>
              <a:rPr lang="en-US" b="1" dirty="0">
                <a:latin typeface="Bell MT" panose="02020503060305020303" pitchFamily="18" charset="0"/>
              </a:rPr>
              <a:t>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Downtown</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stores lead significantly with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628,073</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products sold.</a:t>
            </a:r>
            <a:endParaRPr lang="en-US" sz="2000" kern="100" dirty="0">
              <a:effectLst/>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Commercial</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areas follow at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240,648</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then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Residential (125,402)</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and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Airport (96,442)</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locations.</a:t>
            </a:r>
            <a:endParaRPr lang="en-US" dirty="0">
              <a:latin typeface="Bell MT" panose="02020503060305020303" pitchFamily="18" charset="0"/>
            </a:endParaRPr>
          </a:p>
          <a:p>
            <a:r>
              <a:rPr lang="en-US" b="1" dirty="0">
                <a:latin typeface="Bell MT" panose="02020503060305020303" pitchFamily="18" charset="0"/>
              </a:rPr>
              <a:t>Insight:</a:t>
            </a: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Downtown locations are the primary sales drivers</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likely due to high traffic, accessibility, or tourist presence.</a:t>
            </a:r>
            <a:endParaRPr lang="en-US" sz="2000" kern="100" dirty="0">
              <a:effectLst/>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Airport and Residential locations underperform</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comparatively</a:t>
            </a:r>
            <a:r>
              <a:rPr lang="en-US" kern="0" dirty="0">
                <a:latin typeface="Bodoni MT" panose="02070603080606020203" pitchFamily="18" charset="0"/>
                <a:ea typeface="Times New Roman" panose="02020603050405020304" pitchFamily="18" charset="0"/>
                <a:cs typeface="Bodoni MT" panose="02070603080606020203" pitchFamily="18" charset="0"/>
              </a:rPr>
              <a:t>, </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may benefit from tailored promotions or optimized product selection.</a:t>
            </a:r>
            <a:endParaRPr lang="en-US" sz="2000" kern="100" dirty="0">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Consider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expanding operations or marketing efforts</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in Downtown and Commercial zones to leverage existing momentum.</a:t>
            </a:r>
            <a:endParaRPr lang="en-US" dirty="0">
              <a:latin typeface="Bell MT" panose="02020503060305020303" pitchFamily="18" charset="0"/>
            </a:endParaRPr>
          </a:p>
        </p:txBody>
      </p:sp>
      <p:sp>
        <p:nvSpPr>
          <p:cNvPr id="9" name="TextBox 8">
            <a:extLst>
              <a:ext uri="{FF2B5EF4-FFF2-40B4-BE49-F238E27FC236}">
                <a16:creationId xmlns:a16="http://schemas.microsoft.com/office/drawing/2014/main" id="{A7361FFC-CC8A-A658-2922-78CCA90CA273}"/>
              </a:ext>
            </a:extLst>
          </p:cNvPr>
          <p:cNvSpPr txBox="1"/>
          <p:nvPr/>
        </p:nvSpPr>
        <p:spPr>
          <a:xfrm>
            <a:off x="416745" y="1800029"/>
            <a:ext cx="4900602" cy="3943546"/>
          </a:xfrm>
          <a:prstGeom prst="rect">
            <a:avLst/>
          </a:prstGeom>
          <a:solidFill>
            <a:srgbClr val="454452"/>
          </a:solidFill>
        </p:spPr>
        <p:txBody>
          <a:bodyPr wrap="square" rtlCol="0">
            <a:spAutoFit/>
          </a:bodyPr>
          <a:lstStyle/>
          <a:p>
            <a:endParaRPr lang="en-US" dirty="0"/>
          </a:p>
        </p:txBody>
      </p:sp>
      <p:pic>
        <p:nvPicPr>
          <p:cNvPr id="3" name="Picture 2">
            <a:extLst>
              <a:ext uri="{FF2B5EF4-FFF2-40B4-BE49-F238E27FC236}">
                <a16:creationId xmlns:a16="http://schemas.microsoft.com/office/drawing/2014/main" id="{0DA77810-062F-E0FF-A963-B6307B5E894A}"/>
              </a:ext>
            </a:extLst>
          </p:cNvPr>
          <p:cNvPicPr>
            <a:picLocks noChangeAspect="1"/>
          </p:cNvPicPr>
          <p:nvPr/>
        </p:nvPicPr>
        <p:blipFill>
          <a:blip r:embed="rId3"/>
          <a:stretch>
            <a:fillRect/>
          </a:stretch>
        </p:blipFill>
        <p:spPr>
          <a:xfrm>
            <a:off x="532563" y="1899139"/>
            <a:ext cx="4672483" cy="3737986"/>
          </a:xfrm>
          <a:prstGeom prst="rect">
            <a:avLst/>
          </a:prstGeom>
        </p:spPr>
      </p:pic>
    </p:spTree>
    <p:extLst>
      <p:ext uri="{BB962C8B-B14F-4D97-AF65-F5344CB8AC3E}">
        <p14:creationId xmlns:p14="http://schemas.microsoft.com/office/powerpoint/2010/main" val="1858451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6A54BA4-4113-AC0D-0CC3-881BBF601420}"/>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C6F90DF2-556C-0FDB-C554-D4B5508D20BA}"/>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395BFED5-B5FB-555F-8B02-4F664C966BD6}"/>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4069522E-5CB3-EEEB-87A6-49649F7FDD16}"/>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Are certain stores more profitable based on how long they've been open? </a:t>
            </a:r>
          </a:p>
          <a:p>
            <a:endParaRPr lang="en-US" dirty="0"/>
          </a:p>
        </p:txBody>
      </p:sp>
      <p:sp>
        <p:nvSpPr>
          <p:cNvPr id="5" name="TextBox 4">
            <a:extLst>
              <a:ext uri="{FF2B5EF4-FFF2-40B4-BE49-F238E27FC236}">
                <a16:creationId xmlns:a16="http://schemas.microsoft.com/office/drawing/2014/main" id="{1933AE1C-9ED7-54D5-5992-45F691EC0FB4}"/>
              </a:ext>
            </a:extLst>
          </p:cNvPr>
          <p:cNvSpPr txBox="1"/>
          <p:nvPr/>
        </p:nvSpPr>
        <p:spPr>
          <a:xfrm>
            <a:off x="5498302" y="1721931"/>
            <a:ext cx="6492512" cy="4801314"/>
          </a:xfrm>
          <a:prstGeom prst="rect">
            <a:avLst/>
          </a:prstGeom>
          <a:noFill/>
        </p:spPr>
        <p:txBody>
          <a:bodyPr wrap="square" rtlCol="0">
            <a:spAutoFit/>
          </a:bodyPr>
          <a:lstStyle/>
          <a:p>
            <a:r>
              <a:rPr lang="en-US" b="1" dirty="0">
                <a:latin typeface="Bell MT" panose="02020503060305020303" pitchFamily="18" charset="0"/>
              </a:rPr>
              <a:t>Finding:</a:t>
            </a:r>
            <a:endParaRPr lang="en-US" dirty="0">
              <a:latin typeface="Bell MT" panose="02020503060305020303" pitchFamily="18" charset="0"/>
            </a:endParaRPr>
          </a:p>
          <a:p>
            <a:pPr marL="742950" lvl="1" indent="-285750" rtl="0">
              <a:buFont typeface="Arial" panose="020B0604020202020204" pitchFamily="34" charset="0"/>
              <a:buChar char="•"/>
            </a:pPr>
            <a:r>
              <a:rPr lang="en-US" b="1" dirty="0">
                <a:latin typeface="Bell MT" panose="02020503060305020303" pitchFamily="18" charset="0"/>
              </a:rPr>
              <a:t>Maven Toys Ciudad de Mexico 2</a:t>
            </a:r>
            <a:r>
              <a:rPr lang="en-US" dirty="0">
                <a:latin typeface="Bell MT" panose="02020503060305020303" pitchFamily="18" charset="0"/>
              </a:rPr>
              <a:t>: Highest profit ($169.86K, 11 years).</a:t>
            </a:r>
          </a:p>
          <a:p>
            <a:pPr marL="742950" lvl="1" indent="-285750" rtl="0">
              <a:buFont typeface="Arial" panose="020B0604020202020204" pitchFamily="34" charset="0"/>
              <a:buChar char="•"/>
            </a:pPr>
            <a:r>
              <a:rPr lang="en-US" b="1" dirty="0">
                <a:latin typeface="Bell MT" panose="02020503060305020303" pitchFamily="18" charset="0"/>
              </a:rPr>
              <a:t>Saltillo 1 </a:t>
            </a:r>
            <a:r>
              <a:rPr lang="en-US" dirty="0">
                <a:latin typeface="Bell MT" panose="02020503060305020303" pitchFamily="18" charset="0"/>
              </a:rPr>
              <a:t>(23 years) &amp; </a:t>
            </a:r>
            <a:r>
              <a:rPr lang="en-US" b="1" dirty="0">
                <a:latin typeface="Bell MT" panose="02020503060305020303" pitchFamily="18" charset="0"/>
              </a:rPr>
              <a:t>Mexicali</a:t>
            </a:r>
            <a:r>
              <a:rPr lang="en-US" dirty="0">
                <a:latin typeface="Bell MT" panose="02020503060305020303" pitchFamily="18" charset="0"/>
              </a:rPr>
              <a:t> </a:t>
            </a:r>
            <a:r>
              <a:rPr lang="en-US" b="1" dirty="0">
                <a:latin typeface="Bell MT" panose="02020503060305020303" pitchFamily="18" charset="0"/>
              </a:rPr>
              <a:t>1</a:t>
            </a:r>
            <a:r>
              <a:rPr lang="en-US" dirty="0">
                <a:latin typeface="Bell MT" panose="02020503060305020303" pitchFamily="18" charset="0"/>
              </a:rPr>
              <a:t> (20 years): Moderate profits ($94.25K, $97.21K).</a:t>
            </a:r>
          </a:p>
          <a:p>
            <a:pPr marL="742950" lvl="1" indent="-285750" rtl="0">
              <a:buFont typeface="Arial" panose="020B0604020202020204" pitchFamily="34" charset="0"/>
              <a:buChar char="•"/>
            </a:pPr>
            <a:r>
              <a:rPr lang="en-US" b="1" dirty="0">
                <a:latin typeface="Bell MT" panose="02020503060305020303" pitchFamily="18" charset="0"/>
              </a:rPr>
              <a:t>Guadalajara</a:t>
            </a:r>
            <a:r>
              <a:rPr lang="en-US" dirty="0">
                <a:latin typeface="Bell MT" panose="02020503060305020303" pitchFamily="18" charset="0"/>
              </a:rPr>
              <a:t> </a:t>
            </a:r>
            <a:r>
              <a:rPr lang="en-US" b="1" dirty="0">
                <a:latin typeface="Bell MT" panose="02020503060305020303" pitchFamily="18" charset="0"/>
              </a:rPr>
              <a:t>3</a:t>
            </a:r>
            <a:r>
              <a:rPr lang="en-US" dirty="0">
                <a:latin typeface="Bell MT" panose="02020503060305020303" pitchFamily="18" charset="0"/>
              </a:rPr>
              <a:t> ($121.57K, 12 years) &amp; Ciudad de Mexico 1 ($111.30K, 19 years): Strong profits.</a:t>
            </a:r>
          </a:p>
          <a:p>
            <a:pPr rtl="0"/>
            <a:r>
              <a:rPr lang="en-US" b="1" dirty="0">
                <a:latin typeface="Bell MT" panose="02020503060305020303" pitchFamily="18" charset="0"/>
              </a:rPr>
              <a:t>Insights</a:t>
            </a:r>
            <a:endParaRPr lang="en-US" dirty="0">
              <a:latin typeface="Bell MT" panose="02020503060305020303" pitchFamily="18" charset="0"/>
            </a:endParaRPr>
          </a:p>
          <a:p>
            <a:pPr marL="742950" lvl="1" indent="-285750" rtl="0">
              <a:buFont typeface="Arial" panose="020B0604020202020204" pitchFamily="34" charset="0"/>
              <a:buChar char="•"/>
            </a:pPr>
            <a:r>
              <a:rPr lang="en-US" dirty="0">
                <a:latin typeface="Bell MT" panose="02020503060305020303" pitchFamily="18" charset="0"/>
              </a:rPr>
              <a:t>Newer stores (e.g., Ciudad de Mexico 2) can outperform older ones; longevity ≠ high profit.</a:t>
            </a:r>
          </a:p>
          <a:p>
            <a:pPr marL="742950" lvl="1" indent="-285750" rtl="0">
              <a:buFont typeface="Arial" panose="020B0604020202020204" pitchFamily="34" charset="0"/>
              <a:buChar char="•"/>
            </a:pPr>
            <a:r>
              <a:rPr lang="en-US" dirty="0">
                <a:latin typeface="Bell MT" panose="02020503060305020303" pitchFamily="18" charset="0"/>
              </a:rPr>
              <a:t>Location/market potential drives profitability more than store age.</a:t>
            </a:r>
          </a:p>
          <a:p>
            <a:pPr marL="742950" lvl="1" indent="-285750" rtl="0">
              <a:buFont typeface="Arial" panose="020B0604020202020204" pitchFamily="34" charset="0"/>
              <a:buChar char="•"/>
            </a:pPr>
            <a:r>
              <a:rPr lang="en-US" dirty="0">
                <a:latin typeface="Bell MT" panose="02020503060305020303" pitchFamily="18" charset="0"/>
              </a:rPr>
              <a:t>Older, low-profit stores need audits, marketing refresh, or product strategy updates.</a:t>
            </a:r>
          </a:p>
          <a:p>
            <a:pPr marL="742950" lvl="1" indent="-285750" rtl="0">
              <a:buFont typeface="Arial" panose="020B0604020202020204" pitchFamily="34" charset="0"/>
              <a:buChar char="•"/>
            </a:pPr>
            <a:r>
              <a:rPr lang="en-US" dirty="0">
                <a:latin typeface="Bell MT" panose="02020503060305020303" pitchFamily="18" charset="0"/>
              </a:rPr>
              <a:t>Share best practices from high-performing stores to boost others.</a:t>
            </a:r>
          </a:p>
          <a:p>
            <a:endParaRPr lang="en-US" b="1" dirty="0">
              <a:latin typeface="Bell MT" panose="02020503060305020303" pitchFamily="18" charset="0"/>
            </a:endParaRPr>
          </a:p>
        </p:txBody>
      </p:sp>
      <p:sp>
        <p:nvSpPr>
          <p:cNvPr id="9" name="TextBox 8">
            <a:extLst>
              <a:ext uri="{FF2B5EF4-FFF2-40B4-BE49-F238E27FC236}">
                <a16:creationId xmlns:a16="http://schemas.microsoft.com/office/drawing/2014/main" id="{3F55EB77-9D1C-58CF-0C0C-D16343728438}"/>
              </a:ext>
            </a:extLst>
          </p:cNvPr>
          <p:cNvSpPr txBox="1"/>
          <p:nvPr/>
        </p:nvSpPr>
        <p:spPr>
          <a:xfrm>
            <a:off x="416745" y="1883542"/>
            <a:ext cx="4900602" cy="3943546"/>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E998B98A-8749-39ED-9571-1E9D4B6C8D48}"/>
              </a:ext>
            </a:extLst>
          </p:cNvPr>
          <p:cNvPicPr>
            <a:picLocks noChangeAspect="1"/>
          </p:cNvPicPr>
          <p:nvPr/>
        </p:nvPicPr>
        <p:blipFill>
          <a:blip r:embed="rId3"/>
          <a:stretch>
            <a:fillRect/>
          </a:stretch>
        </p:blipFill>
        <p:spPr>
          <a:xfrm>
            <a:off x="531935" y="1989575"/>
            <a:ext cx="4687695" cy="3707840"/>
          </a:xfrm>
          <a:prstGeom prst="rect">
            <a:avLst/>
          </a:prstGeom>
        </p:spPr>
      </p:pic>
    </p:spTree>
    <p:extLst>
      <p:ext uri="{BB962C8B-B14F-4D97-AF65-F5344CB8AC3E}">
        <p14:creationId xmlns:p14="http://schemas.microsoft.com/office/powerpoint/2010/main" val="2561903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7029AA3-0672-A5CB-34AB-CE28936F2D6B}"/>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A95B0057-316F-9FFB-9C44-123F02361BD2}"/>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AC3F3417-78F0-6A4B-401D-B90AEF0684FE}"/>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5116BC6B-6105-91B4-B21A-0A77F741FA25}"/>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What are the monthly and seasonal sales trends? </a:t>
            </a:r>
          </a:p>
          <a:p>
            <a:endParaRPr lang="en-US" dirty="0"/>
          </a:p>
        </p:txBody>
      </p:sp>
      <p:sp>
        <p:nvSpPr>
          <p:cNvPr id="5" name="TextBox 4">
            <a:extLst>
              <a:ext uri="{FF2B5EF4-FFF2-40B4-BE49-F238E27FC236}">
                <a16:creationId xmlns:a16="http://schemas.microsoft.com/office/drawing/2014/main" id="{42E423D6-1D40-4DC0-F5EF-0BBB9A349F7A}"/>
              </a:ext>
            </a:extLst>
          </p:cNvPr>
          <p:cNvSpPr txBox="1"/>
          <p:nvPr/>
        </p:nvSpPr>
        <p:spPr>
          <a:xfrm>
            <a:off x="5516630" y="1899138"/>
            <a:ext cx="6358994" cy="4247317"/>
          </a:xfrm>
          <a:prstGeom prst="rect">
            <a:avLst/>
          </a:prstGeom>
          <a:noFill/>
        </p:spPr>
        <p:txBody>
          <a:bodyPr wrap="square" rtlCol="0">
            <a:spAutoFit/>
          </a:bodyPr>
          <a:lstStyle/>
          <a:p>
            <a:pPr rtl="0"/>
            <a:r>
              <a:rPr lang="en-US" b="1" dirty="0">
                <a:latin typeface="Bell MT" panose="02020503060305020303" pitchFamily="18" charset="0"/>
              </a:rPr>
              <a:t>Findings</a:t>
            </a:r>
            <a:endParaRPr lang="en-US" dirty="0">
              <a:latin typeface="Bell MT" panose="02020503060305020303" pitchFamily="18" charset="0"/>
            </a:endParaRPr>
          </a:p>
          <a:p>
            <a:pPr marL="742950" lvl="1" indent="-285750" rtl="0">
              <a:buFont typeface="Arial" panose="020B0604020202020204" pitchFamily="34" charset="0"/>
              <a:buChar char="•"/>
            </a:pPr>
            <a:r>
              <a:rPr lang="en-US" b="1" dirty="0">
                <a:latin typeface="Bell MT" panose="02020503060305020303" pitchFamily="18" charset="0"/>
              </a:rPr>
              <a:t>December</a:t>
            </a:r>
            <a:r>
              <a:rPr lang="en-US" dirty="0">
                <a:latin typeface="Bell MT" panose="02020503060305020303" pitchFamily="18" charset="0"/>
              </a:rPr>
              <a:t> peaks at 66,031 units (2022), driven by holiday shopping.</a:t>
            </a:r>
          </a:p>
          <a:p>
            <a:pPr marL="742950" lvl="1" indent="-285750" rtl="0">
              <a:buFont typeface="Arial" panose="020B0604020202020204" pitchFamily="34" charset="0"/>
              <a:buChar char="•"/>
            </a:pPr>
            <a:r>
              <a:rPr lang="en-US" dirty="0">
                <a:latin typeface="Bell MT" panose="02020503060305020303" pitchFamily="18" charset="0"/>
              </a:rPr>
              <a:t>Sales rise </a:t>
            </a:r>
            <a:r>
              <a:rPr lang="en-US" b="1" dirty="0">
                <a:latin typeface="Bell MT" panose="02020503060305020303" pitchFamily="18" charset="0"/>
              </a:rPr>
              <a:t>Feb–Jun, </a:t>
            </a:r>
            <a:r>
              <a:rPr lang="en-US" dirty="0">
                <a:latin typeface="Bell MT" panose="02020503060305020303" pitchFamily="18" charset="0"/>
              </a:rPr>
              <a:t>peaking in </a:t>
            </a:r>
            <a:r>
              <a:rPr lang="en-US" b="1" dirty="0">
                <a:latin typeface="Bell MT" panose="02020503060305020303" pitchFamily="18" charset="0"/>
              </a:rPr>
              <a:t>June</a:t>
            </a:r>
            <a:r>
              <a:rPr lang="en-US" dirty="0">
                <a:latin typeface="Bell MT" panose="02020503060305020303" pitchFamily="18" charset="0"/>
              </a:rPr>
              <a:t> (64,275 units in 2023).</a:t>
            </a:r>
          </a:p>
          <a:p>
            <a:pPr marL="742950" lvl="1" indent="-285750" rtl="0">
              <a:buFont typeface="Arial" panose="020B0604020202020204" pitchFamily="34" charset="0"/>
              <a:buChar char="•"/>
            </a:pPr>
            <a:r>
              <a:rPr lang="en-US" b="1" dirty="0">
                <a:latin typeface="Bell MT" panose="02020503060305020303" pitchFamily="18" charset="0"/>
              </a:rPr>
              <a:t>Jul–Sep </a:t>
            </a:r>
            <a:r>
              <a:rPr lang="en-US" dirty="0">
                <a:latin typeface="Bell MT" panose="02020503060305020303" pitchFamily="18" charset="0"/>
              </a:rPr>
              <a:t>dips slightly but stays steady.</a:t>
            </a:r>
          </a:p>
          <a:p>
            <a:pPr marL="742950" lvl="1" indent="-285750" rtl="0">
              <a:buFont typeface="Arial" panose="020B0604020202020204" pitchFamily="34" charset="0"/>
              <a:buChar char="•"/>
            </a:pPr>
            <a:r>
              <a:rPr lang="en-US" b="1" dirty="0">
                <a:latin typeface="Bell MT" panose="02020503060305020303" pitchFamily="18" charset="0"/>
              </a:rPr>
              <a:t>Q1</a:t>
            </a:r>
            <a:r>
              <a:rPr lang="en-US" dirty="0">
                <a:latin typeface="Bell MT" panose="02020503060305020303" pitchFamily="18" charset="0"/>
              </a:rPr>
              <a:t> </a:t>
            </a:r>
            <a:r>
              <a:rPr lang="en-US" b="1" dirty="0">
                <a:latin typeface="Bell MT" panose="02020503060305020303" pitchFamily="18" charset="0"/>
              </a:rPr>
              <a:t>2023</a:t>
            </a:r>
            <a:r>
              <a:rPr lang="en-US" dirty="0">
                <a:latin typeface="Bell MT" panose="02020503060305020303" pitchFamily="18" charset="0"/>
              </a:rPr>
              <a:t> (e.g., March: 69,336) outperforms Q1 2022 (March: 39,981).</a:t>
            </a:r>
          </a:p>
          <a:p>
            <a:pPr rtl="0"/>
            <a:r>
              <a:rPr lang="en-US" b="1" dirty="0">
                <a:latin typeface="Bell MT" panose="02020503060305020303" pitchFamily="18" charset="0"/>
              </a:rPr>
              <a:t>Insights</a:t>
            </a:r>
            <a:endParaRPr lang="en-US" dirty="0">
              <a:latin typeface="Bell MT" panose="02020503060305020303" pitchFamily="18" charset="0"/>
            </a:endParaRPr>
          </a:p>
          <a:p>
            <a:pPr marL="742950" lvl="1" indent="-285750" rtl="0">
              <a:buFont typeface="Arial" panose="020B0604020202020204" pitchFamily="34" charset="0"/>
              <a:buChar char="•"/>
            </a:pPr>
            <a:r>
              <a:rPr lang="en-US" b="1" dirty="0">
                <a:latin typeface="Bell MT" panose="02020503060305020303" pitchFamily="18" charset="0"/>
              </a:rPr>
              <a:t>Nov–Dec: </a:t>
            </a:r>
            <a:r>
              <a:rPr lang="en-US" dirty="0">
                <a:latin typeface="Bell MT" panose="02020503060305020303" pitchFamily="18" charset="0"/>
              </a:rPr>
              <a:t>Strongest for promotions and stock ramp-up.</a:t>
            </a:r>
          </a:p>
          <a:p>
            <a:pPr marL="742950" lvl="1" indent="-285750" rtl="0">
              <a:buFont typeface="Arial" panose="020B0604020202020204" pitchFamily="34" charset="0"/>
              <a:buChar char="•"/>
            </a:pPr>
            <a:r>
              <a:rPr lang="en-US" b="1" dirty="0">
                <a:latin typeface="Bell MT" panose="02020503060305020303" pitchFamily="18" charset="0"/>
              </a:rPr>
              <a:t>Q2 (Apr–Jun):</a:t>
            </a:r>
            <a:r>
              <a:rPr lang="en-US" dirty="0">
                <a:latin typeface="Bell MT" panose="02020503060305020303" pitchFamily="18" charset="0"/>
              </a:rPr>
              <a:t> Ideal for back-to-school campaigns.</a:t>
            </a:r>
          </a:p>
          <a:p>
            <a:pPr marL="742950" lvl="1" indent="-285750" rtl="0">
              <a:buFont typeface="Arial" panose="020B0604020202020204" pitchFamily="34" charset="0"/>
              <a:buChar char="•"/>
            </a:pPr>
            <a:r>
              <a:rPr lang="en-US" dirty="0">
                <a:latin typeface="Bell MT" panose="02020503060305020303" pitchFamily="18" charset="0"/>
              </a:rPr>
              <a:t>2023 shows growth, reflecting better brand reach.</a:t>
            </a:r>
          </a:p>
          <a:p>
            <a:pPr marL="742950" lvl="1" indent="-285750" rtl="0">
              <a:buFont typeface="Arial" panose="020B0604020202020204" pitchFamily="34" charset="0"/>
              <a:buChar char="•"/>
            </a:pPr>
            <a:r>
              <a:rPr lang="en-US" b="1" dirty="0">
                <a:latin typeface="Bell MT" panose="02020503060305020303" pitchFamily="18" charset="0"/>
              </a:rPr>
              <a:t>Early Q1 </a:t>
            </a:r>
            <a:r>
              <a:rPr lang="en-US" dirty="0">
                <a:latin typeface="Bell MT" panose="02020503060305020303" pitchFamily="18" charset="0"/>
              </a:rPr>
              <a:t>&amp; </a:t>
            </a:r>
            <a:r>
              <a:rPr lang="en-US" b="1" dirty="0">
                <a:latin typeface="Bell MT" panose="02020503060305020303" pitchFamily="18" charset="0"/>
              </a:rPr>
              <a:t>late Q3</a:t>
            </a:r>
            <a:r>
              <a:rPr lang="en-US" dirty="0">
                <a:latin typeface="Bell MT" panose="02020503060305020303" pitchFamily="18" charset="0"/>
              </a:rPr>
              <a:t>: Off-peak, perfect for clearance sales. </a:t>
            </a: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strategies.</a:t>
            </a:r>
            <a:endParaRPr lang="en-US" sz="2000" kern="100" dirty="0">
              <a:effectLst/>
              <a:latin typeface="Bell MT" panose="02020503060305020303" pitchFamily="18" charset="0"/>
              <a:ea typeface="Times New Roman" panose="02020603050405020304" pitchFamily="18" charset="0"/>
              <a:cs typeface="Times New Roman" panose="02020603050405020304" pitchFamily="18" charset="0"/>
            </a:endParaRPr>
          </a:p>
          <a:p>
            <a:endParaRPr lang="en-US" b="1" dirty="0">
              <a:latin typeface="Bell MT" panose="02020503060305020303" pitchFamily="18" charset="0"/>
            </a:endParaRPr>
          </a:p>
        </p:txBody>
      </p:sp>
      <p:sp>
        <p:nvSpPr>
          <p:cNvPr id="9" name="TextBox 8">
            <a:extLst>
              <a:ext uri="{FF2B5EF4-FFF2-40B4-BE49-F238E27FC236}">
                <a16:creationId xmlns:a16="http://schemas.microsoft.com/office/drawing/2014/main" id="{55B5ADC3-976D-073C-473D-2F413106ACBC}"/>
              </a:ext>
            </a:extLst>
          </p:cNvPr>
          <p:cNvSpPr txBox="1"/>
          <p:nvPr/>
        </p:nvSpPr>
        <p:spPr>
          <a:xfrm>
            <a:off x="416744" y="1800029"/>
            <a:ext cx="5019413" cy="3943546"/>
          </a:xfrm>
          <a:prstGeom prst="rect">
            <a:avLst/>
          </a:prstGeom>
          <a:solidFill>
            <a:srgbClr val="454452"/>
          </a:solidFill>
        </p:spPr>
        <p:txBody>
          <a:bodyPr wrap="square" rtlCol="0">
            <a:spAutoFit/>
          </a:bodyPr>
          <a:lstStyle/>
          <a:p>
            <a:endParaRPr lang="en-US" dirty="0"/>
          </a:p>
        </p:txBody>
      </p:sp>
      <p:pic>
        <p:nvPicPr>
          <p:cNvPr id="3" name="Picture 2">
            <a:extLst>
              <a:ext uri="{FF2B5EF4-FFF2-40B4-BE49-F238E27FC236}">
                <a16:creationId xmlns:a16="http://schemas.microsoft.com/office/drawing/2014/main" id="{092116D3-17C0-62CE-3B0C-F0F023444F59}"/>
              </a:ext>
            </a:extLst>
          </p:cNvPr>
          <p:cNvPicPr>
            <a:picLocks noChangeAspect="1"/>
          </p:cNvPicPr>
          <p:nvPr/>
        </p:nvPicPr>
        <p:blipFill>
          <a:blip r:embed="rId3"/>
          <a:stretch>
            <a:fillRect/>
          </a:stretch>
        </p:blipFill>
        <p:spPr>
          <a:xfrm>
            <a:off x="512466" y="1899138"/>
            <a:ext cx="4823209" cy="3748036"/>
          </a:xfrm>
          <a:prstGeom prst="rect">
            <a:avLst/>
          </a:prstGeom>
        </p:spPr>
      </p:pic>
    </p:spTree>
    <p:extLst>
      <p:ext uri="{BB962C8B-B14F-4D97-AF65-F5344CB8AC3E}">
        <p14:creationId xmlns:p14="http://schemas.microsoft.com/office/powerpoint/2010/main" val="1285863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4655A59-F021-4A4F-8B12-2882F1D446FB}"/>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0E06F0B5-CC07-CD7A-AA7B-DDF2585E46E1}"/>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33CEBA2C-2CA0-D481-5DEC-73CD07063C97}"/>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639373AB-097D-27AD-1E06-43BEDD1FEAA1}"/>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cities record the highest sales volumes by product? </a:t>
            </a:r>
          </a:p>
          <a:p>
            <a:endParaRPr lang="en-US" dirty="0"/>
          </a:p>
        </p:txBody>
      </p:sp>
      <p:sp>
        <p:nvSpPr>
          <p:cNvPr id="5" name="TextBox 4">
            <a:extLst>
              <a:ext uri="{FF2B5EF4-FFF2-40B4-BE49-F238E27FC236}">
                <a16:creationId xmlns:a16="http://schemas.microsoft.com/office/drawing/2014/main" id="{FA5011B5-387F-00D0-A3EB-B57E5598D900}"/>
              </a:ext>
            </a:extLst>
          </p:cNvPr>
          <p:cNvSpPr txBox="1"/>
          <p:nvPr/>
        </p:nvSpPr>
        <p:spPr>
          <a:xfrm>
            <a:off x="5982062" y="1675198"/>
            <a:ext cx="6028963" cy="4278094"/>
          </a:xfrm>
          <a:prstGeom prst="rect">
            <a:avLst/>
          </a:prstGeom>
          <a:noFill/>
        </p:spPr>
        <p:txBody>
          <a:bodyPr wrap="square" rtlCol="0">
            <a:spAutoFit/>
          </a:bodyPr>
          <a:lstStyle/>
          <a:p>
            <a:r>
              <a:rPr lang="en-US" sz="1600" dirty="0">
                <a:latin typeface="Bell MT" panose="02020503060305020303" pitchFamily="18" charset="0"/>
              </a:rPr>
              <a:t>Finding: </a:t>
            </a:r>
          </a:p>
          <a:p>
            <a:pPr marL="742950" lvl="1" indent="-285750">
              <a:buFont typeface="Arial" panose="020B0604020202020204" pitchFamily="34" charset="0"/>
              <a:buChar char="•"/>
            </a:pPr>
            <a:r>
              <a:rPr lang="en-US" sz="1600" b="1" dirty="0">
                <a:latin typeface="Bell MT" panose="02020503060305020303" pitchFamily="18" charset="0"/>
              </a:rPr>
              <a:t>Top Cities: </a:t>
            </a:r>
            <a:r>
              <a:rPr lang="en-US" sz="1600" dirty="0">
                <a:latin typeface="Bell MT" panose="02020503060305020303" pitchFamily="18" charset="0"/>
              </a:rPr>
              <a:t>Ciudad de Mexico (125,589 units), Guadalajara (96,454 units), Monterrey (93,730 units).</a:t>
            </a:r>
          </a:p>
          <a:p>
            <a:pPr marL="742950" lvl="1" indent="-285750">
              <a:buFont typeface="Arial" panose="020B0604020202020204" pitchFamily="34" charset="0"/>
              <a:buChar char="•"/>
            </a:pPr>
            <a:r>
              <a:rPr lang="en-US" sz="1600" b="1" dirty="0">
                <a:latin typeface="Bell MT" panose="02020503060305020303" pitchFamily="18" charset="0"/>
              </a:rPr>
              <a:t>Lowest Sales</a:t>
            </a:r>
            <a:r>
              <a:rPr lang="en-US" sz="1600" dirty="0">
                <a:latin typeface="Bell MT" panose="02020503060305020303" pitchFamily="18" charset="0"/>
              </a:rPr>
              <a:t>: Saltillo (42,903 units), Xalapa (44,223 units), Mexicali (44,415 units).</a:t>
            </a:r>
          </a:p>
          <a:p>
            <a:pPr lvl="1"/>
            <a:r>
              <a:rPr lang="en-US" sz="1600" b="1" dirty="0">
                <a:latin typeface="Bell MT" panose="02020503060305020303" pitchFamily="18" charset="0"/>
              </a:rPr>
              <a:t>Insights</a:t>
            </a:r>
          </a:p>
          <a:p>
            <a:pPr marL="742950" lvl="1" indent="-285750" rtl="0">
              <a:buFont typeface="Arial" panose="020B0604020202020204" pitchFamily="34" charset="0"/>
              <a:buChar char="•"/>
            </a:pPr>
            <a:r>
              <a:rPr lang="en-US" sz="1600" dirty="0">
                <a:latin typeface="Bell MT" panose="02020503060305020303" pitchFamily="18" charset="0"/>
              </a:rPr>
              <a:t>Ciudad de Mexico, Guadalajara, and Monterrey are top markets - Prioritize inventory, premium product launches, and exclusive promotions in these high-performing cities.</a:t>
            </a:r>
          </a:p>
          <a:p>
            <a:pPr marL="742950" lvl="1" indent="-285750" rtl="0">
              <a:buFont typeface="Arial" panose="020B0604020202020204" pitchFamily="34" charset="0"/>
              <a:buChar char="•"/>
            </a:pPr>
            <a:r>
              <a:rPr lang="en-US" sz="1600" dirty="0">
                <a:latin typeface="Bell MT" panose="02020503060305020303" pitchFamily="18" charset="0"/>
              </a:rPr>
              <a:t>Saltillo underperforms significantly - Investigate poor store location, weak demand, or marketing issues. Consider store optimization or reassessment.</a:t>
            </a:r>
          </a:p>
          <a:p>
            <a:pPr marL="742950" lvl="1" indent="-285750" rtl="0">
              <a:buFont typeface="Arial" panose="020B0604020202020204" pitchFamily="34" charset="0"/>
              <a:buChar char="•"/>
            </a:pPr>
            <a:r>
              <a:rPr lang="en-US" sz="1600" dirty="0">
                <a:latin typeface="Bell MT" panose="02020503060305020303" pitchFamily="18" charset="0"/>
              </a:rPr>
              <a:t>Xalapa and Mexicali lag - Evaluate if product mix matches local preferences and if stores need better visibility or marketing.</a:t>
            </a:r>
          </a:p>
          <a:p>
            <a:pPr marL="742950" lvl="1" indent="-285750" rtl="0">
              <a:buFont typeface="Arial" panose="020B0604020202020204" pitchFamily="34" charset="0"/>
              <a:buChar char="•"/>
            </a:pPr>
            <a:r>
              <a:rPr lang="en-US" sz="1600" dirty="0">
                <a:latin typeface="Bell MT" panose="02020503060305020303" pitchFamily="18" charset="0"/>
              </a:rPr>
              <a:t>Focus resources on top three cities while developing strategies to improve underperforming locations.</a:t>
            </a:r>
          </a:p>
        </p:txBody>
      </p:sp>
      <p:sp>
        <p:nvSpPr>
          <p:cNvPr id="9" name="TextBox 8">
            <a:extLst>
              <a:ext uri="{FF2B5EF4-FFF2-40B4-BE49-F238E27FC236}">
                <a16:creationId xmlns:a16="http://schemas.microsoft.com/office/drawing/2014/main" id="{9154624C-25D4-5798-6640-2D9B9FF8E7DC}"/>
              </a:ext>
            </a:extLst>
          </p:cNvPr>
          <p:cNvSpPr txBox="1"/>
          <p:nvPr/>
        </p:nvSpPr>
        <p:spPr>
          <a:xfrm>
            <a:off x="416745" y="1883542"/>
            <a:ext cx="5351010" cy="3943546"/>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5A08B637-0B46-B1B6-1D3B-95CB0A081C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1394" y="2013995"/>
            <a:ext cx="5185925" cy="3692324"/>
          </a:xfrm>
          <a:prstGeom prst="rect">
            <a:avLst/>
          </a:prstGeom>
        </p:spPr>
      </p:pic>
    </p:spTree>
    <p:extLst>
      <p:ext uri="{BB962C8B-B14F-4D97-AF65-F5344CB8AC3E}">
        <p14:creationId xmlns:p14="http://schemas.microsoft.com/office/powerpoint/2010/main" val="156732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51DDF06-02CE-3E36-4BB8-73035F261A0F}"/>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B4945702-5798-21FE-91D9-681189A59718}"/>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181EF860-DFC4-5014-D147-B8BF10EF180C}"/>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FA628446-086A-D555-6488-945B7E45AD78}"/>
              </a:ext>
            </a:extLst>
          </p:cNvPr>
          <p:cNvSpPr>
            <a:spLocks noGrp="1"/>
          </p:cNvSpPr>
          <p:nvPr>
            <p:ph type="body" idx="1"/>
          </p:nvPr>
        </p:nvSpPr>
        <p:spPr>
          <a:xfrm>
            <a:off x="2486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days of the week record the highest number of transactions?</a:t>
            </a:r>
          </a:p>
          <a:p>
            <a:endParaRPr lang="en-US" dirty="0"/>
          </a:p>
        </p:txBody>
      </p:sp>
      <p:sp>
        <p:nvSpPr>
          <p:cNvPr id="5" name="TextBox 4">
            <a:extLst>
              <a:ext uri="{FF2B5EF4-FFF2-40B4-BE49-F238E27FC236}">
                <a16:creationId xmlns:a16="http://schemas.microsoft.com/office/drawing/2014/main" id="{C7236EFA-25AD-1D80-63D0-DBDB89009384}"/>
              </a:ext>
            </a:extLst>
          </p:cNvPr>
          <p:cNvSpPr txBox="1"/>
          <p:nvPr/>
        </p:nvSpPr>
        <p:spPr>
          <a:xfrm>
            <a:off x="5927930" y="1722878"/>
            <a:ext cx="5847325" cy="5068567"/>
          </a:xfrm>
          <a:prstGeom prst="rect">
            <a:avLst/>
          </a:prstGeom>
          <a:noFill/>
        </p:spPr>
        <p:txBody>
          <a:bodyPr wrap="square" rtlCol="0">
            <a:spAutoFit/>
          </a:bodyPr>
          <a:lstStyle/>
          <a:p>
            <a:r>
              <a:rPr lang="en-US" b="1" dirty="0">
                <a:latin typeface="Bell MT" panose="02020503060305020303" pitchFamily="18" charset="0"/>
              </a:rPr>
              <a:t>Finding: </a:t>
            </a: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Saturday ($162.16K)</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and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Friday ($155.09K)</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generate the highest sales.</a:t>
            </a:r>
            <a:endParaRPr lang="en-US" sz="2000" kern="100" dirty="0">
              <a:effectLst/>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Monday ($90.33K)</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and </a:t>
            </a: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Tuesday ($94.90K)</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have the lowest sales.</a:t>
            </a:r>
            <a:endParaRPr lang="en-US" dirty="0">
              <a:latin typeface="Bell MT" panose="02020503060305020303" pitchFamily="18" charset="0"/>
            </a:endParaRPr>
          </a:p>
          <a:p>
            <a:r>
              <a:rPr lang="en-US" b="1" dirty="0">
                <a:latin typeface="Bell MT" panose="02020503060305020303" pitchFamily="18" charset="0"/>
              </a:rPr>
              <a:t>Insight:</a:t>
            </a: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Weekend (Fri–Sun) drives strong sales</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peaking on Saturday</a:t>
            </a:r>
            <a:r>
              <a:rPr lang="en-US" kern="0" dirty="0">
                <a:latin typeface="Bodoni MT" panose="02070603080606020203" pitchFamily="18" charset="0"/>
                <a:ea typeface="Times New Roman" panose="02020603050405020304" pitchFamily="18" charset="0"/>
                <a:cs typeface="Bodoni MT" panose="02070603080606020203" pitchFamily="18" charset="0"/>
              </a:rPr>
              <a:t>, </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ideal for promotions, launches, or peak staffing.</a:t>
            </a:r>
            <a:endParaRPr lang="en-US" sz="2000" kern="100" dirty="0">
              <a:effectLst/>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Midweek (Wed–Thu)</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sees moderate performance, with Thursday ($125.05K) as a standout.</a:t>
            </a:r>
            <a:endParaRPr lang="en-US" sz="2000" kern="100" dirty="0">
              <a:effectLst/>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odoni MT" panose="02070603080606020203" pitchFamily="18" charset="0"/>
                <a:ea typeface="Times New Roman" panose="02020603050405020304" pitchFamily="18" charset="0"/>
                <a:cs typeface="Bodoni MT" panose="02070603080606020203" pitchFamily="18" charset="0"/>
              </a:rPr>
              <a:t>Early week sales (Mon–Tues)</a:t>
            </a:r>
            <a:r>
              <a:rPr lang="en-US" sz="1800" kern="0" dirty="0">
                <a:effectLst/>
                <a:latin typeface="Bodoni MT" panose="02070603080606020203" pitchFamily="18" charset="0"/>
                <a:ea typeface="Times New Roman" panose="02020603050405020304" pitchFamily="18" charset="0"/>
                <a:cs typeface="Bodoni MT" panose="02070603080606020203" pitchFamily="18" charset="0"/>
              </a:rPr>
              <a:t> are weaker, consider flash deals or marketing nudges to lift activity.</a:t>
            </a:r>
            <a:endParaRPr lang="en-US" sz="2000" kern="100" dirty="0">
              <a:effectLst/>
              <a:latin typeface="Aptos" panose="020B0004020202020204" pitchFamily="34" charset="0"/>
              <a:ea typeface="Times New Roman" panose="02020603050405020304" pitchFamily="18" charset="0"/>
              <a:cs typeface="Times New Roman" panose="02020603050405020304" pitchFamily="18" charset="0"/>
            </a:endParaRPr>
          </a:p>
          <a:p>
            <a:endParaRPr lang="en-US" dirty="0">
              <a:latin typeface="Bell MT" panose="02020503060305020303" pitchFamily="18" charset="0"/>
            </a:endParaRPr>
          </a:p>
        </p:txBody>
      </p:sp>
      <p:sp>
        <p:nvSpPr>
          <p:cNvPr id="9" name="TextBox 8">
            <a:extLst>
              <a:ext uri="{FF2B5EF4-FFF2-40B4-BE49-F238E27FC236}">
                <a16:creationId xmlns:a16="http://schemas.microsoft.com/office/drawing/2014/main" id="{82EA58FB-FB4C-DB74-3D68-0409EE5D973A}"/>
              </a:ext>
            </a:extLst>
          </p:cNvPr>
          <p:cNvSpPr txBox="1"/>
          <p:nvPr/>
        </p:nvSpPr>
        <p:spPr>
          <a:xfrm>
            <a:off x="416745" y="1928715"/>
            <a:ext cx="4900602" cy="3943546"/>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FB720D0F-F76B-36BF-7CBE-6826EA39DB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5956" y="1986590"/>
            <a:ext cx="4699090" cy="3835477"/>
          </a:xfrm>
          <a:prstGeom prst="rect">
            <a:avLst/>
          </a:prstGeom>
        </p:spPr>
      </p:pic>
    </p:spTree>
    <p:extLst>
      <p:ext uri="{BB962C8B-B14F-4D97-AF65-F5344CB8AC3E}">
        <p14:creationId xmlns:p14="http://schemas.microsoft.com/office/powerpoint/2010/main" val="2320030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1C91449-6EE2-8E52-FDD7-5F2ABFA6B53E}"/>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71170A21-A0FF-925F-E13E-C49217A8557B}"/>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606A4FEA-AE01-AEA7-2CCB-060893DC056F}"/>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FF39CE06-8E61-45E1-6DCB-03554B11A9CB}"/>
              </a:ext>
            </a:extLst>
          </p:cNvPr>
          <p:cNvSpPr>
            <a:spLocks noGrp="1"/>
          </p:cNvSpPr>
          <p:nvPr>
            <p:ph type="body" idx="1"/>
          </p:nvPr>
        </p:nvSpPr>
        <p:spPr>
          <a:xfrm>
            <a:off x="180975" y="98573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stores hold the highest stock levels, and are those products selling? </a:t>
            </a:r>
          </a:p>
          <a:p>
            <a:endParaRPr lang="en-US" dirty="0"/>
          </a:p>
        </p:txBody>
      </p:sp>
      <p:sp>
        <p:nvSpPr>
          <p:cNvPr id="5" name="TextBox 4">
            <a:extLst>
              <a:ext uri="{FF2B5EF4-FFF2-40B4-BE49-F238E27FC236}">
                <a16:creationId xmlns:a16="http://schemas.microsoft.com/office/drawing/2014/main" id="{D3F24BCE-FC88-28D1-903D-60AC9D355D08}"/>
              </a:ext>
            </a:extLst>
          </p:cNvPr>
          <p:cNvSpPr txBox="1"/>
          <p:nvPr/>
        </p:nvSpPr>
        <p:spPr>
          <a:xfrm>
            <a:off x="5313903" y="1800029"/>
            <a:ext cx="6372330" cy="4524315"/>
          </a:xfrm>
          <a:prstGeom prst="rect">
            <a:avLst/>
          </a:prstGeom>
          <a:noFill/>
        </p:spPr>
        <p:txBody>
          <a:bodyPr wrap="square" rtlCol="0">
            <a:spAutoFit/>
          </a:bodyPr>
          <a:lstStyle/>
          <a:p>
            <a:r>
              <a:rPr lang="en-US" b="1" dirty="0">
                <a:latin typeface="Bell MT" panose="02020503060305020303" pitchFamily="18" charset="0"/>
              </a:rPr>
              <a:t>Finding: </a:t>
            </a:r>
          </a:p>
          <a:p>
            <a:pPr rtl="0">
              <a:buFont typeface="Arial" panose="020B0604020202020204" pitchFamily="34" charset="0"/>
              <a:buChar char="•"/>
            </a:pPr>
            <a:endParaRPr lang="en-US" dirty="0">
              <a:latin typeface="Bell MT" panose="02020503060305020303" pitchFamily="18" charset="0"/>
            </a:endParaRPr>
          </a:p>
          <a:p>
            <a:pPr marL="742950" lvl="1" indent="-285750" rtl="0">
              <a:buFont typeface="Arial" panose="020B0604020202020204" pitchFamily="34" charset="0"/>
              <a:buChar char="•"/>
            </a:pPr>
            <a:r>
              <a:rPr lang="en-US" dirty="0">
                <a:latin typeface="Bell MT" panose="02020503060305020303" pitchFamily="18" charset="0"/>
              </a:rPr>
              <a:t>Maven Toys Ciudad de Mexico 2: Highest stock (915 units) and sales (42,757 units).</a:t>
            </a:r>
          </a:p>
          <a:p>
            <a:pPr marL="742950" lvl="1" indent="-285750" rtl="0">
              <a:buFont typeface="Arial" panose="020B0604020202020204" pitchFamily="34" charset="0"/>
              <a:buChar char="•"/>
            </a:pPr>
            <a:r>
              <a:rPr lang="en-US" dirty="0">
                <a:latin typeface="Bell MT" panose="02020503060305020303" pitchFamily="18" charset="0"/>
              </a:rPr>
              <a:t>Chihuahua 2 (874 units) &amp; Hermosillo 3 (756 units): High stock, sales ~22–23K units.</a:t>
            </a:r>
          </a:p>
          <a:p>
            <a:pPr marL="742950" lvl="1" indent="-285750" rtl="0">
              <a:buFont typeface="Arial" panose="020B0604020202020204" pitchFamily="34" charset="0"/>
              <a:buChar char="•"/>
            </a:pPr>
            <a:r>
              <a:rPr lang="en-US" dirty="0">
                <a:latin typeface="Bell MT" panose="02020503060305020303" pitchFamily="18" charset="0"/>
              </a:rPr>
              <a:t>Stores with high stock generally have strong sales and good inventory turnover.</a:t>
            </a:r>
          </a:p>
          <a:p>
            <a:pPr rtl="0"/>
            <a:r>
              <a:rPr lang="en-US" b="1" dirty="0">
                <a:latin typeface="Bell MT" panose="02020503060305020303" pitchFamily="18" charset="0"/>
              </a:rPr>
              <a:t>Insights</a:t>
            </a:r>
            <a:endParaRPr lang="en-US" dirty="0">
              <a:latin typeface="Bell MT" panose="02020503060305020303" pitchFamily="18" charset="0"/>
            </a:endParaRPr>
          </a:p>
          <a:p>
            <a:pPr marL="742950" lvl="1" indent="-285750" rtl="0">
              <a:buFont typeface="Arial" panose="020B0604020202020204" pitchFamily="34" charset="0"/>
              <a:buChar char="•"/>
            </a:pPr>
            <a:r>
              <a:rPr lang="en-US" dirty="0">
                <a:latin typeface="Bell MT" panose="02020503060305020303" pitchFamily="18" charset="0"/>
              </a:rPr>
              <a:t>High stock levels align with top sales, avoiding idle inventory.</a:t>
            </a:r>
          </a:p>
          <a:p>
            <a:pPr marL="742950" lvl="1" indent="-285750" rtl="0">
              <a:buFont typeface="Arial" panose="020B0604020202020204" pitchFamily="34" charset="0"/>
              <a:buChar char="•"/>
            </a:pPr>
            <a:r>
              <a:rPr lang="en-US" dirty="0">
                <a:latin typeface="Bell MT" panose="02020503060305020303" pitchFamily="18" charset="0"/>
              </a:rPr>
              <a:t>Ciudad de Mexico 2 excels in balancing high stock with strong sales.</a:t>
            </a:r>
          </a:p>
          <a:p>
            <a:pPr marL="742950" lvl="1" indent="-285750">
              <a:buFont typeface="Arial" panose="020B0604020202020204" pitchFamily="34" charset="0"/>
              <a:buChar char="•"/>
            </a:pPr>
            <a:r>
              <a:rPr lang="en-US" dirty="0">
                <a:latin typeface="Bell MT" panose="02020503060305020303" pitchFamily="18" charset="0"/>
              </a:rPr>
              <a:t>Predicting customer demand and tracking store traffic ensures products sell quickly and inventory doesn't sit unused.</a:t>
            </a:r>
          </a:p>
        </p:txBody>
      </p:sp>
      <p:pic>
        <p:nvPicPr>
          <p:cNvPr id="2" name="Picture 1">
            <a:extLst>
              <a:ext uri="{FF2B5EF4-FFF2-40B4-BE49-F238E27FC236}">
                <a16:creationId xmlns:a16="http://schemas.microsoft.com/office/drawing/2014/main" id="{81CBB525-49E1-7582-6652-518F32EA93DF}"/>
              </a:ext>
            </a:extLst>
          </p:cNvPr>
          <p:cNvPicPr>
            <a:picLocks noChangeAspect="1"/>
          </p:cNvPicPr>
          <p:nvPr/>
        </p:nvPicPr>
        <p:blipFill>
          <a:blip r:embed="rId3"/>
          <a:stretch>
            <a:fillRect/>
          </a:stretch>
        </p:blipFill>
        <p:spPr>
          <a:xfrm>
            <a:off x="578617" y="1587266"/>
            <a:ext cx="4365172" cy="5137625"/>
          </a:xfrm>
          <a:prstGeom prst="rect">
            <a:avLst/>
          </a:prstGeom>
          <a:ln w="57150">
            <a:solidFill>
              <a:schemeClr val="tx1"/>
            </a:solidFill>
          </a:ln>
        </p:spPr>
      </p:pic>
    </p:spTree>
    <p:extLst>
      <p:ext uri="{BB962C8B-B14F-4D97-AF65-F5344CB8AC3E}">
        <p14:creationId xmlns:p14="http://schemas.microsoft.com/office/powerpoint/2010/main" val="1098811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CAD9781-2761-DC05-21B4-203D488BA353}"/>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9A4BAF44-BC34-A569-F676-D7F8EA133EF8}"/>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B1820D84-28EF-9BC3-BC58-8BF34F0E55A6}"/>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F7170413-D79D-B261-C159-47BFF49AE22F}"/>
              </a:ext>
            </a:extLst>
          </p:cNvPr>
          <p:cNvSpPr>
            <a:spLocks noGrp="1"/>
          </p:cNvSpPr>
          <p:nvPr>
            <p:ph type="body" idx="1"/>
          </p:nvPr>
        </p:nvSpPr>
        <p:spPr>
          <a:xfrm>
            <a:off x="248675" y="947399"/>
            <a:ext cx="11694649"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stores generate the highest revenue and profit? </a:t>
            </a:r>
          </a:p>
          <a:p>
            <a:endParaRPr lang="en-US" dirty="0"/>
          </a:p>
        </p:txBody>
      </p:sp>
      <p:sp>
        <p:nvSpPr>
          <p:cNvPr id="5" name="TextBox 4">
            <a:extLst>
              <a:ext uri="{FF2B5EF4-FFF2-40B4-BE49-F238E27FC236}">
                <a16:creationId xmlns:a16="http://schemas.microsoft.com/office/drawing/2014/main" id="{E1C9860E-696D-5181-83B8-F56F543B2126}"/>
              </a:ext>
            </a:extLst>
          </p:cNvPr>
          <p:cNvSpPr txBox="1"/>
          <p:nvPr/>
        </p:nvSpPr>
        <p:spPr>
          <a:xfrm>
            <a:off x="5017566" y="1681739"/>
            <a:ext cx="6517942" cy="4247317"/>
          </a:xfrm>
          <a:prstGeom prst="rect">
            <a:avLst/>
          </a:prstGeom>
          <a:noFill/>
        </p:spPr>
        <p:txBody>
          <a:bodyPr wrap="square" rtlCol="0">
            <a:spAutoFit/>
          </a:bodyPr>
          <a:lstStyle/>
          <a:p>
            <a:r>
              <a:rPr lang="en-US" b="1" dirty="0">
                <a:latin typeface="Bell MT" panose="02020503060305020303" pitchFamily="18" charset="0"/>
              </a:rPr>
              <a:t>Finding: </a:t>
            </a:r>
          </a:p>
          <a:p>
            <a:pPr rtl="0">
              <a:buFont typeface="Arial" panose="020B0604020202020204" pitchFamily="34" charset="0"/>
              <a:buChar char="•"/>
            </a:pPr>
            <a:endParaRPr lang="en-US" dirty="0">
              <a:latin typeface="Bell MT" panose="02020503060305020303" pitchFamily="18" charset="0"/>
            </a:endParaRPr>
          </a:p>
          <a:p>
            <a:pPr marL="742950" lvl="1" indent="-285750" rtl="0">
              <a:buFont typeface="Arial" panose="020B0604020202020204" pitchFamily="34" charset="0"/>
              <a:buChar char="•"/>
            </a:pPr>
            <a:r>
              <a:rPr lang="en-US" dirty="0">
                <a:latin typeface="Bell MT" panose="02020503060305020303" pitchFamily="18" charset="0"/>
              </a:rPr>
              <a:t>Top Revenue: Ciudad de Mexico 2 ($554.55K), Guadalajara 3 ($449.35K), Ciudad de Mexico 1 ($433.56K).</a:t>
            </a:r>
          </a:p>
          <a:p>
            <a:pPr marL="742950" lvl="1" indent="-285750" rtl="0">
              <a:buFont typeface="Arial" panose="020B0604020202020204" pitchFamily="34" charset="0"/>
              <a:buChar char="•"/>
            </a:pPr>
            <a:r>
              <a:rPr lang="en-US" dirty="0">
                <a:latin typeface="Bell MT" panose="02020503060305020303" pitchFamily="18" charset="0"/>
              </a:rPr>
              <a:t>Top Profit: Ciudad de Mexico 2 ($169.86K), Guadalajara 3 ($121.57K), Ciudad de Mexico 1 ($111.30K).</a:t>
            </a:r>
          </a:p>
          <a:p>
            <a:pPr rtl="0"/>
            <a:r>
              <a:rPr lang="en-US" b="1" dirty="0">
                <a:latin typeface="Bell MT" panose="02020503060305020303" pitchFamily="18" charset="0"/>
              </a:rPr>
              <a:t>Insights</a:t>
            </a:r>
            <a:endParaRPr lang="en-US" dirty="0">
              <a:latin typeface="Bell MT" panose="02020503060305020303" pitchFamily="18" charset="0"/>
            </a:endParaRPr>
          </a:p>
          <a:p>
            <a:pPr marL="742950" lvl="1" indent="-285750" rtl="0">
              <a:buFont typeface="Arial" panose="020B0604020202020204" pitchFamily="34" charset="0"/>
              <a:buChar char="•"/>
            </a:pPr>
            <a:r>
              <a:rPr lang="en-US" dirty="0">
                <a:latin typeface="Bell MT" panose="02020503060305020303" pitchFamily="18" charset="0"/>
              </a:rPr>
              <a:t>Ciudad de Mexico 2 excels in revenue and profit, reflecting strong demand and efficient operations.</a:t>
            </a:r>
          </a:p>
          <a:p>
            <a:pPr marL="742950" lvl="1" indent="-285750" rtl="0">
              <a:buFont typeface="Arial" panose="020B0604020202020204" pitchFamily="34" charset="0"/>
              <a:buChar char="•"/>
            </a:pPr>
            <a:r>
              <a:rPr lang="en-US" dirty="0">
                <a:latin typeface="Bell MT" panose="02020503060305020303" pitchFamily="18" charset="0"/>
              </a:rPr>
              <a:t>Ciudad de Mexico and Guadalajara stores dominate, likely due to prime urban markets.</a:t>
            </a:r>
          </a:p>
          <a:p>
            <a:pPr marL="742950" lvl="1" indent="-285750" rtl="0">
              <a:buFont typeface="Arial" panose="020B0604020202020204" pitchFamily="34" charset="0"/>
              <a:buChar char="•"/>
            </a:pPr>
            <a:r>
              <a:rPr lang="en-US" dirty="0">
                <a:latin typeface="Bell MT" panose="02020503060305020303" pitchFamily="18" charset="0"/>
              </a:rPr>
              <a:t>Stores like Xalapa 2 and Ciudad de Mexico 3 have high revenue but lower profit, suggesting a need for pricing or cost-efficiency reviews.</a:t>
            </a:r>
          </a:p>
          <a:p>
            <a:endParaRPr lang="en-US" dirty="0">
              <a:latin typeface="Bell MT" panose="02020503060305020303" pitchFamily="18" charset="0"/>
            </a:endParaRPr>
          </a:p>
        </p:txBody>
      </p:sp>
      <p:pic>
        <p:nvPicPr>
          <p:cNvPr id="2" name="Picture 1">
            <a:extLst>
              <a:ext uri="{FF2B5EF4-FFF2-40B4-BE49-F238E27FC236}">
                <a16:creationId xmlns:a16="http://schemas.microsoft.com/office/drawing/2014/main" id="{A6477184-804D-1823-0BE5-6B0D54BA36F8}"/>
              </a:ext>
            </a:extLst>
          </p:cNvPr>
          <p:cNvPicPr>
            <a:picLocks noChangeAspect="1"/>
          </p:cNvPicPr>
          <p:nvPr/>
        </p:nvPicPr>
        <p:blipFill>
          <a:blip r:embed="rId3"/>
          <a:stretch>
            <a:fillRect/>
          </a:stretch>
        </p:blipFill>
        <p:spPr>
          <a:xfrm>
            <a:off x="462224" y="1591810"/>
            <a:ext cx="4306687" cy="5133081"/>
          </a:xfrm>
          <a:prstGeom prst="rect">
            <a:avLst/>
          </a:prstGeom>
          <a:ln w="57150">
            <a:solidFill>
              <a:srgbClr val="454452"/>
            </a:solidFill>
          </a:ln>
        </p:spPr>
      </p:pic>
    </p:spTree>
    <p:extLst>
      <p:ext uri="{BB962C8B-B14F-4D97-AF65-F5344CB8AC3E}">
        <p14:creationId xmlns:p14="http://schemas.microsoft.com/office/powerpoint/2010/main" val="1891493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ED357B-47B0-14FC-B5EA-B2394E60B9B4}"/>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EBD027B2-9B8F-2BA1-A467-E55A70066A2B}"/>
              </a:ext>
            </a:extLst>
          </p:cNvPr>
          <p:cNvPicPr>
            <a:picLocks noChangeAspect="1"/>
          </p:cNvPicPr>
          <p:nvPr/>
        </p:nvPicPr>
        <p:blipFill>
          <a:blip r:embed="rId2"/>
          <a:srcRect t="7865" b="7865"/>
          <a:stretch>
            <a:fillRect/>
          </a:stretch>
        </p:blipFill>
        <p:spPr>
          <a:xfrm>
            <a:off x="52805" y="-2"/>
            <a:ext cx="12191980" cy="6858002"/>
          </a:xfrm>
          <a:prstGeom prst="rect">
            <a:avLst/>
          </a:prstGeom>
        </p:spPr>
      </p:pic>
      <p:sp>
        <p:nvSpPr>
          <p:cNvPr id="11" name="Title 10">
            <a:extLst>
              <a:ext uri="{FF2B5EF4-FFF2-40B4-BE49-F238E27FC236}">
                <a16:creationId xmlns:a16="http://schemas.microsoft.com/office/drawing/2014/main" id="{0B417BB1-2DE5-F486-1414-14966B919051}"/>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ANALYSIS &amp; FINDINGS</a:t>
            </a:r>
          </a:p>
        </p:txBody>
      </p:sp>
      <p:sp>
        <p:nvSpPr>
          <p:cNvPr id="12" name="Text Placeholder 11">
            <a:extLst>
              <a:ext uri="{FF2B5EF4-FFF2-40B4-BE49-F238E27FC236}">
                <a16:creationId xmlns:a16="http://schemas.microsoft.com/office/drawing/2014/main" id="{C77A779E-1347-C93F-5873-75B4FBC3ECBB}"/>
              </a:ext>
            </a:extLst>
          </p:cNvPr>
          <p:cNvSpPr>
            <a:spLocks noGrp="1"/>
          </p:cNvSpPr>
          <p:nvPr>
            <p:ph type="body" idx="1"/>
          </p:nvPr>
        </p:nvSpPr>
        <p:spPr>
          <a:xfrm>
            <a:off x="16546" y="947399"/>
            <a:ext cx="11879713" cy="5739152"/>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15900"/>
          </a:effectLst>
        </p:spPr>
        <p:txBody>
          <a:bodyPr>
            <a:normAutofit/>
          </a:bodyPr>
          <a:lstStyle/>
          <a:p>
            <a:pPr marL="285750" indent="-285750" algn="l">
              <a:lnSpc>
                <a:spcPct val="140000"/>
              </a:lnSpc>
              <a:spcBef>
                <a:spcPts val="930"/>
              </a:spcBef>
              <a:buFont typeface="Arial" panose="020B0604020202020204" pitchFamily="34" charset="0"/>
              <a:buChar char="•"/>
            </a:pPr>
            <a:r>
              <a:rPr lang="en-US" dirty="0">
                <a:solidFill>
                  <a:schemeClr val="tx1"/>
                </a:solidFill>
                <a:latin typeface="Bell MT" panose="02020503060305020303" pitchFamily="18" charset="0"/>
              </a:rPr>
              <a:t>Which stores sell the most products? </a:t>
            </a:r>
          </a:p>
          <a:p>
            <a:endParaRPr lang="en-US" dirty="0"/>
          </a:p>
        </p:txBody>
      </p:sp>
      <p:sp>
        <p:nvSpPr>
          <p:cNvPr id="5" name="TextBox 4">
            <a:extLst>
              <a:ext uri="{FF2B5EF4-FFF2-40B4-BE49-F238E27FC236}">
                <a16:creationId xmlns:a16="http://schemas.microsoft.com/office/drawing/2014/main" id="{1F3FF6CA-5001-935C-7F5C-DF29D8D1EB98}"/>
              </a:ext>
            </a:extLst>
          </p:cNvPr>
          <p:cNvSpPr txBox="1"/>
          <p:nvPr/>
        </p:nvSpPr>
        <p:spPr>
          <a:xfrm>
            <a:off x="5647248" y="1699212"/>
            <a:ext cx="6491947" cy="5158335"/>
          </a:xfrm>
          <a:prstGeom prst="rect">
            <a:avLst/>
          </a:prstGeom>
          <a:noFill/>
        </p:spPr>
        <p:txBody>
          <a:bodyPr wrap="square" rtlCol="0">
            <a:spAutoFit/>
          </a:bodyPr>
          <a:lstStyle/>
          <a:p>
            <a:r>
              <a:rPr lang="en-US" b="1" dirty="0">
                <a:latin typeface="Bell MT" panose="02020503060305020303" pitchFamily="18" charset="0"/>
              </a:rPr>
              <a:t>Finding: </a:t>
            </a: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ell MT" panose="02020503060305020303" pitchFamily="18" charset="0"/>
                <a:ea typeface="Times New Roman" panose="02020603050405020304" pitchFamily="18" charset="0"/>
                <a:cs typeface="Bodoni MT" panose="02070603080606020203" pitchFamily="18" charset="0"/>
              </a:rPr>
              <a:t>Maven Toys Ciudad de Mexico 2</a:t>
            </a: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 is the top-selling store with </a:t>
            </a:r>
            <a:r>
              <a:rPr lang="en-US" sz="1800" b="1" kern="0" dirty="0">
                <a:effectLst/>
                <a:latin typeface="Bell MT" panose="02020503060305020303" pitchFamily="18" charset="0"/>
                <a:ea typeface="Times New Roman" panose="02020603050405020304" pitchFamily="18" charset="0"/>
                <a:cs typeface="Bodoni MT" panose="02070603080606020203" pitchFamily="18" charset="0"/>
              </a:rPr>
              <a:t>42,757</a:t>
            </a: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 products sold.</a:t>
            </a:r>
            <a:endParaRPr lang="en-US" sz="2000" kern="100" dirty="0">
              <a:effectLst/>
              <a:latin typeface="Bell MT" panose="02020503060305020303"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Other strong performers include </a:t>
            </a:r>
            <a:r>
              <a:rPr lang="en-US" sz="1800" b="1" kern="0" dirty="0">
                <a:effectLst/>
                <a:latin typeface="Bell MT" panose="02020503060305020303" pitchFamily="18" charset="0"/>
                <a:ea typeface="Times New Roman" panose="02020603050405020304" pitchFamily="18" charset="0"/>
                <a:cs typeface="Bodoni MT" panose="02070603080606020203" pitchFamily="18" charset="0"/>
              </a:rPr>
              <a:t>Ciudad de Mexico 1 (33,479)</a:t>
            </a: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 and </a:t>
            </a:r>
            <a:r>
              <a:rPr lang="en-US" sz="1800" b="1" kern="0" dirty="0">
                <a:effectLst/>
                <a:latin typeface="Bell MT" panose="02020503060305020303" pitchFamily="18" charset="0"/>
                <a:ea typeface="Times New Roman" panose="02020603050405020304" pitchFamily="18" charset="0"/>
                <a:cs typeface="Bodoni MT" panose="02070603080606020203" pitchFamily="18" charset="0"/>
              </a:rPr>
              <a:t>Toluca 1 (32,668)</a:t>
            </a: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a:t>
            </a:r>
            <a:endParaRPr lang="en-US" sz="2000" kern="100" dirty="0">
              <a:effectLst/>
              <a:latin typeface="Bell MT" panose="02020503060305020303"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US" sz="1800" b="1" kern="0" dirty="0">
                <a:effectLst/>
                <a:latin typeface="Bell MT" panose="02020503060305020303" pitchFamily="18" charset="0"/>
                <a:ea typeface="Times New Roman" panose="02020603050405020304" pitchFamily="18" charset="0"/>
                <a:cs typeface="Bodoni MT" panose="02070603080606020203" pitchFamily="18" charset="0"/>
              </a:rPr>
              <a:t>Guadalajara 4 (24,136)</a:t>
            </a:r>
            <a:r>
              <a:rPr lang="en-US" sz="1800" kern="0" dirty="0">
                <a:effectLst/>
                <a:latin typeface="Bell MT" panose="02020503060305020303" pitchFamily="18" charset="0"/>
                <a:ea typeface="Times New Roman" panose="02020603050405020304" pitchFamily="18" charset="0"/>
                <a:cs typeface="Bodoni MT" panose="02070603080606020203" pitchFamily="18" charset="0"/>
              </a:rPr>
              <a:t> records the lowest sales among listed stores.</a:t>
            </a:r>
            <a:endParaRPr lang="en-US" dirty="0">
              <a:latin typeface="Bell MT" panose="02020503060305020303" pitchFamily="18" charset="0"/>
            </a:endParaRPr>
          </a:p>
          <a:p>
            <a:r>
              <a:rPr lang="en-US" b="1" dirty="0">
                <a:latin typeface="Bell MT" panose="02020503060305020303" pitchFamily="18" charset="0"/>
              </a:rPr>
              <a:t>Insight:</a:t>
            </a:r>
          </a:p>
          <a:p>
            <a:pPr rtl="0">
              <a:buFont typeface="Arial" panose="020B0604020202020204" pitchFamily="34" charset="0"/>
              <a:buChar char="•"/>
            </a:pPr>
            <a:r>
              <a:rPr lang="en-US" dirty="0">
                <a:latin typeface="Bell MT" panose="02020503060305020303" pitchFamily="18" charset="0"/>
              </a:rPr>
              <a:t>Ciudad de Mexico stores lead sales, driven by high customer traffic.</a:t>
            </a:r>
          </a:p>
          <a:p>
            <a:pPr rtl="0">
              <a:buFont typeface="Arial" panose="020B0604020202020204" pitchFamily="34" charset="0"/>
              <a:buChar char="•"/>
            </a:pPr>
            <a:r>
              <a:rPr lang="en-US" dirty="0">
                <a:latin typeface="Bell MT" panose="02020503060305020303" pitchFamily="18" charset="0"/>
              </a:rPr>
              <a:t>Performance varies within cities (e.g., Guadalajara 3 outperforms Guadalajara 4 by 7K+ units), likely due to location or management differences.</a:t>
            </a:r>
          </a:p>
          <a:p>
            <a:pPr rtl="0">
              <a:buFont typeface="Arial" panose="020B0604020202020204" pitchFamily="34" charset="0"/>
              <a:buChar char="•"/>
            </a:pPr>
            <a:r>
              <a:rPr lang="en-US" dirty="0">
                <a:latin typeface="Bell MT" panose="02020503060305020303" pitchFamily="18" charset="0"/>
              </a:rPr>
              <a:t>Replicate top stores' successful tactics in underperforming locations.</a:t>
            </a:r>
          </a:p>
          <a:p>
            <a:endParaRPr lang="en-US" b="1" dirty="0">
              <a:latin typeface="Bell MT" panose="02020503060305020303" pitchFamily="18" charset="0"/>
            </a:endParaRPr>
          </a:p>
        </p:txBody>
      </p:sp>
      <p:sp>
        <p:nvSpPr>
          <p:cNvPr id="9" name="TextBox 8">
            <a:extLst>
              <a:ext uri="{FF2B5EF4-FFF2-40B4-BE49-F238E27FC236}">
                <a16:creationId xmlns:a16="http://schemas.microsoft.com/office/drawing/2014/main" id="{5D767499-DCDC-BD41-8B42-639B4D71677F}"/>
              </a:ext>
            </a:extLst>
          </p:cNvPr>
          <p:cNvSpPr txBox="1"/>
          <p:nvPr/>
        </p:nvSpPr>
        <p:spPr>
          <a:xfrm>
            <a:off x="201610" y="1732918"/>
            <a:ext cx="5260574" cy="3943546"/>
          </a:xfrm>
          <a:prstGeom prst="rect">
            <a:avLst/>
          </a:prstGeom>
          <a:solidFill>
            <a:srgbClr val="454452"/>
          </a:solidFill>
        </p:spPr>
        <p:txBody>
          <a:bodyPr wrap="square" rtlCol="0">
            <a:spAutoFit/>
          </a:bodyPr>
          <a:lstStyle/>
          <a:p>
            <a:endParaRPr lang="en-US" dirty="0"/>
          </a:p>
        </p:txBody>
      </p:sp>
      <p:pic>
        <p:nvPicPr>
          <p:cNvPr id="2" name="Picture 1">
            <a:extLst>
              <a:ext uri="{FF2B5EF4-FFF2-40B4-BE49-F238E27FC236}">
                <a16:creationId xmlns:a16="http://schemas.microsoft.com/office/drawing/2014/main" id="{589A1B7C-F058-026D-C9B2-AC24073792FA}"/>
              </a:ext>
            </a:extLst>
          </p:cNvPr>
          <p:cNvPicPr>
            <a:picLocks noChangeAspect="1"/>
          </p:cNvPicPr>
          <p:nvPr/>
        </p:nvPicPr>
        <p:blipFill>
          <a:blip r:embed="rId3"/>
          <a:stretch>
            <a:fillRect/>
          </a:stretch>
        </p:blipFill>
        <p:spPr>
          <a:xfrm>
            <a:off x="295741" y="1878780"/>
            <a:ext cx="5072312" cy="3651821"/>
          </a:xfrm>
          <a:prstGeom prst="rect">
            <a:avLst/>
          </a:prstGeom>
        </p:spPr>
      </p:pic>
    </p:spTree>
    <p:extLst>
      <p:ext uri="{BB962C8B-B14F-4D97-AF65-F5344CB8AC3E}">
        <p14:creationId xmlns:p14="http://schemas.microsoft.com/office/powerpoint/2010/main" val="3182467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43183FA-9D89-C7F8-B262-B353B1B45614}"/>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4137604A-6127-81CF-F37A-E4FBF44F63E9}"/>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A27DDB7C-64EC-85C0-F75D-A76FD2444FAB}"/>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SUMMARY OF FINDINGS</a:t>
            </a:r>
          </a:p>
        </p:txBody>
      </p:sp>
      <p:sp>
        <p:nvSpPr>
          <p:cNvPr id="12" name="Text Placeholder 11">
            <a:extLst>
              <a:ext uri="{FF2B5EF4-FFF2-40B4-BE49-F238E27FC236}">
                <a16:creationId xmlns:a16="http://schemas.microsoft.com/office/drawing/2014/main" id="{9E801F6B-D217-FCFC-0B06-5B52BB87DCBE}"/>
              </a:ext>
            </a:extLst>
          </p:cNvPr>
          <p:cNvSpPr>
            <a:spLocks noGrp="1"/>
          </p:cNvSpPr>
          <p:nvPr>
            <p:ph type="body" idx="1"/>
          </p:nvPr>
        </p:nvSpPr>
        <p:spPr>
          <a:xfrm>
            <a:off x="150471" y="814288"/>
            <a:ext cx="11725153" cy="5872263"/>
          </a:xfrm>
          <a:solidFill>
            <a:schemeClr val="accent6">
              <a:lumMod val="20000"/>
              <a:lumOff val="80000"/>
            </a:schemeClr>
          </a:solidFill>
          <a:ln w="38100">
            <a:solidFill>
              <a:schemeClr val="tx1"/>
            </a:solidFill>
          </a:ln>
          <a:effectLst>
            <a:softEdge rad="127000"/>
          </a:effectLst>
        </p:spPr>
        <p:txBody>
          <a:bodyPr anchor="t">
            <a:normAutofit fontScale="85000" lnSpcReduction="20000"/>
          </a:bodyPr>
          <a:lstStyle/>
          <a:p>
            <a:r>
              <a:rPr lang="en-US" sz="2600" b="1" dirty="0"/>
              <a:t>Product Performance</a:t>
            </a:r>
          </a:p>
          <a:p>
            <a:pPr algn="l">
              <a:buNone/>
            </a:pPr>
            <a:r>
              <a:rPr lang="en-US" sz="2000" b="1" dirty="0"/>
              <a:t>Top Products and Categories:</a:t>
            </a:r>
            <a:br>
              <a:rPr lang="en-US" sz="2000" dirty="0"/>
            </a:br>
            <a:r>
              <a:rPr lang="en-US" sz="2000" dirty="0"/>
              <a:t>Art &amp; Crafts leads sales with 325,574 units, driven by PlayDoh, Slime, and Magic Sand. Electronics has the best-selling item, Colorbuds, but lower overall sales (134,075 units). Toys perform strongly (267,200 units) with Action Figures and Lego Bricks, while Games and Sports &amp; Outdoors show moderate results.</a:t>
            </a:r>
          </a:p>
          <a:p>
            <a:pPr algn="l">
              <a:buNone/>
            </a:pPr>
            <a:r>
              <a:rPr lang="en-US" sz="2000" b="1" dirty="0"/>
              <a:t>Low Performers:</a:t>
            </a:r>
            <a:br>
              <a:rPr lang="en-US" sz="2000" dirty="0"/>
            </a:br>
            <a:r>
              <a:rPr lang="en-US" sz="2000" dirty="0"/>
              <a:t>Games account for most low sellers, including Uno and Monopoly, with Mini Basketball Hoop being the weakest performer. Some Toys and Art &amp; Crafts items, like Playfoam and PlayDoh Playset, also underperform due to low demand, poor visibility, or pricing issues.</a:t>
            </a:r>
          </a:p>
          <a:p>
            <a:pPr algn="l">
              <a:buNone/>
            </a:pPr>
            <a:r>
              <a:rPr lang="en-US" sz="2000" b="1" dirty="0"/>
              <a:t>Profitability:</a:t>
            </a:r>
            <a:br>
              <a:rPr lang="en-US" sz="2000" dirty="0"/>
            </a:br>
            <a:r>
              <a:rPr lang="en-US" sz="2000" dirty="0"/>
              <a:t>Toys yield the highest profit ($1.08M), followed by Electronics ($1.00M, mainly from Colorbuds). Art &amp; Crafts and Games earn moderate profits ($0.75M and $0.67M), while Sports &amp; Outdoors trails ($0.51M). Low-profit products like Classic Dominoes and board games reflect weak margins or limited demand.</a:t>
            </a:r>
          </a:p>
          <a:p>
            <a:pPr algn="l">
              <a:buNone/>
            </a:pPr>
            <a:r>
              <a:rPr lang="en-US" sz="2000" b="1" dirty="0"/>
              <a:t>Inventory:</a:t>
            </a:r>
            <a:br>
              <a:rPr lang="en-US" sz="2000" dirty="0"/>
            </a:br>
            <a:r>
              <a:rPr lang="en-US" sz="2000" dirty="0"/>
              <a:t>Products like Deck of Cards (2,738 units) and PlayDoh Can (2,129 units) show possible overstocking or seasonal mismatch. However, top stores such as Ciudad de Mexico 2 manage inventory efficiently, maintaining strong stock turnover.</a:t>
            </a:r>
          </a:p>
        </p:txBody>
      </p:sp>
    </p:spTree>
    <p:extLst>
      <p:ext uri="{BB962C8B-B14F-4D97-AF65-F5344CB8AC3E}">
        <p14:creationId xmlns:p14="http://schemas.microsoft.com/office/powerpoint/2010/main" val="1281794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DD6F17-3460-0584-6CCB-3A561864E82E}"/>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77C04A9E-EB0E-E9D5-C37C-8459325F79A1}"/>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3BB9A717-3BF3-51BA-08CB-3D75A69C75A5}"/>
              </a:ext>
            </a:extLst>
          </p:cNvPr>
          <p:cNvSpPr>
            <a:spLocks noGrp="1"/>
          </p:cNvSpPr>
          <p:nvPr>
            <p:ph type="title"/>
          </p:nvPr>
        </p:nvSpPr>
        <p:spPr>
          <a:xfrm>
            <a:off x="3019425" y="171449"/>
            <a:ext cx="5629275" cy="642839"/>
          </a:xfrm>
          <a:solidFill>
            <a:srgbClr val="454452"/>
          </a:solidFill>
        </p:spPr>
        <p:txBody>
          <a:bodyPr>
            <a:noAutofit/>
          </a:bodyPr>
          <a:lstStyle/>
          <a:p>
            <a:r>
              <a:rPr lang="en-US" sz="3200" dirty="0">
                <a:solidFill>
                  <a:schemeClr val="bg1"/>
                </a:solidFill>
                <a:latin typeface="Bell MT" panose="02020503060305020303" pitchFamily="18" charset="0"/>
              </a:rPr>
              <a:t>SUMMARY OF FINDINGS</a:t>
            </a:r>
          </a:p>
        </p:txBody>
      </p:sp>
      <p:sp>
        <p:nvSpPr>
          <p:cNvPr id="12" name="Text Placeholder 11">
            <a:extLst>
              <a:ext uri="{FF2B5EF4-FFF2-40B4-BE49-F238E27FC236}">
                <a16:creationId xmlns:a16="http://schemas.microsoft.com/office/drawing/2014/main" id="{D89BE4DD-7663-0185-5597-AEC6A144C01A}"/>
              </a:ext>
            </a:extLst>
          </p:cNvPr>
          <p:cNvSpPr>
            <a:spLocks noGrp="1"/>
          </p:cNvSpPr>
          <p:nvPr>
            <p:ph type="body" idx="1"/>
          </p:nvPr>
        </p:nvSpPr>
        <p:spPr>
          <a:xfrm>
            <a:off x="248675" y="814288"/>
            <a:ext cx="11694649" cy="5783282"/>
          </a:xfrm>
          <a:solidFill>
            <a:schemeClr val="accent6">
              <a:lumMod val="20000"/>
              <a:lumOff val="80000"/>
            </a:schemeClr>
          </a:solidFill>
          <a:ln w="38100">
            <a:solidFill>
              <a:schemeClr val="tx1"/>
            </a:solidFill>
          </a:ln>
          <a:effectLst>
            <a:softEdge rad="63500"/>
          </a:effectLst>
        </p:spPr>
        <p:txBody>
          <a:bodyPr>
            <a:normAutofit fontScale="47500" lnSpcReduction="20000"/>
          </a:bodyPr>
          <a:lstStyle/>
          <a:p>
            <a:pPr>
              <a:buNone/>
            </a:pPr>
            <a:r>
              <a:rPr lang="en-US" sz="3500" b="1" dirty="0"/>
              <a:t>Sales Insights</a:t>
            </a:r>
            <a:endParaRPr lang="en-US" sz="3500" dirty="0"/>
          </a:p>
          <a:p>
            <a:pPr algn="l">
              <a:buNone/>
            </a:pPr>
            <a:r>
              <a:rPr lang="en-US" sz="3400" b="1" dirty="0"/>
              <a:t>Seasonality:</a:t>
            </a:r>
            <a:br>
              <a:rPr lang="en-US" sz="3400" dirty="0"/>
            </a:br>
            <a:r>
              <a:rPr lang="en-US" sz="3400" dirty="0"/>
              <a:t>Sales peak in Q2 (April–June) and again in December, reflecting holiday and back-to-school demand. April records the highest sales (112,695 units), while October and November are the weakest months. Saturdays and Fridays drive the most sales, whereas Mondays and Tuesday's lag.</a:t>
            </a:r>
          </a:p>
          <a:p>
            <a:pPr algn="l">
              <a:buNone/>
            </a:pPr>
            <a:r>
              <a:rPr lang="en-US" sz="3400" b="1" dirty="0"/>
              <a:t>Store Performance:</a:t>
            </a:r>
            <a:br>
              <a:rPr lang="en-US" sz="3400" dirty="0"/>
            </a:br>
            <a:r>
              <a:rPr lang="en-US" sz="3400" dirty="0"/>
              <a:t>Ciudad de Mexico 2 leads in performance (42,757 units, $554.55K revenue, $169.86K profit), followed by Ciudad de Mexico 1 and Guadalajara 3. Downtown stores dominate with 628,073 units sold, while Airport and Residential outlets underperform. Store age doesn’t guarantee success, as newer stores like Ciudad de Mexico 2 outperform older ones.</a:t>
            </a:r>
          </a:p>
          <a:p>
            <a:pPr algn="l">
              <a:buNone/>
            </a:pPr>
            <a:r>
              <a:rPr lang="en-US" sz="3400" b="1" dirty="0"/>
              <a:t>Location Impact:</a:t>
            </a:r>
            <a:br>
              <a:rPr lang="en-US" sz="3400" dirty="0"/>
            </a:br>
            <a:r>
              <a:rPr lang="en-US" sz="3400" dirty="0"/>
              <a:t>Ciudad de Mexico, Guadalajara, and Monterrey record the highest sales, supported by dense populations and strong retail infrastructure. Lower-performing cities like Saltillo and Xalapa present opportunities for targeted growth.</a:t>
            </a:r>
          </a:p>
          <a:p>
            <a:pPr algn="l">
              <a:buNone/>
            </a:pPr>
            <a:r>
              <a:rPr lang="en-US" sz="3400" b="1" dirty="0"/>
              <a:t>Other Factors:</a:t>
            </a:r>
            <a:br>
              <a:rPr lang="en-US" sz="3400" dirty="0"/>
            </a:br>
            <a:r>
              <a:rPr lang="en-US" sz="3400" dirty="0"/>
              <a:t>Top products such as Colorbuds and Action Figures benefit from brand strength and consistent demand. Pricing strategies appear to work well for profitable products, but low-margin items may require adjustment. Established stores in urban areas drive the majority of sales, while newer or less-visible locations continue to struggle.</a:t>
            </a:r>
          </a:p>
        </p:txBody>
      </p:sp>
    </p:spTree>
    <p:extLst>
      <p:ext uri="{BB962C8B-B14F-4D97-AF65-F5344CB8AC3E}">
        <p14:creationId xmlns:p14="http://schemas.microsoft.com/office/powerpoint/2010/main" val="3442095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454452"/>
        </a:solidFill>
        <a:effectLst/>
      </p:bgPr>
    </p:bg>
    <p:spTree>
      <p:nvGrpSpPr>
        <p:cNvPr id="1" name="">
          <a:extLst>
            <a:ext uri="{FF2B5EF4-FFF2-40B4-BE49-F238E27FC236}">
              <a16:creationId xmlns:a16="http://schemas.microsoft.com/office/drawing/2014/main" id="{B202E805-6177-D8E0-722C-D419B9706E90}"/>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A2ACB910-CC8A-D9F8-1891-E2A0B75BA892}"/>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76D7F94B-BBC5-7B7F-6410-50647AB147D2}"/>
              </a:ext>
            </a:extLst>
          </p:cNvPr>
          <p:cNvSpPr>
            <a:spLocks noGrp="1"/>
          </p:cNvSpPr>
          <p:nvPr>
            <p:ph type="title"/>
          </p:nvPr>
        </p:nvSpPr>
        <p:spPr>
          <a:xfrm>
            <a:off x="2324100" y="238124"/>
            <a:ext cx="6661404" cy="719040"/>
          </a:xfrm>
          <a:solidFill>
            <a:srgbClr val="454452"/>
          </a:solidFill>
        </p:spPr>
        <p:txBody>
          <a:bodyPr>
            <a:noAutofit/>
          </a:bodyPr>
          <a:lstStyle/>
          <a:p>
            <a:r>
              <a:rPr lang="en-US" sz="3600" dirty="0">
                <a:solidFill>
                  <a:schemeClr val="bg1"/>
                </a:solidFill>
                <a:latin typeface="Bell MT" panose="02020503060305020303" pitchFamily="18" charset="0"/>
              </a:rPr>
              <a:t>RECOMMENDATIONS</a:t>
            </a:r>
          </a:p>
        </p:txBody>
      </p:sp>
      <p:sp>
        <p:nvSpPr>
          <p:cNvPr id="12" name="Text Placeholder 11">
            <a:extLst>
              <a:ext uri="{FF2B5EF4-FFF2-40B4-BE49-F238E27FC236}">
                <a16:creationId xmlns:a16="http://schemas.microsoft.com/office/drawing/2014/main" id="{836EE64D-D778-8408-5D12-84320028A939}"/>
              </a:ext>
            </a:extLst>
          </p:cNvPr>
          <p:cNvSpPr>
            <a:spLocks noGrp="1"/>
          </p:cNvSpPr>
          <p:nvPr>
            <p:ph type="body" idx="1"/>
          </p:nvPr>
        </p:nvSpPr>
        <p:spPr>
          <a:xfrm>
            <a:off x="285750" y="957164"/>
            <a:ext cx="11174730" cy="5462685"/>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03200"/>
          </a:effectLst>
        </p:spPr>
        <p:txBody>
          <a:bodyPr>
            <a:normAutofit fontScale="85000" lnSpcReduction="10000"/>
          </a:bodyPr>
          <a:lstStyle/>
          <a:p>
            <a:pPr lvl="0" algn="l"/>
            <a:r>
              <a:rPr lang="en-US" b="1" dirty="0"/>
              <a:t>Expand High-Performing Categories</a:t>
            </a:r>
            <a:r>
              <a:rPr lang="en-US" dirty="0"/>
              <a:t>: Increase inventory and marketing for Art &amp; Crafts and Toys, focusing on top sellers like PlayDoh, Slime, and Action Figures. Bundle Colorbuds with complementary products to boost Electronics sales.</a:t>
            </a:r>
          </a:p>
          <a:p>
            <a:pPr lvl="0" algn="l"/>
            <a:r>
              <a:rPr lang="en-US" b="1" dirty="0"/>
              <a:t>Address Low Performers</a:t>
            </a:r>
            <a:r>
              <a:rPr lang="en-US" dirty="0"/>
              <a:t>: Reassess Games and Sports &amp; Outdoors offerings. Consider discontinuing or rebranding low sellers like Mini Basketball Hoop and Classic Dominoes. Investigate pricing, visibility, or stock issues for underperforming Toys and Art &amp; Crafts products.</a:t>
            </a:r>
          </a:p>
          <a:p>
            <a:pPr lvl="0" algn="l"/>
            <a:r>
              <a:rPr lang="en-US" b="1" dirty="0"/>
              <a:t>Optimize Inventory</a:t>
            </a:r>
            <a:r>
              <a:rPr lang="en-US" dirty="0"/>
              <a:t>: Conduct a stock audit to address high inventory levels (e.g., Deck of Cards, PlayDoh Can). Improve demand forecasting to avoid overstock, especially for seasonal products.</a:t>
            </a:r>
          </a:p>
          <a:p>
            <a:pPr lvl="0" algn="l"/>
            <a:r>
              <a:rPr lang="en-US" b="1" dirty="0"/>
              <a:t>Leverage Peak Seasons</a:t>
            </a:r>
            <a:r>
              <a:rPr lang="en-US" dirty="0"/>
              <a:t>: Launch promotions in Q2 (April–June) and November–December to capitalize on high sales periods. Use clearance sales or targeted campaigns in low months like October and February.</a:t>
            </a:r>
          </a:p>
          <a:p>
            <a:pPr algn="l"/>
            <a:endParaRPr lang="en-US" dirty="0"/>
          </a:p>
        </p:txBody>
      </p:sp>
    </p:spTree>
    <p:extLst>
      <p:ext uri="{BB962C8B-B14F-4D97-AF65-F5344CB8AC3E}">
        <p14:creationId xmlns:p14="http://schemas.microsoft.com/office/powerpoint/2010/main" val="387057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454452"/>
        </a:solidFill>
        <a:effectLst/>
      </p:bgPr>
    </p:bg>
    <p:spTree>
      <p:nvGrpSpPr>
        <p:cNvPr id="1" name="">
          <a:extLst>
            <a:ext uri="{FF2B5EF4-FFF2-40B4-BE49-F238E27FC236}">
              <a16:creationId xmlns:a16="http://schemas.microsoft.com/office/drawing/2014/main" id="{39FDB5C8-06FE-08D4-247B-024B7F28429E}"/>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4DD2E4F2-D2E3-AB62-99DE-50FFADB4F2E6}"/>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1C93B7AE-31EC-BED8-E0AC-F7FCABFDE533}"/>
              </a:ext>
            </a:extLst>
          </p:cNvPr>
          <p:cNvSpPr>
            <a:spLocks noGrp="1"/>
          </p:cNvSpPr>
          <p:nvPr>
            <p:ph type="title"/>
          </p:nvPr>
        </p:nvSpPr>
        <p:spPr>
          <a:xfrm>
            <a:off x="2324100" y="238124"/>
            <a:ext cx="6661404" cy="719040"/>
          </a:xfrm>
          <a:solidFill>
            <a:srgbClr val="454452"/>
          </a:solidFill>
        </p:spPr>
        <p:txBody>
          <a:bodyPr>
            <a:noAutofit/>
          </a:bodyPr>
          <a:lstStyle/>
          <a:p>
            <a:r>
              <a:rPr lang="en-US" sz="3600" dirty="0">
                <a:solidFill>
                  <a:schemeClr val="bg1"/>
                </a:solidFill>
                <a:latin typeface="Bell MT" panose="02020503060305020303" pitchFamily="18" charset="0"/>
              </a:rPr>
              <a:t>RECOMMENDATIONS</a:t>
            </a:r>
          </a:p>
        </p:txBody>
      </p:sp>
      <p:sp>
        <p:nvSpPr>
          <p:cNvPr id="12" name="Text Placeholder 11">
            <a:extLst>
              <a:ext uri="{FF2B5EF4-FFF2-40B4-BE49-F238E27FC236}">
                <a16:creationId xmlns:a16="http://schemas.microsoft.com/office/drawing/2014/main" id="{3354DB3E-FED7-35C4-4FC1-058992A5FA72}"/>
              </a:ext>
            </a:extLst>
          </p:cNvPr>
          <p:cNvSpPr>
            <a:spLocks noGrp="1"/>
          </p:cNvSpPr>
          <p:nvPr>
            <p:ph type="body" idx="1"/>
          </p:nvPr>
        </p:nvSpPr>
        <p:spPr>
          <a:xfrm>
            <a:off x="285750" y="957164"/>
            <a:ext cx="11174730" cy="5462685"/>
          </a:xfrm>
          <a:gradFill>
            <a:gsLst>
              <a:gs pos="0">
                <a:schemeClr val="accent1">
                  <a:lumMod val="5000"/>
                  <a:lumOff val="95000"/>
                  <a:alpha val="93000"/>
                </a:schemeClr>
              </a:gs>
              <a:gs pos="74000">
                <a:schemeClr val="accent1">
                  <a:lumMod val="45000"/>
                  <a:lumOff val="55000"/>
                </a:schemeClr>
              </a:gs>
              <a:gs pos="82000">
                <a:schemeClr val="accent1">
                  <a:lumMod val="45000"/>
                  <a:lumOff val="55000"/>
                </a:schemeClr>
              </a:gs>
              <a:gs pos="100000">
                <a:schemeClr val="accent1">
                  <a:lumMod val="30000"/>
                  <a:lumOff val="70000"/>
                </a:schemeClr>
              </a:gs>
            </a:gsLst>
            <a:lin ang="5400000" scaled="1"/>
          </a:gradFill>
          <a:ln w="38100">
            <a:solidFill>
              <a:schemeClr val="tx1"/>
            </a:solidFill>
          </a:ln>
          <a:effectLst>
            <a:softEdge rad="203200"/>
          </a:effectLst>
        </p:spPr>
        <p:txBody>
          <a:bodyPr>
            <a:normAutofit/>
          </a:bodyPr>
          <a:lstStyle/>
          <a:p>
            <a:pPr lvl="0" algn="l"/>
            <a:r>
              <a:rPr lang="en-US" b="1" dirty="0"/>
              <a:t>Boost Weekend Sales</a:t>
            </a:r>
            <a:r>
              <a:rPr lang="en-US" dirty="0"/>
              <a:t>: Increase staffing and promotions on Fridays and Saturdays. Introduce flash deals or events on Mondays and Tuesdays to lift early-week sales.</a:t>
            </a:r>
          </a:p>
          <a:p>
            <a:pPr lvl="0" algn="l"/>
            <a:r>
              <a:rPr lang="en-US" b="1" dirty="0"/>
              <a:t>Focus on Top Locations</a:t>
            </a:r>
            <a:r>
              <a:rPr lang="en-US" dirty="0"/>
              <a:t>: Replicate successful strategies from Ciudad de Mexico 2 and Downtown stores in underperforming locations like Airport and Residential areas. Enhance marketing or adjust product mix in low-sales cities like Saltillo and Xalapa.</a:t>
            </a:r>
          </a:p>
          <a:p>
            <a:pPr lvl="0" algn="l"/>
            <a:r>
              <a:rPr lang="en-US" b="1" dirty="0"/>
              <a:t>Review Pricing and Costs</a:t>
            </a:r>
            <a:r>
              <a:rPr lang="en-US" dirty="0"/>
              <a:t>: Analyze low-profit products for better pricing strategies or bundling. Investigate high-revenue, low-profit stores (e.g., Xalapa 2) for cost efficiencies to improve margins.</a:t>
            </a:r>
          </a:p>
        </p:txBody>
      </p:sp>
    </p:spTree>
    <p:extLst>
      <p:ext uri="{BB962C8B-B14F-4D97-AF65-F5344CB8AC3E}">
        <p14:creationId xmlns:p14="http://schemas.microsoft.com/office/powerpoint/2010/main" val="3084879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4DD55E9-182D-EA6D-0361-BD7A590A1AC1}"/>
            </a:ext>
          </a:extLst>
        </p:cNvPr>
        <p:cNvGrpSpPr/>
        <p:nvPr/>
      </p:nvGrpSpPr>
      <p:grpSpPr>
        <a:xfrm>
          <a:off x="0" y="0"/>
          <a:ext cx="0" cy="0"/>
          <a:chOff x="0" y="0"/>
          <a:chExt cx="0" cy="0"/>
        </a:xfrm>
      </p:grpSpPr>
      <p:pic>
        <p:nvPicPr>
          <p:cNvPr id="4" name="Picture 3" descr="Cloudy oil paint art">
            <a:extLst>
              <a:ext uri="{FF2B5EF4-FFF2-40B4-BE49-F238E27FC236}">
                <a16:creationId xmlns:a16="http://schemas.microsoft.com/office/drawing/2014/main" id="{3EA6A1DD-369A-BF5A-6C28-65402683BFAC}"/>
              </a:ext>
            </a:extLst>
          </p:cNvPr>
          <p:cNvPicPr>
            <a:picLocks noChangeAspect="1"/>
          </p:cNvPicPr>
          <p:nvPr/>
        </p:nvPicPr>
        <p:blipFill>
          <a:blip r:embed="rId2"/>
          <a:srcRect t="7865" b="7865"/>
          <a:stretch>
            <a:fillRect/>
          </a:stretch>
        </p:blipFill>
        <p:spPr>
          <a:xfrm>
            <a:off x="20" y="-2"/>
            <a:ext cx="12191980" cy="6858002"/>
          </a:xfrm>
          <a:prstGeom prst="rect">
            <a:avLst/>
          </a:prstGeom>
        </p:spPr>
      </p:pic>
      <p:sp>
        <p:nvSpPr>
          <p:cNvPr id="11" name="Title 10">
            <a:extLst>
              <a:ext uri="{FF2B5EF4-FFF2-40B4-BE49-F238E27FC236}">
                <a16:creationId xmlns:a16="http://schemas.microsoft.com/office/drawing/2014/main" id="{16337AB1-9223-A7FE-17A1-1659713384E9}"/>
              </a:ext>
            </a:extLst>
          </p:cNvPr>
          <p:cNvSpPr>
            <a:spLocks noGrp="1"/>
          </p:cNvSpPr>
          <p:nvPr>
            <p:ph type="title"/>
          </p:nvPr>
        </p:nvSpPr>
        <p:spPr>
          <a:xfrm>
            <a:off x="3248025" y="280446"/>
            <a:ext cx="5143500" cy="723899"/>
          </a:xfrm>
          <a:solidFill>
            <a:srgbClr val="454452"/>
          </a:solidFill>
          <a:ln>
            <a:noFill/>
          </a:ln>
        </p:spPr>
        <p:txBody>
          <a:bodyPr>
            <a:normAutofit fontScale="90000"/>
          </a:bodyPr>
          <a:lstStyle/>
          <a:p>
            <a:r>
              <a:rPr lang="en-US" dirty="0">
                <a:solidFill>
                  <a:schemeClr val="bg1"/>
                </a:solidFill>
                <a:latin typeface="Bell MT" panose="02020503060305020303" pitchFamily="18" charset="0"/>
              </a:rPr>
              <a:t>CONCLUSION</a:t>
            </a:r>
          </a:p>
        </p:txBody>
      </p:sp>
      <p:sp>
        <p:nvSpPr>
          <p:cNvPr id="12" name="Text Placeholder 11">
            <a:extLst>
              <a:ext uri="{FF2B5EF4-FFF2-40B4-BE49-F238E27FC236}">
                <a16:creationId xmlns:a16="http://schemas.microsoft.com/office/drawing/2014/main" id="{61AE85C0-157A-8FB7-624E-296DF6CD72D1}"/>
              </a:ext>
            </a:extLst>
          </p:cNvPr>
          <p:cNvSpPr>
            <a:spLocks noGrp="1"/>
          </p:cNvSpPr>
          <p:nvPr>
            <p:ph type="body" idx="1"/>
          </p:nvPr>
        </p:nvSpPr>
        <p:spPr>
          <a:xfrm>
            <a:off x="645396" y="1174223"/>
            <a:ext cx="10646563" cy="5513898"/>
          </a:xfrm>
          <a:gradFill flip="none" rotWithShape="1">
            <a:gsLst>
              <a:gs pos="58000">
                <a:schemeClr val="bg1">
                  <a:lumMod val="80000"/>
                  <a:lumOff val="20000"/>
                  <a:alpha val="89000"/>
                </a:schemeClr>
              </a:gs>
              <a:gs pos="100000">
                <a:schemeClr val="accent1">
                  <a:lumMod val="45000"/>
                  <a:lumOff val="55000"/>
                </a:schemeClr>
              </a:gs>
              <a:gs pos="0">
                <a:schemeClr val="accent1">
                  <a:lumMod val="30000"/>
                  <a:lumOff val="70000"/>
                </a:schemeClr>
              </a:gs>
            </a:gsLst>
            <a:path path="circle">
              <a:fillToRect l="100000" t="100000"/>
            </a:path>
            <a:tileRect r="-100000" b="-100000"/>
          </a:gradFill>
          <a:ln w="38100">
            <a:solidFill>
              <a:schemeClr val="tx1"/>
            </a:solidFill>
          </a:ln>
          <a:effectLst>
            <a:softEdge rad="203200"/>
          </a:effectLst>
        </p:spPr>
        <p:txBody>
          <a:bodyPr anchor="t">
            <a:noAutofit/>
          </a:bodyPr>
          <a:lstStyle/>
          <a:p>
            <a:pPr lvl="1"/>
            <a:r>
              <a:rPr lang="en-US" sz="2400" b="1" dirty="0">
                <a:solidFill>
                  <a:schemeClr val="tx1"/>
                </a:solidFill>
                <a:latin typeface="Bell MT" panose="02020503060305020303" pitchFamily="18" charset="0"/>
              </a:rPr>
              <a:t>It is clear from this analysis that the main drivers of sales and effective decision-making for growth and profitability in retail stores, as seen in this project, are product performance and pricing strategies. Prioritizing high-demand products within each category while targeting marketing efforts plays a major role in improving results. Other factors influencing retail sales include seasonal trends and geographical location. Additionally, identifying inefficiencies and poor sales turnover through inventory management is both essential and beneficial for sustaining profitability.</a:t>
            </a:r>
            <a:endParaRPr lang="en-US" sz="2400" dirty="0"/>
          </a:p>
        </p:txBody>
      </p:sp>
    </p:spTree>
    <p:extLst>
      <p:ext uri="{BB962C8B-B14F-4D97-AF65-F5344CB8AC3E}">
        <p14:creationId xmlns:p14="http://schemas.microsoft.com/office/powerpoint/2010/main" val="844052520"/>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2557</TotalTime>
  <Words>3471</Words>
  <Application>Microsoft Office PowerPoint</Application>
  <PresentationFormat>Widescreen</PresentationFormat>
  <Paragraphs>245</Paragraphs>
  <Slides>32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Meiryo</vt:lpstr>
      <vt:lpstr>Aptos</vt:lpstr>
      <vt:lpstr>Arial</vt:lpstr>
      <vt:lpstr>Bell MT</vt:lpstr>
      <vt:lpstr>Bodoni MT</vt:lpstr>
      <vt:lpstr>Corbel</vt:lpstr>
      <vt:lpstr>Symbol</vt:lpstr>
      <vt:lpstr>ShojiVTI</vt:lpstr>
      <vt:lpstr>PRODUCT AND SALES performance ANALYSIS  TDI SAPPHIRE COHORT SQL CAPSTONE 2025</vt:lpstr>
      <vt:lpstr>PowerPoint Presentation</vt:lpstr>
      <vt:lpstr>PowerPoint Presentation</vt:lpstr>
      <vt:lpstr>PowerPoint Presentation</vt:lpstr>
      <vt:lpstr>INTRODUCTION</vt:lpstr>
      <vt:lpstr>PROBLEM STATEMENT</vt:lpstr>
      <vt:lpstr>GOALS</vt:lpstr>
      <vt:lpstr>OBJECTIVES</vt:lpstr>
      <vt:lpstr>KEY PERFORMANCE INDICATORS</vt:lpstr>
      <vt:lpstr>KEY BUSINESS QUESTIONS</vt:lpstr>
      <vt:lpstr>KEY BUSINESS QUESTIONS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ANALYSIS &amp; FINDINGS</vt:lpstr>
      <vt:lpstr>SUMMARY OF FINDINGS</vt:lpstr>
      <vt:lpstr>SUMMARY OF FINDINGS</vt:lpstr>
      <vt:lpstr>RECOMMENDATIONS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Felicitas Ezechikeluba</dc:creator>
  <cp:lastModifiedBy>Felicitas Ezechikeluba</cp:lastModifiedBy>
  <cp:revision>56</cp:revision>
  <dcterms:created xsi:type="dcterms:W3CDTF">2025-07-02T02:56:23Z</dcterms:created>
  <dcterms:modified xsi:type="dcterms:W3CDTF">2025-11-06T17:11:53Z</dcterms:modified>
</cp:coreProperties>
</file>